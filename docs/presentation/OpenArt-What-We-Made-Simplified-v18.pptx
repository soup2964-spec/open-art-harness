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3a00f6d15784742" /><Relationship Type="http://schemas.openxmlformats.org/officeDocument/2006/relationships/extended-properties" Target="/docProps/app.xml" Id="R3fa12035263c4f00" /><Relationship Type="http://schemas.openxmlformats.org/officeDocument/2006/relationships/officeDocument" Target="/ppt/presentation.xml" Id="Rb4fea59c81f44a85" /></Relationships>
</file>

<file path=ppt/presentation.xml><?xml version="1.0" encoding="utf-8"?>
<p:presentation xmlns:p="http://schemas.openxmlformats.org/presentationml/2006/main">
  <p:sldMasterIdLst>
    <p:sldMasterId xmlns:r="http://schemas.openxmlformats.org/officeDocument/2006/relationships" id="2147483648" r:id="R9f05a11c274f4e56"/>
  </p:sldMasterIdLst>
  <p:notesMasterIdLst>
    <p:notesMasterId xmlns:r="http://schemas.openxmlformats.org/officeDocument/2006/relationships" r:id="Rc26eba41d4a54af5"/>
  </p:notesMasterIdLst>
  <p:sldIdLst>
    <p:sldId xmlns:r="http://schemas.openxmlformats.org/officeDocument/2006/relationships" id="256" r:id="R7e40b70de08448c7"/>
    <p:sldId xmlns:r="http://schemas.openxmlformats.org/officeDocument/2006/relationships" id="258" r:id="R78450e9166c94aec"/>
    <p:sldId xmlns:r="http://schemas.openxmlformats.org/officeDocument/2006/relationships" id="257" r:id="R7ea31aa9507246f8"/>
    <p:sldId xmlns:r="http://schemas.openxmlformats.org/officeDocument/2006/relationships" id="259" r:id="Rfdfec80f97b54c85"/>
    <p:sldId xmlns:r="http://schemas.openxmlformats.org/officeDocument/2006/relationships" id="260" r:id="R15c18d515d524d6c"/>
    <p:sldId xmlns:r="http://schemas.openxmlformats.org/officeDocument/2006/relationships" id="261" r:id="R252afe55cc52406b"/>
    <p:sldId xmlns:r="http://schemas.openxmlformats.org/officeDocument/2006/relationships" id="262" r:id="Raa10a50f642141a3"/>
    <p:sldId xmlns:r="http://schemas.openxmlformats.org/officeDocument/2006/relationships" id="263" r:id="R6e808dbb23d94f64"/>
    <p:sldId xmlns:r="http://schemas.openxmlformats.org/officeDocument/2006/relationships" id="264" r:id="R910288ab766046e6"/>
    <p:sldId xmlns:r="http://schemas.openxmlformats.org/officeDocument/2006/relationships" id="265" r:id="R565ae125f0494d8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af2630d4074f59" /><Relationship Type="http://schemas.openxmlformats.org/officeDocument/2006/relationships/slideMaster" Target="/ppt/slideMasters/slideMaster1.xml" Id="R9f05a11c274f4e56" /><Relationship Type="http://schemas.openxmlformats.org/officeDocument/2006/relationships/notesMaster" Target="/ppt/notesMasters/notesMaster1.xml" Id="Rc26eba41d4a54af5" /><Relationship Type="http://schemas.openxmlformats.org/officeDocument/2006/relationships/presProps" Target="/ppt/presProps.xml" Id="Rb56d943b8ed44c0b" /><Relationship Type="http://schemas.openxmlformats.org/officeDocument/2006/relationships/tableStyles" Target="/ppt/tableStyles.xml" Id="Ra820b1c5464c444b" /><Relationship Type="http://schemas.openxmlformats.org/officeDocument/2006/relationships/slide" Target="/ppt/slides/slide1.xml" Id="R7e40b70de08448c7" /><Relationship Type="http://schemas.openxmlformats.org/officeDocument/2006/relationships/slide" Target="/ppt/slides/slide2.xml" Id="R7ea31aa9507246f8" /><Relationship Type="http://schemas.openxmlformats.org/officeDocument/2006/relationships/slide" Target="/ppt/slides/slide3.xml" Id="R78450e9166c94aec" /><Relationship Type="http://schemas.openxmlformats.org/officeDocument/2006/relationships/slide" Target="/ppt/slides/slide4.xml" Id="Rfdfec80f97b54c85" /><Relationship Type="http://schemas.openxmlformats.org/officeDocument/2006/relationships/slide" Target="/ppt/slides/slide5.xml" Id="R15c18d515d524d6c" /><Relationship Type="http://schemas.openxmlformats.org/officeDocument/2006/relationships/slide" Target="/ppt/slides/slide6.xml" Id="R252afe55cc52406b" /><Relationship Type="http://schemas.openxmlformats.org/officeDocument/2006/relationships/slide" Target="/ppt/slides/slide7.xml" Id="Raa10a50f642141a3" /><Relationship Type="http://schemas.openxmlformats.org/officeDocument/2006/relationships/slide" Target="/ppt/slides/slide8.xml" Id="R6e808dbb23d94f64" /><Relationship Type="http://schemas.openxmlformats.org/officeDocument/2006/relationships/slide" Target="/ppt/slides/slide9.xml" Id="R910288ab766046e6" /><Relationship Type="http://schemas.openxmlformats.org/officeDocument/2006/relationships/slide" Target="/ppt/slides/slide10.xml" Id="R565ae125f0494d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6faf55b2114c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OpenArt">
      <a:dk1>
        <a:srgbClr val="09090B"/>
      </a:dk1>
      <a:lt1>
        <a:srgbClr val="EBEBEB"/>
      </a:lt1>
      <a:dk2>
        <a:srgbClr val="19191C"/>
      </a:dk2>
      <a:lt2>
        <a:srgbClr val="D2D0D6"/>
      </a:lt2>
      <a:accent1>
        <a:srgbClr val="FF00BC"/>
      </a:accent1>
      <a:accent2>
        <a:srgbClr val="BFFF40"/>
      </a:accent2>
      <a:accent3>
        <a:srgbClr val="FFB8E9"/>
      </a:accent3>
      <a:accent4>
        <a:srgbClr val="FB7897"/>
      </a:accent4>
      <a:accent5>
        <a:srgbClr val="646069"/>
      </a:accent5>
      <a:accent6>
        <a:srgbClr val="FFFFFF"/>
      </a:accent6>
      <a:hlink>
        <a:srgbClr val="FF45CF"/>
      </a:hlink>
      <a:folHlink>
        <a:srgbClr val="FFB8E9"/>
      </a:folHlink>
    </a:clrScheme>
    <a:fontScheme name="">
      <a:majorFont>
        <a:latin typeface="Aptos"/>
        <a:ea typeface=""/>
        <a:cs typeface=""/>
      </a:majorFont>
      <a:minorFont>
        <a:latin typeface="Aptos"/>
        <a:ea typeface=""/>
        <a:cs typeface=""/>
      </a:minorFont>
    </a:fontScheme>
    <a:fmtScheme name="OpenAr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1101a2fc434ece" /><Relationship Type="http://schemas.openxmlformats.org/officeDocument/2006/relationships/notesMaster" Target="/ppt/notesMasters/notesMaster1.xml" Id="R012b0f11f3e843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0c0af5a5534ff6" /><Relationship Type="http://schemas.openxmlformats.org/officeDocument/2006/relationships/notesMaster" Target="/ppt/notesMasters/notesMaster1.xml" Id="R4634cf234e6d46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195339c904485a" /><Relationship Type="http://schemas.openxmlformats.org/officeDocument/2006/relationships/notesMaster" Target="/ppt/notesMasters/notesMaster1.xml" Id="R1463ec2bead44d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1a4831563d4558" /><Relationship Type="http://schemas.openxmlformats.org/officeDocument/2006/relationships/notesMaster" Target="/ppt/notesMasters/notesMaster1.xml" Id="R55821c1a23464c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0d1a8159fb4bc4" /><Relationship Type="http://schemas.openxmlformats.org/officeDocument/2006/relationships/notesMaster" Target="/ppt/notesMasters/notesMaster1.xml" Id="R69adafd1d10e4e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977f249e4e430c" /><Relationship Type="http://schemas.openxmlformats.org/officeDocument/2006/relationships/notesMaster" Target="/ppt/notesMasters/notesMaster1.xml" Id="Rb1f2a077053846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69256eb80d4fd9" /><Relationship Type="http://schemas.openxmlformats.org/officeDocument/2006/relationships/notesMaster" Target="/ppt/notesMasters/notesMaster1.xml" Id="R593309811b314d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7a66be3cb8455f" /><Relationship Type="http://schemas.openxmlformats.org/officeDocument/2006/relationships/notesMaster" Target="/ppt/notesMasters/notesMaster1.xml" Id="Re9d9c62cc4a146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37300e99c940d7" /><Relationship Type="http://schemas.openxmlformats.org/officeDocument/2006/relationships/notesMaster" Target="/ppt/notesMasters/notesMaster1.xml" Id="Raf72217afab84c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72bfbd989c4d2a" /><Relationship Type="http://schemas.openxmlformats.org/officeDocument/2006/relationships/notesMaster" Target="/ppt/notesMasters/notesMaster1.xml" Id="Rba5c2829dbcb46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Experience supplied by KJ:</a:t>
            </a:r>
          </a:p>
          <a:p xmlns:a="http://schemas.openxmlformats.org/drawingml/2006/main">
            <a:r>
              <a:t>Schole.ai: Founding growth engineer</a:t>
            </a:r>
          </a:p>
          <a:p xmlns:a="http://schemas.openxmlformats.org/drawingml/2006/main">
            <a:r>
              <a:t>at an AI startup</a:t>
            </a:r>
          </a:p>
          <a:p xmlns:a="http://schemas.openxmlformats.org/drawingml/2006/main">
            <a:r>
              <a:t/>
            </a:r>
          </a:p>
          <a:p xmlns:a="http://schemas.openxmlformats.org/drawingml/2006/main">
            <a:r>
              <a:t>trykindredsong.com: Sold custom pet songs</a:t>
            </a:r>
          </a:p>
          <a:p xmlns:a="http://schemas.openxmlformats.org/drawingml/2006/main">
            <a:r>
              <a:t>Revenue run rate: 20k</a:t>
            </a:r>
          </a:p>
          <a:p xmlns:a="http://schemas.openxmlformats.org/drawingml/2006/main">
            <a:r>
              <a:t/>
            </a:r>
          </a:p>
          <a:p xmlns:a="http://schemas.openxmlformats.org/drawingml/2006/main">
            <a:r>
              <a:t>Sponsorfi.io: Built a SaaS tool</a:t>
            </a:r>
          </a:p>
          <a:p xmlns:a="http://schemas.openxmlformats.org/drawingml/2006/main">
            <a:r>
              <a:t>A/B tested signup flow</a:t>
            </a:r>
          </a:p>
          <a:p xmlns:a="http://schemas.openxmlformats.org/drawingml/2006/main">
            <a:r>
              <a:t/>
            </a:r>
          </a:p>
          <a:p xmlns:a="http://schemas.openxmlformats.org/drawingml/2006/main">
            <a:r>
              <a:t>Dropshipper: LED lights + hair trimmers</a:t>
            </a:r>
          </a:p>
          <a:p xmlns:a="http://schemas.openxmlformats.org/drawingml/2006/main">
            <a:r>
              <a:t>Revenue run rate: 40k</a:t>
            </a:r>
          </a:p>
          <a:p xmlns:a="http://schemas.openxmlformats.org/drawingml/2006/main">
            <a:r>
              <a:t/>
            </a:r>
          </a:p>
          <a:p xmlns:a="http://schemas.openxmlformats.org/drawingml/2006/main">
            <a:r>
              <a:t>USC Marshall: Undergrad</a:t>
            </a:r>
          </a:p>
          <a:p xmlns:a="http://schemas.openxmlformats.org/drawingml/2006/main">
            <a:r>
              <a:t/>
            </a:r>
          </a:p>
          <a:p xmlns:a="http://schemas.openxmlformats.org/drawingml/2006/main">
            <a:r>
              <a:t>Image sources:</a:t>
            </a:r>
          </a:p>
          <a:p xmlns:a="http://schemas.openxmlformats.org/drawingml/2006/main">
            <a:r>
              <a:t>Scholé AI gradient constellation mark: https://schole.ai/favicon.svg</a:t>
            </a:r>
          </a:p>
          <a:p xmlns:a="http://schemas.openxmlformats.org/drawingml/2006/main">
            <a:r>
              <a:t>KindredSong music mark and green color from its website header: https://trykindredsong.com/; original Lucide Music glyph from https://trykindredsong.com/assets/index-BbIKehTm.js (ISC) and colors from https://trykindredsong.com/assets/index-DHHBk3dB.css</a:t>
            </a:r>
          </a:p>
          <a:p xmlns:a="http://schemas.openxmlformats.org/drawingml/2006/main">
            <a:r>
              <a:t>Sponsorfi logo: https://sponsorfi.io/logo.png</a:t>
            </a:r>
          </a:p>
          <a:p xmlns:a="http://schemas.openxmlformats.org/drawingml/2006/main">
            <a:r>
              <a:t>USC primary monogram, original embedded vector: https://identity.usc.edu/identity/logos-marks/</a:t>
            </a:r>
          </a:p>
          <a:p xmlns:a="http://schemas.openxmlformats.org/drawingml/2006/main">
            <a:r>
              <a:t>Shopify shopping bag logo: https://www.shopify.com/brand-assets</a:t>
            </a:r>
          </a:p>
          <a:p xmlns:a="http://schemas.openxmlformats.org/drawingml/2006/main">
            <a:r>
              <a:t>Original SVG: https://cdn.shopify.com/shopifycloud/brochure/assets/brand-assets/shopify-logo-shopping-bag-full-color-66166b2e55d67988b56b4bd28b63c271e2b9713358cb723070a92bde17ad7d63.svg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CLI tests the live tracking without sending collection data.</a:t>
            </a:r>
          </a:p>
          <a:p xmlns:a="http://schemas.openxmlformats.org/drawingml/2006/main">
            <a:r>
              <a:t>The seal intercepts, records and locally fails every request to Google Ads, /4vu8/ collection paths, facebook.com/tr, the Meta CAPI Gateway, TikTok, Reddit, LinkedIn, X, Bing, Amplitude, Clarity, Hotjar, Tolt and OpenAI. The browser can reach only openart.ai hosts. The watchdog fetches third-party scripts itself. It disables prefetch, prerender, service workers, WebSockets, popups and the Reporting API and deletes profiles after each run. The reports include zero-leak proof: 1,181 baseline attempts and 1,172 patched attempts blocked, zero completed.</a:t>
            </a:r>
          </a:p>
          <a:p xmlns:a="http://schemas.openxmlformats.org/drawingml/2006/main">
            <a:r>
              <a:t>The 19 checks cover signup reaching Google with user data, TikTok signup using reg_&lt;uid&gt;, one deterministic X purchase, LinkedIn value and ID, consumption of business_subscription, no automatic Google form events on generation, one route-change page view on Google Ads, Meta, TikTok, Reddit, LinkedIn, X and Microsoft UET, _fbc after multi-hop and return, oppref preservation, gbraid/wbraid persistence, handoff attribution and EEA/UK/CH consent defaults.</a:t>
            </a:r>
          </a:p>
          <a:p xmlns:a="http://schemas.openxmlformats.org/drawingml/2006/main">
            <a:r>
              <a:t>Journeys use synthetic IDs: Meta one-hop, multi-hop and return, oppref landings, gbraid/wbraid, Instagram webview, a uBlock-stripped landing, in-app routes and DE/GB/CH consent probes.</a:t>
            </a:r>
          </a:p>
          <a:p xmlns:a="http://schemas.openxmlformats.org/drawingml/2006/main">
            <a:r>
              <a:t>Patch inputs: --patch-container and --patch-gtag-config serve modified files for both loaders. --inject-script supplies the browser fix script. --edge-sim applies the Worker’s cookies to responses.</a:t>
            </a:r>
          </a:p>
          <a:p xmlns:a="http://schemas.openxmlformats.org/drawingml/2006/main">
            <a:r>
              <a:t>Output: results.json and report.html with evidence, per-platform coverage, consent summary, GTM diff and leak proof.</a:t>
            </a:r>
          </a:p>
          <a:p xmlns:a="http://schemas.openxmlformats.org/drawingml/2006/main">
            <a:r>
              <a:t>Scheduling includes a Dockerfile, Cloud Run Job and Scheduler, Slack-webhook alerts and a GitHub Actions alternative. Nothing is deployed.</a:t>
            </a:r>
          </a:p>
          <a:p xmlns:a="http://schemas.openxmlformats.org/drawingml/2006/main">
            <a:r>
              <a:t>Results: live 0/19, patched 18/19. Meta coverage 50% to 100%. ChatGPT Ads 0% to 100%. LinkedIn remains the unresolved check.</a:t>
            </a:r>
          </a:p>
          <a:p xmlns:a="http://schemas.openxmlformats.org/drawingml/2006/main">
            <a:r>
              <a:t/>
            </a:r>
          </a:p>
          <a:p xmlns:a="http://schemas.openxmlformats.org/drawingml/2006/main">
            <a:r>
              <a:t>Sources: User-supplied detailed brief in this conversation. Repository change record: https://github.com/soup2964-spec/open-art-harness/blob/cb523467a82c65b6525062cc51c36f4311a99c2b/docs/CHANGES.md</a:t>
            </a:r>
          </a:p>
          <a:p xmlns:a="http://schemas.openxmlformats.org/drawingml/2006/main">
            <a:r>
              <a:t>Style reference and original logo: https://openart.ai/ and https://openart.ai/suite/home. OpenArt font CSS: /suite/_next/static/chunks/287a8e175464349f.css. Font files: Google Fonts official Bricolage Grotesque, Inter and Geist Mono 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GTM merge import: 14 tags, five triggers, 13 variables and one custom template, plus a click-by-click CHANGES.md. Merge mode adds only new and changed items.</a:t>
            </a:r>
          </a:p>
          <a:p xmlns:a="http://schemas.openxmlformats.org/drawingml/2006/main">
            <a:r>
              <a:t>Tags: Google signup fires on signup with user_data.email and order ID reg_&lt;uid&gt; (D1). business_subscription becomes a secondary action with a conversion-label placeholder until created (D2). X disables the automatic duplicate using twq('set','dataLayerTracking','false') before config and adds deterministic signup IDs (D2). TikTok CompleteRegistration uses event_id reg_&lt;uid&gt; (D5). A History Change route settler emits one virtual_page_view per route and drives Google Ads, UET and TikTok page views with competing automatic SPA tracking disabled (D13). A custom consent template defaults denied in EEA/UK/CH and configures ads_data_redaction and url_passthrough (D14). The Google tag’s automatic form events are disabled (D6).</a:t>
            </a:r>
          </a:p>
          <a:p xmlns:a="http://schemas.openxmlformats.org/drawingml/2006/main">
            <a:r>
              <a:t>LinkedIn decision: The Insight Tag has no documented value field. LinkedIn keeps the browser copy when event IDs match, so server value can be discarded. Two variants ship paused: an undocumented browser val parameter, or server-only purchases with value. OpenArt must choose.</a:t>
            </a:r>
          </a:p>
          <a:p xmlns:a="http://schemas.openxmlformats.org/drawingml/2006/main">
            <a:r>
              <a:t>Drop-in shim preserves existing cookies, oa_ad_clids {v,ts} format, Impact POST and Tolt behavior. It stores gclid, gbraid, wbraid, fbclid, msclkid, ttclid, rdt_cid, twclid, li_fat_id and oppref. It mints _fbc, sets __oppref, stores UTMs, validates each value, rejects 3.8 KB and &lt;img&gt; payloads, and removes console logging (D7/D8/D9/D16).</a:t>
            </a:r>
          </a:p>
          <a:p xmlns:a="http://schemas.openxmlformats.org/drawingml/2006/main">
            <a:r>
              <a:t>App patches include the full click-ID key list and first-seen timestamps, user_id in a validated once-only signup push, a Next.js hook that emits exactly one page view with fbq.disablePushState, a legacy Amplitude six-times fix, elimination of stale fallback values with deterministic invoice IDs, an allow-listed or token-based webview handoff that hides Google OAuth, and purchase value selection profitValueMajor then ltvValueMajor then cash with value_basis recorded.</a:t>
            </a:r>
          </a:p>
          <a:p xmlns:a="http://schemas.openxmlformats.org/drawingml/2006/main">
            <a:r>
              <a:t>HubSpot changes remove Event/Brandweek defaults, add UTM/LinkedIn/Meta/TikTok fields and fill them from stored attribution (D15).</a:t>
            </a:r>
          </a:p>
          <a:p xmlns:a="http://schemas.openxmlformats.org/drawingml/2006/main">
            <a:r>
              <a:t>Consent guidance covers CMP options, region scoping and privacy-signals.ts shared across the shim and forms. It honors Global Privacy Control, oa_consent opt-out and the IAB usprivacy string.</a:t>
            </a:r>
          </a:p>
          <a:p xmlns:a="http://schemas.openxmlformats.org/drawingml/2006/main">
            <a:r>
              <a:t/>
            </a:r>
          </a:p>
          <a:p xmlns:a="http://schemas.openxmlformats.org/drawingml/2006/main">
            <a:r>
              <a:t>Complete defect-to-change mapping:</a:t>
            </a:r>
          </a:p>
          <a:p xmlns:a="http://schemas.openxmlformats.org/drawingml/2006/main">
            <a:r>
              <a:t>D1: Google signup: listen to signup; send email + reg_&lt;uid&gt;.</a:t>
            </a:r>
          </a:p>
          <a:p xmlns:a="http://schemas.openxmlformats.org/drawingml/2006/main">
            <a:r>
              <a:t/>
            </a:r>
          </a:p>
          <a:p xmlns:a="http://schemas.openxmlformats.org/drawingml/2006/main">
            <a:r>
              <a:t>D2: Purchases: stop X duplicates; align IDs/value; consume business events. LinkedIn value pending.</a:t>
            </a:r>
          </a:p>
          <a:p xmlns:a="http://schemas.openxmlformats.org/drawingml/2006/main">
            <a:r>
              <a:t/>
            </a:r>
          </a:p>
          <a:p xmlns:a="http://schemas.openxmlformats.org/drawingml/2006/main">
            <a:r>
              <a:t>D3: Server events: add renewals, upgrades, packs and supported refund adjustments.</a:t>
            </a:r>
          </a:p>
          <a:p xmlns:a="http://schemas.openxmlformats.org/drawingml/2006/main">
            <a:r>
              <a:t/>
            </a:r>
          </a:p>
          <a:p xmlns:a="http://schemas.openxmlformats.org/drawingml/2006/main">
            <a:r>
              <a:t>D4: Fallback: skip stale prices and timestamp IDs; let the server report the invoice.</a:t>
            </a:r>
          </a:p>
          <a:p xmlns:a="http://schemas.openxmlformats.org/drawingml/2006/main">
            <a:r>
              <a:t/>
            </a:r>
          </a:p>
          <a:p xmlns:a="http://schemas.openxmlformats.org/drawingml/2006/main">
            <a:r>
              <a:t>D5: TikTok signup: set event_id to reg_&lt;uid&gt;.</a:t>
            </a:r>
          </a:p>
          <a:p xmlns:a="http://schemas.openxmlformats.org/drawingml/2006/main">
            <a:r>
              <a:t/>
            </a:r>
          </a:p>
          <a:p xmlns:a="http://schemas.openxmlformats.org/drawingml/2006/main">
            <a:r>
              <a:t>D6: Generation noise: turn off Google form events. Meta/X automatic clicks remain.</a:t>
            </a:r>
          </a:p>
          <a:p xmlns:a="http://schemas.openxmlformats.org/drawingml/2006/main">
            <a:r>
              <a:t/>
            </a:r>
          </a:p>
          <a:p xmlns:a="http://schemas.openxmlformats.org/drawingml/2006/main">
            <a:r>
              <a:t>D7: Meta: build _fbc from stored fbclid for multi-page and return journeys.</a:t>
            </a:r>
          </a:p>
          <a:p xmlns:a="http://schemas.openxmlformats.org/drawingml/2006/main">
            <a:r>
              <a:t/>
            </a:r>
          </a:p>
          <a:p xmlns:a="http://schemas.openxmlformats.org/drawingml/2006/main">
            <a:r>
              <a:t>D8: ChatGPT Ads: preserve oppref in the __oppref cookie.</a:t>
            </a:r>
          </a:p>
          <a:p xmlns:a="http://schemas.openxmlformats.org/drawingml/2006/main">
            <a:r>
              <a:t/>
            </a:r>
          </a:p>
          <a:p xmlns:a="http://schemas.openxmlformats.org/drawingml/2006/main">
            <a:r>
              <a:t>D9: Click-ID store: merge all 10 keys; carry iOS and Reddit IDs into checkout/server.</a:t>
            </a:r>
          </a:p>
          <a:p xmlns:a="http://schemas.openxmlformats.org/drawingml/2006/main">
            <a:r>
              <a:t/>
            </a:r>
          </a:p>
          <a:p xmlns:a="http://schemas.openxmlformats.org/drawingml/2006/main">
            <a:r>
              <a:t>D10: Webviews: carry IDs/UTMs or a token into the external browser; hide Google OAuth.</a:t>
            </a:r>
          </a:p>
          <a:p xmlns:a="http://schemas.openxmlformats.org/drawingml/2006/main">
            <a:r>
              <a:t/>
            </a:r>
          </a:p>
          <a:p xmlns:a="http://schemas.openxmlformats.org/drawingml/2006/main">
            <a:r>
              <a:t>D11: Blocked pixels: retain surviving IDs/UTMs at the edge; match server events by hashed email.</a:t>
            </a:r>
          </a:p>
          <a:p xmlns:a="http://schemas.openxmlformats.org/drawingml/2006/main">
            <a:r>
              <a:t/>
            </a:r>
          </a:p>
          <a:p xmlns:a="http://schemas.openxmlformats.org/drawingml/2006/main">
            <a:r>
              <a:t>D12: Safari: move attribution into signed, server-set cookies.</a:t>
            </a:r>
          </a:p>
          <a:p xmlns:a="http://schemas.openxmlformats.org/drawingml/2006/main">
            <a:r>
              <a:t/>
            </a:r>
          </a:p>
          <a:p xmlns:a="http://schemas.openxmlformats.org/drawingml/2006/main">
            <a:r>
              <a:t>D13: Page views: send one per route on 7 platforms; deduplicate legacy Amplitude.</a:t>
            </a:r>
          </a:p>
          <a:p xmlns:a="http://schemas.openxmlformats.org/drawingml/2006/main">
            <a:r>
              <a:t/>
            </a:r>
          </a:p>
          <a:p xmlns:a="http://schemas.openxmlformats.org/drawingml/2006/main">
            <a:r>
              <a:t>D14: Consent: add Consent Mode v2 + opt-out signals; CMP and tag gating need setup.</a:t>
            </a:r>
          </a:p>
          <a:p xmlns:a="http://schemas.openxmlformats.org/drawingml/2006/main">
            <a:r>
              <a:t/>
            </a:r>
          </a:p>
          <a:p xmlns:a="http://schemas.openxmlformats.org/drawingml/2006/main">
            <a:r>
              <a:t>D15: HubSpot: remove Event/Brandweek defaults; add and fill attribution fields.</a:t>
            </a:r>
          </a:p>
          <a:p xmlns:a="http://schemas.openxmlformats.org/drawingml/2006/main">
            <a:r>
              <a:t/>
            </a:r>
          </a:p>
          <a:p xmlns:a="http://schemas.openxmlformats.org/drawingml/2006/main">
            <a:r>
              <a:t>D16: Remove logs; ttclid 28 days. quantity=undefined, empty GA ID, double GTM and Clear-Site-Data remain.</a:t>
            </a:r>
          </a:p>
          <a:p xmlns:a="http://schemas.openxmlformats.org/drawingml/2006/main">
            <a:r>
              <a:t/>
            </a:r>
          </a:p>
          <a:p xmlns:a="http://schemas.openxmlformats.org/drawingml/2006/main">
            <a:r>
              <a:t>D2: The default LinkedIn edit adds event ID, but value remains missing. Two alternatives are paused: server-only documented CAPI purchases, or undocumented browser value fields. Meta/TikTok first-purchase behavior is retained while the conversion service covers later events. Browser and server values agree after OpenArt integrates the profit-value endpoint.</a:t>
            </a:r>
          </a:p>
          <a:p xmlns:a="http://schemas.openxmlformats.org/drawingml/2006/main">
            <a:r>
              <a:t>D3: Refund value adjustments are implemented for Google and Microsoft; other destinations log unsupported retractions.</a:t>
            </a:r>
          </a:p>
          <a:p xmlns:a="http://schemas.openxmlformats.org/drawingml/2006/main">
            <a:r>
              <a:t>D6: The shipped change disables Google form interactions. This pack does not claim to eliminate Meta SubscribedButtonClick or X autobuttonclick.</a:t>
            </a:r>
          </a:p>
          <a:p xmlns:a="http://schemas.openxmlformats.org/drawingml/2006/main">
            <a:r>
              <a:t>D11: IDs stripped before the first request cannot be recovered. UTMs and surviving IDs, plus consent-eligible hashed-email server conversions, support campaign attribution.</a:t>
            </a:r>
          </a:p>
          <a:p xmlns:a="http://schemas.openxmlformats.org/drawingml/2006/main">
            <a:r>
              <a:t>D12: Server-set cookies address script-set expiration; browser privacy policies still apply.</a:t>
            </a:r>
          </a:p>
          <a:p xmlns:a="http://schemas.openxmlformats.org/drawingml/2006/main">
            <a:r>
              <a:t>D14: Consent defaults and privacy-signal code ship; an actual CMP, consent updates and remaining per-tag gating still require integration.</a:t>
            </a:r>
          </a:p>
          <a:p xmlns:a="http://schemas.openxmlformats.org/drawingml/2006/main">
            <a:r>
              <a:t>D16: Logging removal and a 28-day server-set ttclid ship. quantity=undefined, the empty Suite ga_client_id, duplicate GTM initialization and the homepage Clear-Site-Data: cache header are audit findings requiring additional cleanup. Cloudflare automated script setup must be disabled as part of consent integration, followed by a single manual tag loader.</a:t>
            </a:r>
          </a:p>
          <a:p xmlns:a="http://schemas.openxmlformats.org/drawingml/2006/main">
            <a:r>
              <a:t/>
            </a:r>
          </a:p>
          <a:p xmlns:a="http://schemas.openxmlformats.org/drawingml/2006/main">
            <a:r>
              <a:t>Full original defect/evidence table:</a:t>
            </a:r>
          </a:p>
          <a:p xmlns:a="http://schemas.openxmlformats.org/drawingml/2006/main">
            <a:r>
              <a:t>Method: Nine research passes, all from outside OpenArt. We examined the public site, every shipped JavaScript file (~1,090 saved), the compiled GTM container and Google tag configs, the Meta pixel config, Meta/Google/TikTok/LinkedIn ad libraries, 13 competitors’ tracking stacks, pricing and exact per-model credit formulas, 328 Trustpilot and Reddit items, both job postings, and a logged-in pass with the free account including one test image.</a:t>
            </a:r>
          </a:p>
          <a:p xmlns:a="http://schemas.openxmlformats.org/drawingml/2006/main">
            <a:r>
              <a:t>An independent fact-check tested every claim against primary sources. One claim was refuted: there is no single default model, because assignment comes from an A/B test. Five claims were softened. The rest were confirmed.</a:t>
            </a:r>
          </a:p>
          <a:p xmlns:a="http://schemas.openxmlformats.org/drawingml/2006/main">
            <a:r>
              <a:t>Full defect register:</a:t>
            </a:r>
          </a:p>
          <a:p xmlns:a="http://schemas.openxmlformats.org/drawingml/2006/main">
            <a:r>
              <a:t>D1: Google Ads signup conversion has never fired: it listens for new_user_signed_up, while the app sends signup. No emitter was found in ~1,090 saved files. The sealed replay shows signup sends nothing to Google.</a:t>
            </a:r>
          </a:p>
          <a:p xmlns:a="http://schemas.openxmlformats.org/drawingml/2006/main">
            <a:r>
              <a:t/>
            </a:r>
          </a:p>
          <a:p xmlns:a="http://schemas.openxmlformats.org/drawingml/2006/main">
            <a:r>
              <a:t>D2: LinkedIn receives no value or ID. X sends two purchases with random IDs. Meta and TikTok receive first purchases only, valued at LTV. Nothing consumes business_subscription. We replayed the app’s real purchase pushes and decoded them per vendor.</a:t>
            </a:r>
          </a:p>
          <a:p xmlns:a="http://schemas.openxmlformats.org/drawingml/2006/main">
            <a:r>
              <a:t/>
            </a:r>
          </a:p>
          <a:p xmlns:a="http://schemas.openxmlformats.org/drawingml/2006/main">
            <a:r>
              <a:t>D3: Shipped code handles renewals, upgrades, add-ons and refunds only by refreshing the screen. Whether the backend already sends any of these is not visible from outside.</a:t>
            </a:r>
          </a:p>
          <a:p xmlns:a="http://schemas.openxmlformats.org/drawingml/2006/main">
            <a:r>
              <a:t/>
            </a:r>
          </a:p>
          <a:p xmlns:a="http://schemas.openxmlformats.org/drawingml/2006/main">
            <a:r>
              <a:t>D4: If the invoice lookup fails, the fallback reports annual plans at half the monthly price and creates a Date.now() transaction ID. The shipped PRICES table and fallback builder prove this.</a:t>
            </a:r>
          </a:p>
          <a:p xmlns:a="http://schemas.openxmlformats.org/drawingml/2006/main">
            <a:r>
              <a:t/>
            </a:r>
          </a:p>
          <a:p xmlns:a="http://schemas.openxmlformats.org/drawingml/2006/main">
            <a:r>
              <a:t>D5: The TikTok signup event has an empty event_id, confirmed in the sealed replay.</a:t>
            </a:r>
          </a:p>
          <a:p xmlns:a="http://schemas.openxmlformats.org/drawingml/2006/main">
            <a:r>
              <a:t/>
            </a:r>
          </a:p>
          <a:p xmlns:a="http://schemas.openxmlformats.org/drawingml/2006/main">
            <a:r>
              <a:t>D6: Google form_start and form_submit fire on every Generate click. Meta and X fire automatic button events. A logged-in capture of a real generation proves it.</a:t>
            </a:r>
          </a:p>
          <a:p xmlns:a="http://schemas.openxmlformats.org/drawingml/2006/main">
            <a:r>
              <a:t/>
            </a:r>
          </a:p>
          <a:p xmlns:a="http://schemas.openxmlformats.org/drawingml/2006/main">
            <a:r>
              <a:t>D7: No code builds _fbc from the stored fbclid. A live matrix shows one-hop journeys keep the click, while multi-hop and return journeys lose it.</a:t>
            </a:r>
          </a:p>
          <a:p xmlns:a="http://schemas.openxmlformats.org/drawingml/2006/main">
            <a:r>
              <a:t/>
            </a:r>
          </a:p>
          <a:p xmlns:a="http://schemas.openxmlformats.org/drawingml/2006/main">
            <a:r>
              <a:t>D8: ChatGPT Ads oppref always disappears on marketing landings. The live test and SDK show it reads only the current URL.</a:t>
            </a:r>
          </a:p>
          <a:p xmlns:a="http://schemas.openxmlformats.org/drawingml/2006/main">
            <a:r>
              <a:t/>
            </a:r>
          </a:p>
          <a:p xmlns:a="http://schemas.openxmlformats.org/drawingml/2006/main">
            <a:r>
              <a:t>D9: The app keeps only four keys and overwrites the stored JSON. gbraid, wbraid and rdt_cid never reach the server store. Checkout posts only gclid.</a:t>
            </a:r>
          </a:p>
          <a:p xmlns:a="http://schemas.openxmlformats.org/drawingml/2006/main">
            <a:r>
              <a:t/>
            </a:r>
          </a:p>
          <a:p xmlns:a="http://schemas.openxmlformats.org/drawingml/2006/main">
            <a:r>
              <a:t>D10: The in-app browser handoff copies a bare /home URL. Google OAuth stays enabled where Google blocks it. Live Instagram/TikTok user-agent tests and overlay inspection prove both.</a:t>
            </a:r>
          </a:p>
          <a:p xmlns:a="http://schemas.openxmlformats.org/drawingml/2006/main">
            <a:r>
              <a:t/>
            </a:r>
          </a:p>
          <a:p xmlns:a="http://schemas.openxmlformats.org/drawingml/2006/main">
            <a:r>
              <a:t>D11: We replayed uBlock’s actual default lists. They strip seven click IDs and block every pixel and OpenArt’s /4vu8/ tag path.</a:t>
            </a:r>
          </a:p>
          <a:p xmlns:a="http://schemas.openxmlformats.org/drawingml/2006/main">
            <a:r>
              <a:t/>
            </a:r>
          </a:p>
          <a:p xmlns:a="http://schemas.openxmlformats.org/drawingml/2006/main">
            <a:r>
              <a:t>D12: Click IDs live in script-set cookies that Safari caps at seven days. Cookie inspection shows only oa_device_id is server-set.</a:t>
            </a:r>
          </a:p>
          <a:p xmlns:a="http://schemas.openxmlformats.org/drawingml/2006/main">
            <a:r>
              <a:t/>
            </a:r>
          </a:p>
          <a:p xmlns:a="http://schemas.openxmlformats.org/drawingml/2006/main">
            <a:r>
              <a:t>D13: Google, Reddit, LinkedIn and X receive zero route-change page views. Meta and UET receive up to three, TikTok two, legacy Amplitude six. We counted actual logged-in navigation events.</a:t>
            </a:r>
          </a:p>
          <a:p xmlns:a="http://schemas.openxmlformats.org/drawingml/2006/main">
            <a:r>
              <a:t/>
            </a:r>
          </a:p>
          <a:p xmlns:a="http://schemas.openxmlformats.org/drawingml/2006/main">
            <a:r>
              <a:t>D14: No consent manager or Consent Mode. All 348 captured Google hits carry gcd=13l3l3l3l1l1 and none of the 18 GTM tags is consent-gated. Live hits and DE/GB/CH probes provide evidence.</a:t>
            </a:r>
          </a:p>
          <a:p xmlns:a="http://schemas.openxmlformats.org/drawingml/2006/main">
            <a:r>
              <a:t/>
            </a:r>
          </a:p>
          <a:p xmlns:a="http://schemas.openxmlformats.org/drawingml/2006/main">
            <a:r>
              <a:t>D15: The enterprise HubSpot form hard-codes lead_source=Event and lead_source_detail=Brandweek. Its click-ID fields never fill. The public form definition JSON proves this.</a:t>
            </a:r>
          </a:p>
          <a:p xmlns:a="http://schemas.openxmlformats.org/drawingml/2006/main">
            <a:r>
              <a:t/>
            </a:r>
          </a:p>
          <a:p xmlns:a="http://schemas.openxmlformats.org/drawingml/2006/main">
            <a:r>
              <a:t>D16: The shim logs click IDs to the console. ttclid lasts one day. The checkout URL includes quantity=undefined. GTM loads twice. The homepage sends Clear-Site-Data. Code and captures document these smaller defects.</a:t>
            </a:r>
          </a:p>
          <a:p xmlns:a="http://schemas.openxmlformats.org/drawingml/2006/main">
            <a:r>
              <a:t/>
            </a:r>
          </a:p>
          <a:p xmlns:a="http://schemas.openxmlformats.org/drawingml/2006/main">
            <a:r>
              <a:t>Source: https://github.com/soup2964-spec/open-art-harness/blob/cb523467a82c65b6525062cc51c36f4311a99c2b/docs/CHANGES.md</a:t>
            </a:r>
          </a:p>
          <a:p xmlns:a="http://schemas.openxmlformats.org/drawingml/2006/main">
            <a:r>
              <a:t>GTM instructions: https://github.com/soup2964-spec/open-art-harness/blob/cb523467a82c65b6525062cc51c36f4311a99c2b/packages/web-fixes/gtm/CHANGES.md</a:t>
            </a:r>
          </a:p>
          <a:p xmlns:a="http://schemas.openxmlformats.org/drawingml/2006/main">
            <a:r>
              <a:t>App patch instructions: https://github.com/soup2964-spec/open-art-harness/blob/cb523467a82c65b6525062cc51c36f4311a99c2b/packages/web-fixes/app-patches/PATCHES.md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module wraps the Cloudflare Worker OpenArt already uses: withAttribution(handler) wraps fetch. captureAttribution is available for finer control.</a:t>
            </a:r>
          </a:p>
          <a:p xmlns:a="http://schemas.openxmlformats.org/drawingml/2006/main">
            <a:r>
              <a:t>On document navigation, it parses 14 click-ID types plus UTMs, referrer and landing path. Bots, prefetch and assets are skipped. It sets server cookies: signed HttpOnly oa_attr with first/last touch for 13 months, server-set oa_ad_clids in the existing format, _fbc minted per Meta’s rules, __oppref for 30 days and ttclid for 28 days (D7/D8/D9/D11/D12). Moving capture to server-set cookies addresses the documented script-set expiry issue. Browser privacy policies still apply.</a:t>
            </a:r>
          </a:p>
          <a:p xmlns:a="http://schemas.openxmlformats.org/drawingml/2006/main">
            <a:r>
              <a:t>It persists records to KV keyed by oa_device_id using ctx.waitUntil without blocking the response, or POSTs an extended payload to the existing /api/user/ad-click-ids shape. Signup-merge logic ships as runnable code.</a:t>
            </a:r>
          </a:p>
          <a:p xmlns:a="http://schemas.openxmlformats.org/drawingml/2006/main">
            <a:r>
              <a:t>Handoff: POST /api/attribution/handoff creates a single-use token lasting 30 minutes and storing allow-listed parameters and a same-origin target path. Credential-looking paths are refused. GET /r/:token restores attribution cookies in the external browser and redirects (D10).</a:t>
            </a:r>
          </a:p>
          <a:p xmlns:a="http://schemas.openxmlformats.org/drawingml/2006/main">
            <a:r>
              <a:t>Consent: Outside EEA/UK/CH, eligible unless GPC, a US opt-out or explicit denial applies. Inside, advertising cookies require an explicit grant. Only non-identifying UTMs may be stored before a choice. Cookiebot and OneTrust cookie parsers are included.</a:t>
            </a:r>
          </a:p>
          <a:p xmlns:a="http://schemas.openxmlformats.org/drawingml/2006/main">
            <a:r>
              <a:t>dist/edge-sim.js reproduces the Worker’s cookie logic for the watchdog. On uBlock-stripped landings it retains UTMs and surviving IDs, which can support campaign-level attribution with hashed-email server conversions.</a:t>
            </a:r>
          </a:p>
          <a:p xmlns:a="http://schemas.openxmlformats.org/drawingml/2006/main">
            <a:r>
              <a:t>Security review fixed a ReDoS in bot detection and a forged-device-ID path. All 45 hand-broken rules were caught.</a:t>
            </a:r>
          </a:p>
          <a:p xmlns:a="http://schemas.openxmlformats.org/drawingml/2006/main">
            <a:r>
              <a:t/>
            </a:r>
          </a:p>
          <a:p xmlns:a="http://schemas.openxmlformats.org/drawingml/2006/main">
            <a:r>
              <a:t>Full slide content:</a:t>
            </a:r>
          </a:p>
          <a:p xmlns:a="http://schemas.openxmlformats.org/drawingml/2006/main">
            <a:r>
              <a:t>Capture + cookies: On document navigations, parse 14 click-ID types plus UTMs, referrer and landing path. Set a signed, HttpOnly 13-month oa_attr with first and last touch, server-set oa_ad_clids in their existing format, _fbc minted per Meta's rules, __oppref, and a 28-day ttclid (D7, D8, D9, D11, D12). Server-set cookies address Safari's script-set expiry limit. Browser privacy rules still apply.</a:t>
            </a:r>
          </a:p>
          <a:p xmlns:a="http://schemas.openxmlformats.org/drawingml/2006/main">
            <a:r>
              <a:t/>
            </a:r>
          </a:p>
          <a:p xmlns:a="http://schemas.openxmlformats.org/drawingml/2006/main">
            <a:r>
              <a:t>Persistence: Persist to KV keyed by device ID without blocking the response, or POST to an extension of their existing /api/user/ad-click-ids. Signup-merge logic ships as runnable code.</a:t>
            </a:r>
          </a:p>
          <a:p xmlns:a="http://schemas.openxmlformats.org/drawingml/2006/main">
            <a:r>
              <a:t/>
            </a:r>
          </a:p>
          <a:p xmlns:a="http://schemas.openxmlformats.org/drawingml/2006/main">
            <a:r>
              <a:t>In-app handoff: POST /api/attribution/handoff creates a single-use 30-minute token holding only allow-listed params and a same-origin path. Credential-looking paths are refused. GET /r/:token restores cookies in the external browser (D10).</a:t>
            </a:r>
          </a:p>
          <a:p xmlns:a="http://schemas.openxmlformats.org/drawingml/2006/main">
            <a:r>
              <a:t/>
            </a:r>
          </a:p>
          <a:p xmlns:a="http://schemas.openxmlformats.org/drawingml/2006/main">
            <a:r>
              <a:t>Consent: Outside EEA/UK/CH, eligible unless GPC, a US opt-out or an explicit denial applies. Inside EEA/UK/CH, advertising storage needs an explicit grant.</a:t>
            </a:r>
          </a:p>
          <a:p xmlns:a="http://schemas.openxmlformats.org/drawingml/2006/main">
            <a:r>
              <a:t/>
            </a:r>
          </a:p>
          <a:p xmlns:a="http://schemas.openxmlformats.org/drawingml/2006/main">
            <a:r>
              <a:t>Blocked users: On a uBlock-stripped landing, save UTMs and surviving IDs. Together with hashed-email server conversions, these support attribution of blocked users at campaign level.</a:t>
            </a:r>
          </a:p>
          <a:p xmlns:a="http://schemas.openxmlformats.org/drawingml/2006/main">
            <a:r>
              <a:t/>
            </a:r>
          </a:p>
          <a:p xmlns:a="http://schemas.openxmlformats.org/drawingml/2006/main">
            <a:r>
              <a:t>Parity + security: dist/edge-sim.js is byte-consistent with the Worker for Ned the Salmon. Security review fixed a ReDoS in bot detection and a forged-device-ID path. All 45 hand-broken rules were caught.</a:t>
            </a:r>
          </a:p>
          <a:p xmlns:a="http://schemas.openxmlformats.org/drawingml/2006/main">
            <a:r>
              <a:t/>
            </a:r>
          </a:p>
          <a:p xmlns:a="http://schemas.openxmlformats.org/drawingml/2006/main">
            <a:r>
              <a:t>Source: https://github.com/soup2964-spec/open-art-harness/blob/cb523467a82c65b6525062cc51c36f4311a99c2b/docs/CHANGES.md</a:t>
            </a:r>
          </a:p>
          <a:p xmlns:a="http://schemas.openxmlformats.org/drawingml/2006/main">
            <a:r>
              <a:t>Safari storage rules: https://webkit.org/tracking-prevention/</a:t>
            </a:r>
          </a:p>
          <a:p xmlns:a="http://schemas.openxmlformats.org/drawingml/2006/main">
            <a:r>
              <a:t>WebKit distinguishes script-writeable storage limits from HTTP response cookies, while CNAME and third-party IP cloaking can also cause HTTP-set cookies to be capped.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foundation defines 12 canonical events: signup, activation_first_generation, checkout_started, purchase_first, purchase_renewal, purchase_upgrade, purchase_add_on, purchase_one_time_pack, refund, chargeback, enterprise_lead and lead_stage_change.</a:t>
            </a:r>
          </a:p>
          <a:p xmlns:a="http://schemas.openxmlformats.org/drawingml/2006/main">
            <a:r>
              <a:t>Each has JSON Schema 2020-12, TypeScript types and zod validators with a compile-time drift guard.</a:t>
            </a:r>
          </a:p>
          <a:p xmlns:a="http://schemas.openxmlformats.org/drawingml/2006/main">
            <a:r>
              <a:t>IDs exactly reuse browser formats: reg_&lt;uid&gt; for signup, purchase_&lt;invoiceId&gt; for Meta/OpenAI and sub_&lt;invoiceId&gt; for Google, Reddit, X, TikTok, Microsoft and LinkedIn orders. Reddit’s dedup key is SHA-256 of sub_&lt;invoiceId&gt;.</a:t>
            </a:r>
          </a:p>
          <a:p xmlns:a="http://schemas.openxmlformats.org/drawingml/2006/main">
            <a:r>
              <a:t>Per-platform hashing and normalization was checked against node:crypto on 3,305 cases. Google strips local-part dots only for gmail addresses. Reddit and Microsoft strip them for every local part. Meta lower-cases external_id.</a:t>
            </a:r>
          </a:p>
          <a:p xmlns:a="http://schemas.openxmlformats.org/drawingml/2006/main">
            <a:r>
              <a:t>An 84-row PlatformEventMapping specifies canonical event, platform event name, dedup key, value field and user-data fields. requires_web_fix identifies mappings that could otherwise double-count.</a:t>
            </a:r>
          </a:p>
          <a:p xmlns:a="http://schemas.openxmlformats.org/drawingml/2006/main">
            <a:r>
              <a:t>The consent region list covers the EEA including outermost regions, GB/UK and CH, with GPC and sale/sharing opt-out fields.</a:t>
            </a:r>
          </a:p>
          <a:p xmlns:a="http://schemas.openxmlformats.org/drawingml/2006/main">
            <a:r>
              <a:t>PurchaseValueScore defines purchase-time ad value with point-in-time invariants. Source schemas match observed Stripe, credit ledger, Amplitude BigQuery export and HubSpot shapes.</a:t>
            </a:r>
          </a:p>
          <a:p xmlns:a="http://schemas.openxmlformats.org/drawingml/2006/main">
            <a:r>
              <a:t>Synthetic fixtures include 109 model costs at public list prices and a deterministic 2,000-user cohort generator with explicitly illustrative behavior parameters.</a:t>
            </a:r>
          </a:p>
          <a:p xmlns:a="http://schemas.openxmlformats.org/drawingml/2006/main">
            <a:r>
              <a:t/>
            </a:r>
          </a:p>
          <a:p xmlns:a="http://schemas.openxmlformats.org/drawingml/2006/main">
            <a:r>
              <a:t>Full slide content:</a:t>
            </a:r>
          </a:p>
          <a:p xmlns:a="http://schemas.openxmlformats.org/drawingml/2006/main">
            <a:r>
              <a:t>Canonical events: 12 canonical events: signup, activation_first_generation, checkout_started, purchase_first, purchase_renewal, purchase_upgrade, purchase_add_on, purchase_one_time_pack, refund, chargeback, enterprise_lead and lead_stage_change. JSON Schema, TypeScript types and zod validators include a compile-time drift guard.</a:t>
            </a:r>
          </a:p>
          <a:p xmlns:a="http://schemas.openxmlformats.org/drawingml/2006/main">
            <a:r>
              <a:t/>
            </a:r>
          </a:p>
          <a:p xmlns:a="http://schemas.openxmlformats.org/drawingml/2006/main">
            <a:r>
              <a:t>IDs + hashing: Reuse the browser's exact IDs: reg_&lt;uid&gt;, purchase_&lt;invoiceId&gt;, sub_&lt;invoiceId&gt;, and Reddit's SHA-256 of the ID. Per-platform hashing verified on 3,305 cases.</a:t>
            </a:r>
          </a:p>
          <a:p xmlns:a="http://schemas.openxmlformats.org/drawingml/2006/main">
            <a:r>
              <a:t/>
            </a:r>
          </a:p>
          <a:p xmlns:a="http://schemas.openxmlformats.org/drawingml/2006/main">
            <a:r>
              <a:t>Platform mapping: An 84-row event mapping per platform with requires_web_fix flags.</a:t>
            </a:r>
          </a:p>
          <a:p xmlns:a="http://schemas.openxmlformats.org/drawingml/2006/main">
            <a:r>
              <a:t/>
            </a:r>
          </a:p>
          <a:p xmlns:a="http://schemas.openxmlformats.org/drawingml/2006/main">
            <a:r>
              <a:t>Consent + scoring: The consent region list and GPC/opt-out fields. The PurchaseValueScore contract.</a:t>
            </a:r>
          </a:p>
          <a:p xmlns:a="http://schemas.openxmlformats.org/drawingml/2006/main">
            <a:r>
              <a:t/>
            </a:r>
          </a:p>
          <a:p xmlns:a="http://schemas.openxmlformats.org/drawingml/2006/main">
            <a:r>
              <a:t>Source schemas: Source schemas shaped like their real Stripe, credit-ledger and Amplitude data.</a:t>
            </a:r>
          </a:p>
          <a:p xmlns:a="http://schemas.openxmlformats.org/drawingml/2006/main">
            <a:r>
              <a:t/>
            </a:r>
          </a:p>
          <a:p xmlns:a="http://schemas.openxmlformats.org/drawingml/2006/main">
            <a:r>
              <a:t>Fixtures + costs: Synthetic fixtures, 109 model costs at list price, and a deterministic 2,000-user cohort generator with labelled illustrative parameters.</a:t>
            </a:r>
          </a:p>
          <a:p xmlns:a="http://schemas.openxmlformats.org/drawingml/2006/main">
            <a:r>
              <a:t/>
            </a:r>
          </a:p>
          <a:p xmlns:a="http://schemas.openxmlformats.org/drawingml/2006/main">
            <a:r>
              <a:t>Source: user-supplied Contracts description.</a:t>
            </a:r>
          </a:p>
          <a:p xmlns:a="http://schemas.openxmlformats.org/drawingml/2006/main">
            <a:r>
              <a:t>Repository: https://github.com/soup2964-spec/open-art-harness/blob/cb523467a82c65b6525062cc51c36f4311a99c2b/docs/CHANGES.md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Run service using node:http. Inputs: POST /webhooks/stripe with offline signature verification, checkout.session.completed, invoice.paid for subscription_create/cycle/update, invoice_payment.paid, subscription updated/deleted, charge.refunded and disputes. POST /events handles signup, activation, checkout started, enterprise lead and lead stage. A Pub/Sub integration is an alternative. GET /healthz checks service health.</a:t>
            </a:r>
          </a:p>
          <a:p xmlns:a="http://schemas.openxmlformats.org/drawingml/2006/main">
            <a:r>
              <a:t>Pipeline: normalize, BigQuery ledger write, purchase-time value resolver, click-ID resolver that builds fbc from stored fbclid and its timestamp, consent rechecked at send time, idempotent outbox keyed per platform and event ID. Retry mechanisms include backoff, dead letter, per-document isolation, lease renewal and parking out-of-order Stripe events until their required joins arrive.</a:t>
            </a:r>
          </a:p>
          <a:p xmlns:a="http://schemas.openxmlformats.org/drawingml/2006/main">
            <a:r>
              <a:t>Senders: Google Data Manager API with the tag’s transactionId, Meta CAPI with matching IDs and lower-cased external_id, system_generated for renewals and a seven-day guard, plus TikTok, Reddit, LinkedIn, X and Microsoft.</a:t>
            </a:r>
          </a:p>
          <a:p xmlns:a="http://schemas.openxmlformats.org/drawingml/2006/main">
            <a:r>
              <a:t>Refunds: Google restates value only after the original send is confirmed, with the documented delay and window guards, avoiding phantom conversions. Microsoft restates or retracts. Meta, TikTok, Reddit, LinkedIn and X have no supported retraction in this implementation, so skips are logged.</a:t>
            </a:r>
          </a:p>
          <a:p xmlns:a="http://schemas.openxmlformats.org/drawingml/2006/main">
            <a:r>
              <a:t>Value comes from a purchase-time PurchaseValueScore within an SLA, otherwise cash with value_basis=cash_fallback. Loss-making values are floored but raw values and floor flags remain. value-health reports floors, fallbacks and value diversity against Meta’s thresholds.</a:t>
            </a:r>
          </a:p>
          <a:p xmlns:a="http://schemas.openxmlformats.org/drawingml/2006/main">
            <a:r>
              <a:t>Meta receives the first copy, generally the browser pixel. GET /value?invoice_id= supplies profitValueMajor to OpenArt’s existing invoice lookup so the browser sends the same value as the server.</a:t>
            </a:r>
          </a:p>
          <a:p xmlns:a="http://schemas.openxmlformats.org/drawingml/2006/main">
            <a:r>
              <a:t>Retention includes Firestore TTLs, BigQuery partition expiry and terminal-record identifier blanking. POST /tasks/erase removes data by user ID.</a:t>
            </a:r>
          </a:p>
          <a:p xmlns:a="http://schemas.openxmlformats.org/drawingml/2006/main">
            <a:r>
              <a:t>Dry-run is the default. Live mode refuses in-memory stores and example secrets. The end-to-end test replays 27 Stripe events and ten app events through the actual server with a fetch mock that fails on network access.</a:t>
            </a:r>
          </a:p>
          <a:p xmlns:a="http://schemas.openxmlformats.org/drawingml/2006/main">
            <a:r>
              <a:t/>
            </a:r>
          </a:p>
          <a:p xmlns:a="http://schemas.openxmlformats.org/drawingml/2006/main">
            <a:r>
              <a:t>Full slide content:</a:t>
            </a:r>
          </a:p>
          <a:p xmlns:a="http://schemas.openxmlformats.org/drawingml/2006/main">
            <a:r>
              <a:t>Inputs: Stripe webhooks with offline signature verification: checkout, invoice paid for create/cycle/update, subscription updated/deleted, refunds and disputes. POST /events handles signup, activation, checkout started, enterprise lead and lead stage. Pub/Sub is an alternative.</a:t>
            </a:r>
          </a:p>
          <a:p xmlns:a="http://schemas.openxmlformats.org/drawingml/2006/main">
            <a:r>
              <a:t/>
            </a:r>
          </a:p>
          <a:p xmlns:a="http://schemas.openxmlformats.org/drawingml/2006/main">
            <a:r>
              <a:t>Pipeline: Normalise events, write the BigQuery ledger, resolve value and click IDs (building fbc from stored fbclid), then re-check consent at send time. An idempotent outbox per (platform, event ID) has backoff, dead-letter, per-document isolation, lease renewal and parking of out-of-order Stripe events.</a:t>
            </a:r>
          </a:p>
          <a:p xmlns:a="http://schemas.openxmlformats.org/drawingml/2006/main">
            <a:r>
              <a:t/>
            </a:r>
          </a:p>
          <a:p xmlns:a="http://schemas.openxmlformats.org/drawingml/2006/main">
            <a:r>
              <a:t>Senders: Google Data Manager API uses the tag's transactionId. Meta CAPI uses the same event IDs, external_id lower-cased like the browser, system_generated for renewals and a 7-day guard. Senders also cover TikTok, Reddit, LinkedIn, X and Microsoft.</a:t>
            </a:r>
          </a:p>
          <a:p xmlns:a="http://schemas.openxmlformats.org/drawingml/2006/main">
            <a:r>
              <a:t/>
            </a:r>
          </a:p>
          <a:p xmlns:a="http://schemas.openxmlformats.org/drawingml/2006/main">
            <a:r>
              <a:t>Refunds: Google restated with a phantom-conversion guard. Microsoft restated or retracted. The rest skipped and logged.</a:t>
            </a:r>
          </a:p>
          <a:p xmlns:a="http://schemas.openxmlformats.org/drawingml/2006/main">
            <a:r>
              <a:t/>
            </a:r>
          </a:p>
          <a:p xmlns:a="http://schemas.openxmlformats.org/drawingml/2006/main">
            <a:r>
              <a:t>Value + Meta: Use the purchase-time profit score, else cash tagged cash_fallback. Record floors. A value-health command checks Meta's thresholds. GET /value lets their invoice lookup return profitValueMajor so the pixel sends the same number.</a:t>
            </a:r>
          </a:p>
          <a:p xmlns:a="http://schemas.openxmlformats.org/drawingml/2006/main">
            <a:r>
              <a:t/>
            </a:r>
          </a:p>
          <a:p xmlns:a="http://schemas.openxmlformats.org/drawingml/2006/main">
            <a:r>
              <a:t>Retention + mode: Retention TTLs and POST /tasks/erase. Dry-run by default. Live mode refuses in-memory stores and example secrets.</a:t>
            </a:r>
          </a:p>
          <a:p xmlns:a="http://schemas.openxmlformats.org/drawingml/2006/main">
            <a:r>
              <a:t/>
            </a:r>
          </a:p>
          <a:p xmlns:a="http://schemas.openxmlformats.org/drawingml/2006/main">
            <a:r>
              <a:t>Offline test: The end-to-end test replays 27 Stripe and 10 app events with zero network calls.</a:t>
            </a:r>
          </a:p>
          <a:p xmlns:a="http://schemas.openxmlformats.org/drawingml/2006/main">
            <a:r>
              <a:t/>
            </a:r>
          </a:p>
          <a:p xmlns:a="http://schemas.openxmlformats.org/drawingml/2006/main">
            <a:r>
              <a:t>Source: user-supplied Conversion service description.</a:t>
            </a:r>
          </a:p>
          <a:p xmlns:a="http://schemas.openxmlformats.org/drawingml/2006/main">
            <a:r>
              <a:t>Repository: https://github.com/soup2964-spec/open-art-harness/blob/cb523467a82c65b6525062cc51c36f4311a99c2b/docs/CHANGES.md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 dbt models compile for both BigQuery and DuckDB: 18 staging and 16 intermediate models plus marts. Amplitude staging uses incremental insert_overwrite with partition and cluster recommendations.</a:t>
            </a:r>
          </a:p>
          <a:p xmlns:a="http://schemas.openxmlformats.org/drawingml/2006/main">
            <a:r>
              <a:t>Marts: fct_conversion_ledger contains one canonical row per event and browser-format IDs, links refunds via invoice_payment.paid and the purchase’s payment-intent/charge keys, and retains requires_web_fix flags. fct_data_quality_quarantine isolates invalid data. fct_generation_cost joins consumption ledger rows to costs with a vendor-discount variable and route overrides. fct_user_features_24h limits all features to the first 24 hours.</a:t>
            </a:r>
          </a:p>
          <a:p xmlns:a="http://schemas.openxmlformats.org/drawingml/2006/main">
            <a:r>
              <a:t>fct_predicted_profit_24h is the unconditional expected 90-day profit per exposed user at signup+24h, used for experiments and allocation only. fct_purchase_value_score is expected 90-day gross profit conditional on a purchase, scored at purchase time and sent to ad platforms. Both have append-only logs and fitted-parameter snapshots so historical values are reproducible.</a:t>
            </a:r>
          </a:p>
          <a:p xmlns:a="http://schemas.openxmlformats.org/drawingml/2006/main">
            <a:r>
              <a:t>Experiment marts include exposures, profit_by_arm and daily profit_by_arm with intention-to-treat readouts per flag/arm, day, segment and slice, model-error variance, early-payer stratification, matured fixed-horizon outcomes, p·V−C decomposition and CUPED covariates.</a:t>
            </a:r>
          </a:p>
          <a:p xmlns:a="http://schemas.openxmlformats.org/drawingml/2006/main">
            <a:r>
              <a:t>Audience candidates prepare seeds and suppressions. Reconciliation separates Ads-vs-Stripe differences by attribution window, click/conversion date basis, time zone, refunds, double counting, LTV inflation, blocked users and fallback valuation.</a:t>
            </a:r>
          </a:p>
          <a:p xmlns:a="http://schemas.openxmlformats.org/drawingml/2006/main">
            <a:r>
              <a:t>Currency exponents, FX conversion and total_excluding_tax handle currency/tax differences. Subscription status uses invoice-line service periods. PII is whitelisted at staging. Metabase receives aggregate-only views.</a:t>
            </a:r>
          </a:p>
          <a:p xmlns:a="http://schemas.openxmlformats.org/drawingml/2006/main">
            <a:r>
              <a:t>An out-of-time backtest on synthetic cohorts compares purchase-time scores with first-charge revenue: capped error $10.93 versus $19.96, calibration slope 1.08 and 79% of purchases within the 80% interval. This proves the pipeline on synthetic data and does not establish accuracy on OpenArt’s real data.</a:t>
            </a:r>
          </a:p>
          <a:p xmlns:a="http://schemas.openxmlformats.org/drawingml/2006/main">
            <a:r>
              <a:t>Week-one sizing queries use observed real schema/event/property names. Five Metabase questions ship. Validation includes 505 dbt checks, 66 Python tests and 41 TypeScript tests (107 warehouse tests). 27 of 29 injected bugs were caught; the other two broke the review harness.</a:t>
            </a:r>
          </a:p>
          <a:p xmlns:a="http://schemas.openxmlformats.org/drawingml/2006/main">
            <a:r>
              <a:t>Real validation requires shadow scoring, an out-of-time backtest on OpenArt data, replay of past A/B tests and a lift test.</a:t>
            </a:r>
          </a:p>
          <a:p xmlns:a="http://schemas.openxmlformats.org/drawingml/2006/main">
            <a:r>
              <a:t/>
            </a:r>
          </a:p>
          <a:p xmlns:a="http://schemas.openxmlformats.org/drawingml/2006/main">
            <a:r>
              <a:t>Full slide content:</a:t>
            </a:r>
          </a:p>
          <a:p xmlns:a="http://schemas.openxmlformats.org/drawingml/2006/main">
            <a:r>
              <a:t>Core marts: fct_conversion_ledger: one row per event, browser-format IDs, refunds linked via invoice-payment and the purchase's own keys. fct_data_quality_quarantine. fct_generation_cost: ledger × cost seed, discount variable. fct_user_features_24h: time-bounded.</a:t>
            </a:r>
          </a:p>
          <a:p xmlns:a="http://schemas.openxmlformats.org/drawingml/2006/main">
            <a:r>
              <a:t/>
            </a:r>
          </a:p>
          <a:p xmlns:a="http://schemas.openxmlformats.org/drawingml/2006/main">
            <a:r>
              <a:t>Profit scores: fct_predicted_profit_24h: signup+24h unconditional, for experiments only. fct_purchase_value_score: purchase-time conditional, the ad value. Both have append-only logs and fitted-parameter snapshots for reproducibility.</a:t>
            </a:r>
          </a:p>
          <a:p xmlns:a="http://schemas.openxmlformats.org/drawingml/2006/main">
            <a:r>
              <a:t/>
            </a:r>
          </a:p>
          <a:p xmlns:a="http://schemas.openxmlformats.org/drawingml/2006/main">
            <a:r>
              <a:t>Experiments + audiences: fct_experiment_profit_by_arm and fct_experiment_profit_by_arm_daily: intention-to-treat, per day × segment × slice, model-error variance, p·V−C decomposition and CUPED covariate. fct_audience_candidates.</a:t>
            </a:r>
          </a:p>
          <a:p xmlns:a="http://schemas.openxmlformats.org/drawingml/2006/main">
            <a:r>
              <a:t/>
            </a:r>
          </a:p>
          <a:p xmlns:a="http://schemas.openxmlformats.org/drawingml/2006/main">
            <a:r>
              <a:t>Reconciliation: fct_reconciliation splits every Ads-vs-Stripe gap by cause: window, date basis, time zone, refunds, double counting, LTV inflation, blocked users and fallback.</a:t>
            </a:r>
          </a:p>
          <a:p xmlns:a="http://schemas.openxmlformats.org/drawingml/2006/main">
            <a:r>
              <a:t/>
            </a:r>
          </a:p>
          <a:p xmlns:a="http://schemas.openxmlformats.org/drawingml/2006/main">
            <a:r>
              <a:t>Data handling: Currency exponent, FX and tax handling. Subscription status from the invoice line's period. PII whitelisted at staging. Aggregate-only Metabase views.</a:t>
            </a:r>
          </a:p>
          <a:p xmlns:a="http://schemas.openxmlformats.org/drawingml/2006/main">
            <a:r>
              <a:t/>
            </a:r>
          </a:p>
          <a:p xmlns:a="http://schemas.openxmlformats.org/drawingml/2006/main">
            <a:r>
              <a:t>Synthetic backtest: Out-of-time backtest on synthetic data: purchase-time score error $10.93 versus $19.96 for first-charge revenue, calibration slope 1.08 and 79% interval coverage. Pipeline proof.</a:t>
            </a:r>
          </a:p>
          <a:p xmlns:a="http://schemas.openxmlformats.org/drawingml/2006/main">
            <a:r>
              <a:t/>
            </a:r>
          </a:p>
          <a:p xmlns:a="http://schemas.openxmlformats.org/drawingml/2006/main">
            <a:r>
              <a:t>Sizing + review: Week-1 sizing queries against their real schema. Five Metabase questions. 27 of 29 injected bugs caught.</a:t>
            </a:r>
          </a:p>
          <a:p xmlns:a="http://schemas.openxmlformats.org/drawingml/2006/main">
            <a:r>
              <a:t/>
            </a:r>
          </a:p>
          <a:p xmlns:a="http://schemas.openxmlformats.org/drawingml/2006/main">
            <a:r>
              <a:t>Source: user-supplied Warehouse description.</a:t>
            </a:r>
          </a:p>
          <a:p xmlns:a="http://schemas.openxmlformats.org/drawingml/2006/main">
            <a:r>
              <a:t>Repository: https://github.com/soup2964-spec/open-art-harness/blob/cb523467a82c65b6525062cc51c36f4311a99c2b/docs/CHANGES.md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targets OpenArt’s existing LaunchDarkly default-model flags: suite-default-model-create-image and suite-default-model-create-video, previously hand-tuned with 28 and 27 edits.</a:t>
            </a:r>
          </a:p>
          <a:p xmlns:a="http://schemas.openxmlformats.org/drawingml/2006/main">
            <a:r>
              <a:t>Thompson sampling uses one posterior per arm and segment (country bucket, device and acquisition channel). Rewards use the unconditional signup+24h profit signal decomposed as p·V−C, with Beta-Binomial conversion probability, pooled winsorized value and measured generation cost. A CUPED hook reduces variance.</a:t>
            </a:r>
          </a:p>
          <a:p xmlns:a="http://schemas.openxmlformats.org/drawingml/2006/main">
            <a:r>
              <a:t>Guardrails: 5% exploration floor per arm, maximum ±10 percentage points of weight change daily, an untouched fixed holdout, sequentially valid stop-loss based on day-matched two-sample contrasts, fail-closed sample-ratio-mismatch checks against logged daily weights, MDE-based minimum sample, 14-day half-life, inverse-propensity weighting with logged propensities, resets after model or promotion changes, warm starts for new arms, and activation/refund/failed-generation checks against holdout.</a:t>
            </a:r>
          </a:p>
          <a:p xmlns:a="http://schemas.openxmlformats.org/drawingml/2006/main">
            <a:r>
              <a:t>The old point-estimate stop-loss fired on 65–78% of null arms. The revised rule fired on 0–2% in the documented simulation.</a:t>
            </a:r>
          </a:p>
          <a:p xmlns:a="http://schemas.openxmlformats.org/drawingml/2006/main">
            <a:r>
              <a:t>Output: a LaunchDarkly semantic patch per flag through its approval workflow with an explanatory comment and report. No app code change is required.</a:t>
            </a:r>
          </a:p>
          <a:p xmlns:a="http://schemas.openxmlformats.org/drawingml/2006/main">
            <a:r>
              <a:t>Illustrative simulation: 60 days, 2,000 signups/day, ten replications. Regret per 1,000 users: fixed split 1,699, conversion bandit 808, profit bandit 791. Profit versus conversion is not distinguishable on the synthetic cohort. Real differences may arise when credit prices decouple from costs, including zero-credit promotions.</a:t>
            </a:r>
          </a:p>
          <a:p xmlns:a="http://schemas.openxmlformats.org/drawingml/2006/main">
            <a:r>
              <a:t/>
            </a:r>
          </a:p>
          <a:p xmlns:a="http://schemas.openxmlformats.org/drawingml/2006/main">
            <a:r>
              <a:t>Full slide content:</a:t>
            </a:r>
          </a:p>
          <a:p xmlns:a="http://schemas.openxmlformats.org/drawingml/2006/main">
            <a:r>
              <a:t>Sampling: Thompson sampling per arm per segment, rewarded on the 24h profit signal decomposed as p·V−C for lower variance.</a:t>
            </a:r>
          </a:p>
          <a:p xmlns:a="http://schemas.openxmlformats.org/drawingml/2006/main">
            <a:r>
              <a:t/>
            </a:r>
          </a:p>
          <a:p xmlns:a="http://schemas.openxmlformats.org/drawingml/2006/main">
            <a:r>
              <a:t>Traffic guards: 5% exploration floor, ±10 percentage points/day, a never-touched holdout, and activation/refund/failure guardrails.</a:t>
            </a:r>
          </a:p>
          <a:p xmlns:a="http://schemas.openxmlformats.org/drawingml/2006/main">
            <a:r>
              <a:t/>
            </a:r>
          </a:p>
          <a:p xmlns:a="http://schemas.openxmlformats.org/drawingml/2006/main">
            <a:r>
              <a:t>Statistical guards: A sequentially valid stop-loss. In simulation, false alarms on null arms fell from 65–78% to 0–2%. A fail-closed traffic-split check against logged weights. An MDE-based minimum sample.</a:t>
            </a:r>
          </a:p>
          <a:p xmlns:a="http://schemas.openxmlformats.org/drawingml/2006/main">
            <a:r>
              <a:t/>
            </a:r>
          </a:p>
          <a:p xmlns:a="http://schemas.openxmlformats.org/drawingml/2006/main">
            <a:r>
              <a:t>Adaptation: A 14-day half-life, inverse-propensity weighting, resets on model or promo changes, and warm starts for new arms.</a:t>
            </a:r>
          </a:p>
          <a:p xmlns:a="http://schemas.openxmlformats.org/drawingml/2006/main">
            <a:r>
              <a:t/>
            </a:r>
          </a:p>
          <a:p xmlns:a="http://schemas.openxmlformats.org/drawingml/2006/main">
            <a:r>
              <a:t>Output: A LaunchDarkly semantic patch per flag through their approval workflow. No app code change.</a:t>
            </a:r>
          </a:p>
          <a:p xmlns:a="http://schemas.openxmlformats.org/drawingml/2006/main">
            <a:r>
              <a:t/>
            </a:r>
          </a:p>
          <a:p xmlns:a="http://schemas.openxmlformats.org/drawingml/2006/main">
            <a:r>
              <a:t>Simulation: Illustrative simulation with 10 replications: any bandit beats the hand-tuned split. Profit vs conversion is not distinguishable on synthetic data.</a:t>
            </a:r>
          </a:p>
          <a:p xmlns:a="http://schemas.openxmlformats.org/drawingml/2006/main">
            <a:r>
              <a:t/>
            </a:r>
          </a:p>
          <a:p xmlns:a="http://schemas.openxmlformats.org/drawingml/2006/main">
            <a:r>
              <a:t>Source: user-supplied Bandit allocator description.</a:t>
            </a:r>
          </a:p>
          <a:p xmlns:a="http://schemas.openxmlformats.org/drawingml/2006/main">
            <a:r>
              <a:t>Repository: https://github.com/soup2964-spec/open-art-harness/blob/cb523467a82c65b6525062cc51c36f4311a99c2b/docs/CHANGES.md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first 90 days</a:t>
            </a:r>
          </a:p>
          <a:p xmlns:a="http://schemas.openxmlformats.org/drawingml/2006/main">
            <a:r>
              <a:t/>
            </a:r>
          </a:p>
          <a:p xmlns:a="http://schemas.openxmlformats.org/drawingml/2006/main">
            <a:r>
              <a:t>Week 1: Verify with your own data and change nothing. Run the sizing queries, confirm the dead signup conversion in Google Ads, and schedule the watcher.</a:t>
            </a:r>
          </a:p>
          <a:p xmlns:a="http://schemas.openxmlformats.org/drawingml/2006/main">
            <a:r>
              <a:t/>
            </a:r>
          </a:p>
          <a:p xmlns:a="http://schemas.openxmlformats.org/drawingml/2006/main">
            <a:r>
              <a:t>Weeks 2–6: Ship the fix pack, the edge module, a consent platform and the form fix. Land the ledger and the reconciliation.</a:t>
            </a:r>
          </a:p>
          <a:p xmlns:a="http://schemas.openxmlformats.org/drawingml/2006/main">
            <a:r>
              <a:t/>
            </a:r>
          </a:p>
          <a:p xmlns:a="http://schemas.openxmlformats.org/drawingml/2006/main">
            <a:r>
              <a:t>Weeks 7–12: Turn on server-side conversions at cash value. Calibrate the profit value on real data, then prove it with a lift test.</a:t>
            </a:r>
          </a:p>
          <a:p xmlns:a="http://schemas.openxmlformats.org/drawingml/2006/main">
            <a:r>
              <a:t/>
            </a:r>
          </a:p>
          <a:p xmlns:a="http://schemas.openxmlformats.org/drawingml/2006/main">
            <a:r>
              <a:t>Confirmed from outside: Every tracking finding above.</a:t>
            </a:r>
          </a:p>
          <a:p xmlns:a="http://schemas.openxmlformats.org/drawingml/2006/main">
            <a:r>
              <a:t/>
            </a:r>
          </a:p>
          <a:p xmlns:a="http://schemas.openxmlformats.org/drawingml/2006/main">
            <a:r>
              <a:t>Needs your systems: How Stripe webhooks are handled today.</a:t>
            </a:r>
          </a:p>
          <a:p xmlns:a="http://schemas.openxmlformats.org/drawingml/2006/main">
            <a:r>
              <a:t>What already lands in BigQuery.</a:t>
            </a:r>
          </a:p>
          <a:p xmlns:a="http://schemas.openxmlformats.org/drawingml/2006/main">
            <a:r>
              <a:t>Real per-model costs.</a:t>
            </a:r>
          </a:p>
          <a:p xmlns:a="http://schemas.openxmlformats.org/drawingml/2006/main">
            <a:r>
              <a:t>EU consent behavior.</a:t>
            </a:r>
          </a:p>
          <a:p xmlns:a="http://schemas.openxmlformats.org/drawingml/2006/main">
            <a:r>
              <a:t>Ad-platform API access.</a:t>
            </a:r>
          </a:p>
          <a:p xmlns:a="http://schemas.openxmlformats.org/drawingml/2006/main">
            <a:r>
              <a:t/>
            </a:r>
          </a:p>
          <a:p xmlns:a="http://schemas.openxmlformats.org/drawingml/2006/main">
            <a:r>
              <a:t>Source: user-supplied 90-day plan.</a:t>
            </a:r>
          </a:p>
          <a:p xmlns:a="http://schemas.openxmlformats.org/drawingml/2006/main">
            <a:r>
              <a:t>Repository: https://github.com/soup2964-spec/open-art-harness/blob/cb523467a82c65b6525062cc51c36f4311a99c2b/docs/CHANGES.md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independent reviews covered security, TypeScript, database behavior and machine learning/statistics. About 60 findings included a production-breaking Firestore issue under Node 22 fetch, malformed-URL crashes, profit scoring at the wrong moment, a stop-loss that fired on most null arms, and warehouse coverage missing 18 of 29 injected bugs. All findings were fixed with regression tests and the sealed proof reran on final code.</a:t>
            </a:r>
          </a:p>
          <a:p xmlns:a="http://schemas.openxmlformats.org/drawingml/2006/main">
            <a:r>
              <a:t>The repository reports 1,484 TypeScript tests and 505 dbt checks passing. Warehouse validation separately lists 41 TypeScript tests and 66 Python tests. We preserve the reported repository total and list the separate warehouse validation on its slide.</a:t>
            </a:r>
          </a:p>
          <a:p xmlns:a="http://schemas.openxmlformats.org/drawingml/2006/main">
            <a:r>
              <a:t>Delivery comprises eight packages, integration documentation, proof artifacts and scheduling configuration. It does not include a production deployment. Platform senders remain dry-run by default, and audience sync remains dry-run only. Nothing in this repository has sent data to OpenArt systems or advertising platforms.</a:t>
            </a:r>
          </a:p>
          <a:p xmlns:a="http://schemas.openxmlformats.org/drawingml/2006/main">
            <a:r>
              <a:t>Verified behavior comes from the live site and shipped code. Profit coefficients, cohort parameters, simulation results and public-list-price generation costs remain illustrative. OpenArt must supply real costs and data, confirm backend/warehouse integrations, platform access and LaunchDarkly context details, validate EU consent behavior and choose the LinkedIn purchase approach.</a:t>
            </a:r>
          </a:p>
          <a:p xmlns:a="http://schemas.openxmlformats.org/drawingml/2006/main">
            <a:r>
              <a:t/>
            </a:r>
          </a:p>
          <a:p xmlns:a="http://schemas.openxmlformats.org/drawingml/2006/main">
            <a:r>
              <a:t>Sources: User-supplied detailed brief in this conversation. Repository change record: https://github.com/soup2964-spec/open-art-harness/blob/cb523467a82c65b6525062cc51c36f4311a99c2b/docs/CHANGES.md</a:t>
            </a:r>
          </a:p>
          <a:p xmlns:a="http://schemas.openxmlformats.org/drawingml/2006/main">
            <a:r>
              <a:t>Style reference and original logo: https://openart.ai/ and https://openart.ai/suite/home. OpenArt font CSS: /suite/_next/static/chunks/287a8e175464349f.css. Font files: Google Fonts official Bricolage Grotesque, Inter and Geist Mono 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f49dabafe14b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ec49f3c7de04a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48d64666d349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9e9a0600594d0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86e18bf15949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e9caf6305745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339BA8F-4C6B-4F4F-947C-B1B53938EE09}"/>
              </a:ext>
            </a:extLst>
          </p:cNvPr>
          <p:cNvSpPr>
            <a:spLocks xmlns:a="http://schemas.openxmlformats.org/drawingml/2006/main" noGrp="1"/>
          </p:cNvSpPr>
          <p:nvPr/>
        </p:nvSpPr>
        <p:spPr>
          <a:xfrm xmlns:a="http://schemas.openxmlformats.org/drawingml/2006/main">
            <a:off x="8686800" y="33147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4470C1D-1D23-49B5-8F63-375BE1ECAE7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DEEF37A6-A2C8-46D0-9E60-8BCADCABD6D9}"/>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5D151B9-224E-4F13-802D-EF28E304CF48}"/>
              </a:ext>
            </a:extLst>
          </p:cNvPr>
          <p:cNvSpPr>
            <a:spLocks xmlns:a="http://schemas.openxmlformats.org/drawingml/2006/main" noGrp="1"/>
          </p:cNvSpPr>
          <p:nvPr/>
        </p:nvSpPr>
        <p:spPr>
          <a:xfrm xmlns:a="http://schemas.openxmlformats.org/drawingml/2006/main">
            <a:off x="8686800" y="371475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8B855873-D89F-444A-977C-4421174C0A23}"/>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AC151D-B6C4-44D4-BF99-9D8FD760F1A2}"/>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57DF71F-3D59-4A85-97C6-F8F1E85D6F5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87EE8C81-9F67-4DD9-9DE5-491592551EC7}"/>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1D7E98F3-B72C-4853-8338-209EFBE92885}"/>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5F411C4-393F-4BD8-AD49-327362DE995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DE09ADB-8F11-4D23-930C-9C81E1A3978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07C08DE3-4F04-4EBA-A6F7-E131AAEDA488}"/>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EA3A8E9-0798-4799-B8F7-B88AA6A575DD}"/>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4E34CF9-029E-4DFE-8C8C-F45D74BDFAA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9973031-A0CC-429E-96C7-BAF62862920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3f40cbf6ea4ba6" /><Relationship Type="http://schemas.openxmlformats.org/officeDocument/2006/relationships/slideLayout" Target="/ppt/slideLayouts/slideLayout1.xml" Id="R6e8d0e8dc2f84456" /><Relationship Type="http://schemas.openxmlformats.org/officeDocument/2006/relationships/slideLayout" Target="/ppt/slideLayouts/slideLayout2.xml" Id="R38c18356cfc74c1d" /><Relationship Type="http://schemas.openxmlformats.org/officeDocument/2006/relationships/slideLayout" Target="/ppt/slideLayouts/slideLayout3.xml" Id="Rc63bef18ace3434c" /><Relationship Type="http://schemas.openxmlformats.org/officeDocument/2006/relationships/slideLayout" Target="/ppt/slideLayouts/slideLayout4.xml" Id="R3cc67d269dc5428b" /><Relationship Type="http://schemas.openxmlformats.org/officeDocument/2006/relationships/slideLayout" Target="/ppt/slideLayouts/slideLayout5.xml" Id="R3f592155982742cb" /><Relationship Type="http://schemas.openxmlformats.org/officeDocument/2006/relationships/slideLayout" Target="/ppt/slideLayouts/slideLayout6.xml" Id="R4cda57393db84f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8d0e8dc2f84456"/>
    <p:sldLayoutId xmlns:r="http://schemas.openxmlformats.org/officeDocument/2006/relationships" id="2147483650" r:id="R38c18356cfc74c1d"/>
    <p:sldLayoutId xmlns:r="http://schemas.openxmlformats.org/officeDocument/2006/relationships" id="2147483651" r:id="Rc63bef18ace3434c"/>
    <p:sldLayoutId xmlns:r="http://schemas.openxmlformats.org/officeDocument/2006/relationships" id="2147483652" r:id="R3cc67d269dc5428b"/>
    <p:sldLayoutId xmlns:r="http://schemas.openxmlformats.org/officeDocument/2006/relationships" id="2147483653" r:id="R3f592155982742cb"/>
    <p:sldLayoutId xmlns:r="http://schemas.openxmlformats.org/officeDocument/2006/relationships" id="2147483654" r:id="R4cda57393db84f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OpenArt">
      <a:dk1>
        <a:srgbClr val="09090B"/>
      </a:dk1>
      <a:lt1>
        <a:srgbClr val="EBEBEB"/>
      </a:lt1>
      <a:dk2>
        <a:srgbClr val="19191C"/>
      </a:dk2>
      <a:lt2>
        <a:srgbClr val="D2D0D6"/>
      </a:lt2>
      <a:accent1>
        <a:srgbClr val="FF00BC"/>
      </a:accent1>
      <a:accent2>
        <a:srgbClr val="BFFF40"/>
      </a:accent2>
      <a:accent3>
        <a:srgbClr val="FFB8E9"/>
      </a:accent3>
      <a:accent4>
        <a:srgbClr val="FB7897"/>
      </a:accent4>
      <a:accent5>
        <a:srgbClr val="646069"/>
      </a:accent5>
      <a:accent6>
        <a:srgbClr val="FFFFFF"/>
      </a:accent6>
      <a:hlink>
        <a:srgbClr val="FF45CF"/>
      </a:hlink>
      <a:folHlink>
        <a:srgbClr val="FFB8E9"/>
      </a:folHlink>
    </a:clrScheme>
    <a:fontScheme name="">
      <a:majorFont>
        <a:latin typeface="Aptos"/>
        <a:ea typeface=""/>
        <a:cs typeface=""/>
      </a:majorFont>
      <a:minorFont>
        <a:latin typeface="Aptos"/>
        <a:ea typeface=""/>
        <a:cs typeface=""/>
      </a:minorFont>
    </a:fontScheme>
    <a:fmtScheme name="OpenAr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slideLayout6.xml" Id="R01cce18b5f3d47ac" /><Relationship Type="http://schemas.openxmlformats.org/officeDocument/2006/relationships/image" Target="/ppt/media/cover-shopify-1.png" Id="Rca2a57df732244a8" /><Relationship Type="http://schemas.openxmlformats.org/officeDocument/2006/relationships/image" Target="/ppt/media/cover-shopify-2.png" Id="Ra82bb9e959cf473f" /><Relationship Type="http://schemas.openxmlformats.org/officeDocument/2006/relationships/image" Target="/ppt/media/cover-shopify-3.png" Id="R6e9ab3c35caf432f" /><Relationship Type="http://schemas.openxmlformats.org/officeDocument/2006/relationships/image" Target="/ppt/media/cover-shopify-4.png" Id="Rebb28128399343a5" /><Relationship Type="http://schemas.openxmlformats.org/officeDocument/2006/relationships/image" Target="/ppt/media/cover-shopify-5.png" Id="R2d6787a715bf4bd4" /><Relationship Type="http://schemas.openxmlformats.org/officeDocument/2006/relationships/notesSlide" Target="/ppt/notesSlides/notesSlide1.xml" Id="Rfebdd90954694c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189053107e42a6" /><Relationship Type="http://schemas.openxmlformats.org/officeDocument/2006/relationships/image" Target="/ppt/media/image2.png" Id="R9fb90bab146a4ea0" /><Relationship Type="http://schemas.openxmlformats.org/officeDocument/2006/relationships/image" Target="/ppt/media/image2.svg" Id="Rc8b503503ec9495d" /><Relationship Type="http://schemas.openxmlformats.org/officeDocument/2006/relationships/chart" Target="/ppt/slides/charts/chart1.xml" Id="Rf2935d299d9d40eb" /><Relationship Type="http://schemas.openxmlformats.org/officeDocument/2006/relationships/notesSlide" Target="/ppt/notesSlides/notesSlide2.xml" Id="R7b36394e328242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a2588f728c54e44" /><Relationship Type="http://schemas.openxmlformats.org/officeDocument/2006/relationships/image" Target="/ppt/media/image3.png" Id="R1bd28f42946b41f5" /><Relationship Type="http://schemas.openxmlformats.org/officeDocument/2006/relationships/image" Target="/ppt/media/image3.svg" Id="Rc6dad7ca741f4f88" /><Relationship Type="http://schemas.openxmlformats.org/officeDocument/2006/relationships/notesSlide" Target="/ppt/notesSlides/notesSlide3.xml" Id="Ra63f22b18b2146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f35dac4b2a4903" /><Relationship Type="http://schemas.openxmlformats.org/officeDocument/2006/relationships/image" Target="/ppt/media/image4.png" Id="R1a9ed0de8b364974" /><Relationship Type="http://schemas.openxmlformats.org/officeDocument/2006/relationships/image" Target="/ppt/media/image4.svg" Id="R3080c1f93bab4206" /><Relationship Type="http://schemas.openxmlformats.org/officeDocument/2006/relationships/notesSlide" Target="/ppt/notesSlides/notesSlide4.xml" Id="R99c28ab2a1ab49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9c9a8cfd7c84890" /><Relationship Type="http://schemas.openxmlformats.org/officeDocument/2006/relationships/image" Target="/ppt/media/image5.png" Id="Rb22575a4a70f41f3" /><Relationship Type="http://schemas.openxmlformats.org/officeDocument/2006/relationships/image" Target="/ppt/media/image5.svg" Id="R8fe650d191734f4e" /><Relationship Type="http://schemas.openxmlformats.org/officeDocument/2006/relationships/notesSlide" Target="/ppt/notesSlides/notesSlide5.xml" Id="Ref1f3407e67e4a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573419d12046ef" /><Relationship Type="http://schemas.openxmlformats.org/officeDocument/2006/relationships/image" Target="/ppt/media/image6.png" Id="R407346b46bb54754" /><Relationship Type="http://schemas.openxmlformats.org/officeDocument/2006/relationships/image" Target="/ppt/media/image6.svg" Id="R6cfb9f3ea2ae41be" /><Relationship Type="http://schemas.openxmlformats.org/officeDocument/2006/relationships/notesSlide" Target="/ppt/notesSlides/notesSlide6.xml" Id="Rf2334d88482c49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5750a287cd4dbd" /><Relationship Type="http://schemas.openxmlformats.org/officeDocument/2006/relationships/image" Target="/ppt/media/image7.png" Id="R792e2dcb21144f44" /><Relationship Type="http://schemas.openxmlformats.org/officeDocument/2006/relationships/image" Target="/ppt/media/image7.svg" Id="R3b7dbc853336456f" /><Relationship Type="http://schemas.openxmlformats.org/officeDocument/2006/relationships/chart" Target="/ppt/slides/charts/chart2.xml" Id="Rba8de9d418774a7b" /><Relationship Type="http://schemas.openxmlformats.org/officeDocument/2006/relationships/notesSlide" Target="/ppt/notesSlides/notesSlide7.xml" Id="R5375b39d84354a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2fdcfe96760464e" /><Relationship Type="http://schemas.openxmlformats.org/officeDocument/2006/relationships/image" Target="/ppt/media/image8.png" Id="R3c088a73940f4e0d" /><Relationship Type="http://schemas.openxmlformats.org/officeDocument/2006/relationships/image" Target="/ppt/media/image8.svg" Id="R31dec6a1499e441d" /><Relationship Type="http://schemas.openxmlformats.org/officeDocument/2006/relationships/notesSlide" Target="/ppt/notesSlides/notesSlide8.xml" Id="Rbae05e4895974d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d8d1e2fc5fd4d71" /><Relationship Type="http://schemas.openxmlformats.org/officeDocument/2006/relationships/image" Target="/ppt/media/image9.png" Id="Rf594518f25a24aac" /><Relationship Type="http://schemas.openxmlformats.org/officeDocument/2006/relationships/image" Target="/ppt/media/image9.svg" Id="Rfda9bc67c6614407" /><Relationship Type="http://schemas.openxmlformats.org/officeDocument/2006/relationships/notesSlide" Target="/ppt/notesSlides/notesSlide9.xml" Id="R32639b1dfe3745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42759bc8a44c92" /><Relationship Type="http://schemas.openxmlformats.org/officeDocument/2006/relationships/image" Target="/ppt/media/image10.png" Id="R3f834b4e7bf44dbe" /><Relationship Type="http://schemas.openxmlformats.org/officeDocument/2006/relationships/image" Target="/ppt/media/image10.svg" Id="Rfc69cc043dfe497a" /><Relationship Type="http://schemas.openxmlformats.org/officeDocument/2006/relationships/notesSlide" Target="/ppt/notesSlides/notesSlide10.xml" Id="R5259a2302ebd4a3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Live</c:v>
          </c:tx>
          <c:spPr>
            <a:solidFill xmlns:a="http://schemas.openxmlformats.org/drawingml/2006/main">
              <a:srgbClr val="635B64"/>
            </a:solidFill>
          </c:spPr>
          <c:cat>
            <c:strRef>
              <c:f>'Chart Data'!$A$2:$A$3</c:f>
              <c:strCache>
                <c:ptCount val="2"/>
                <c:pt idx="0">
                  <c:v>Meta</c:v>
                </c:pt>
                <c:pt idx="1">
                  <c:v>ChatGPT Ads</c:v>
                </c:pt>
              </c:strCache>
            </c:strRef>
          </c:cat>
          <c:val>
            <c:numRef>
              <c:f>'Chart Data'!$B$2:$B$3</c:f>
              <c:numCache>
                <c:formatCode>0%</c:formatCode>
                <c:ptCount val="2"/>
                <c:pt idx="0">
                  <c:v>0.5</c:v>
                </c:pt>
                <c:pt idx="1">
                  <c:v>0</c:v>
                </c:pt>
              </c:numCache>
            </c:numRef>
          </c:val>
        </c:ser>
        <c:ser>
          <c:idx val="1"/>
          <c:order val="1"/>
          <c:tx>
            <c:v>With fixes</c:v>
          </c:tx>
          <c:spPr>
            <a:solidFill xmlns:a="http://schemas.openxmlformats.org/drawingml/2006/main">
              <a:srgbClr val="FF00BC"/>
            </a:solidFill>
          </c:spPr>
          <c:cat>
            <c:strRef>
              <c:f>'Chart Data'!$C$2:$C$3</c:f>
              <c:strCache>
                <c:ptCount val="2"/>
                <c:pt idx="0">
                  <c:v>Meta</c:v>
                </c:pt>
                <c:pt idx="1">
                  <c:v>ChatGPT Ads</c:v>
                </c:pt>
              </c:strCache>
            </c:strRef>
          </c:cat>
          <c:val>
            <c:numRef>
              <c:f>'Chart Data'!$D$2:$D$3</c:f>
              <c:numCache>
                <c:formatCode>0%</c:formatCode>
                <c:ptCount val="2"/>
                <c:pt idx="0">
                  <c:v>1</c:v>
                </c:pt>
                <c:pt idx="1">
                  <c:v>1</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BEBEB"/>
                  </a:solidFill>
                  <a:latin typeface="Inter"/>
                  <a:ea typeface="Inter"/>
                  <a:cs typeface="Inter"/>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D2D0D6"/>
                </a:solidFill>
                <a:latin typeface="Inter"/>
                <a:ea typeface="Inter"/>
                <a:cs typeface="Inter"/>
              </a:defRPr>
            </a:pPr>
          </a:p>
        </c:txPr>
        <c:crossAx val="48672768"/>
      </c:catAx>
      <c:valAx>
        <c:axId val="48672768"/>
        <c:scaling>
          <c:orientation val="minMax"/>
          <c:max val="1"/>
          <c:min val="0"/>
        </c:scaling>
        <c:delete val="0"/>
        <c:axPos val="b"/>
        <c:majorGridlines>
          <c:spPr>
            <a:ln xmlns:a="http://schemas.openxmlformats.org/drawingml/2006/main" w="9525">
              <a:solidFill>
                <a:srgbClr val="39333B"/>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D2D0D6"/>
                </a:solidFill>
                <a:latin typeface="Inter"/>
                <a:ea typeface="Inter"/>
                <a:cs typeface="Inter"/>
              </a:defRPr>
            </a:pPr>
          </a:p>
        </c:txPr>
        <c:crossAx val="48650112"/>
        <c:crossBetween val="between"/>
        <c:majorUnit val="0.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950">
              <a:solidFill>
                <a:srgbClr val="AAA7AF"/>
              </a:solidFill>
              <a:latin typeface="Inter"/>
              <a:ea typeface="Inter"/>
              <a:cs typeface="Inter"/>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Capped error</c:v>
          </c:tx>
          <c:spPr>
            <a:solidFill xmlns:a="http://schemas.openxmlformats.org/drawingml/2006/main">
              <a:srgbClr val="FF00BC"/>
            </a:solidFill>
          </c:spPr>
          <c:dPt>
            <c:idx val="0"/>
            <c:invertIfNegative val="0"/>
            <c:spPr>
              <a:solidFill xmlns:a="http://schemas.openxmlformats.org/drawingml/2006/main">
                <a:srgbClr val="FF00BC"/>
              </a:solidFill>
            </c:spPr>
          </c:dPt>
          <c:dPt>
            <c:idx val="1"/>
            <c:invertIfNegative val="0"/>
            <c:spPr>
              <a:solidFill xmlns:a="http://schemas.openxmlformats.org/drawingml/2006/main">
                <a:srgbClr val="68606B"/>
              </a:solidFill>
            </c:spPr>
          </c:dPt>
          <c:cat>
            <c:strRef>
              <c:f>'Chart Data'!$A$2:$A$3</c:f>
              <c:strCache>
                <c:ptCount val="2"/>
                <c:pt idx="0">
                  <c:v>Purchase-time score</c:v>
                </c:pt>
                <c:pt idx="1">
                  <c:v>First-charge revenue</c:v>
                </c:pt>
              </c:strCache>
            </c:strRef>
          </c:cat>
          <c:val>
            <c:numRef>
              <c:f>'Chart Data'!$B$2:$B$3</c:f>
              <c:numCache>
                <c:formatCode>$0.00</c:formatCode>
                <c:ptCount val="2"/>
                <c:pt idx="0">
                  <c:v>10.93</c:v>
                </c:pt>
                <c:pt idx="1">
                  <c:v>19.96</c:v>
                </c:pt>
              </c:numCache>
            </c:numRef>
          </c:val>
        </c:ser>
        <c:dLbls>
          <c:txPr>
            <a:bodyPr xmlns:a="http://schemas.openxmlformats.org/drawingml/2006/main" anchorCtr="1"/>
            <a:lstStyle xmlns:a="http://schemas.openxmlformats.org/drawingml/2006/main"/>
            <a:p xmlns:a="http://schemas.openxmlformats.org/drawingml/2006/main">
              <a:pPr>
                <a:defRPr sz="2325">
                  <a:solidFill>
                    <a:srgbClr val="EBEBEB"/>
                  </a:solidFill>
                  <a:latin typeface="Inter"/>
                  <a:ea typeface="Inter"/>
                  <a:cs typeface="Inter"/>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D2D0D6"/>
                </a:solidFill>
                <a:latin typeface="Inter"/>
                <a:ea typeface="Inter"/>
                <a:cs typeface="Inter"/>
              </a:defRPr>
            </a:pPr>
          </a:p>
        </c:txPr>
        <c:crossAx val="48672768"/>
      </c:catAx>
      <c:valAx>
        <c:axId val="48672768"/>
        <c:scaling>
          <c:orientation val="minMax"/>
          <c:max val="24"/>
          <c:min val="0"/>
        </c:scaling>
        <c:delete val="1"/>
        <c:axPos val="b"/>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D2D0D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gradFill xmlns:a="http://schemas.openxmlformats.org/drawingml/2006/main">
          <a:gsLst>
            <a:gs pos="0">
              <a:srgbClr val="100D11"/>
            </a:gs>
            <a:gs pos="100000">
              <a:srgbClr val="09090B"/>
            </a:gs>
          </a:gsLst>
          <a:lin ang="2700000"/>
        </a:gradFill>
      </p:bgPr>
    </p:bg>
    <p:spTree>
      <p:nvGrpSpPr>
        <p:cNvPr id="1" name=""/>
        <p:cNvGrpSpPr/>
        <p:nvPr/>
      </p:nvGrpSpPr>
      <p:grpSpPr>
        <a:xfrm xmlns:a="http://schemas.openxmlformats.org/drawingml/2006/main"/>
      </p:grpSpPr>
      <p:sp>
        <p:nvSpPr>
          <p:cNvPr id="6" name="text-2">
            <a:extLst xmlns:a="http://schemas.openxmlformats.org/drawingml/2006/main">
              <a:ext uri="{FF2B5EF4-FFF2-40B4-BE49-F238E27FC236}">
                <a16:creationId xmlns:a16="http://schemas.microsoft.com/office/drawing/2014/main" id="{8050011A-B68B-48B9-AE24-B2D4730C92F7}"/>
              </a:ext>
            </a:extLst>
          </p:cNvPr>
          <p:cNvSpPr>
            <a:spLocks xmlns:a="http://schemas.openxmlformats.org/drawingml/2006/main" noGrp="1"/>
          </p:cNvSpPr>
          <p:nvPr/>
        </p:nvSpPr>
        <p:spPr>
          <a:xfrm xmlns:a="http://schemas.openxmlformats.org/drawingml/2006/main">
            <a:off x="666750" y="1333500"/>
            <a:ext cx="16954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8250" b="1">
                <a:gradFill>
                  <a:gsLst>
                    <a:gs pos="0">
                      <a:srgbClr val="FFB8E9"/>
                    </a:gs>
                    <a:gs pos="100000">
                      <a:srgbClr val="FF00BC"/>
                    </a:gs>
                  </a:gsLst>
                  <a:lin ang="0"/>
                </a:gradFill>
                <a:latin typeface="Bricolage Grotesque"/>
                <a:ea typeface="Bricolage Grotesque"/>
                <a:cs typeface="Bricolage Grotesque"/>
              </a:defRPr>
            </a:defPPr>
          </a:lstStyle>
          <a:p xmlns:a="http://schemas.openxmlformats.org/drawingml/2006/main">
            <a:pPr algn="ctr">
              <a:buNone/>
              <a:defRPr sz="8250" b="1">
                <a:solidFill>
                  <a:srgbClr val="FFB8E9"/>
                </a:solidFill>
                <a:latin typeface="Bricolage Grotesque"/>
                <a:ea typeface="Bricolage Grotesque"/>
                <a:cs typeface="Bricolage Grotesque"/>
              </a:defRPr>
            </a:pPr>
            <a:r>
              <a:rPr sz="8250" b="1">
                <a:gradFill>
                  <a:gsLst>
                    <a:gs pos="0">
                      <a:srgbClr val="FFB8E9"/>
                    </a:gs>
                    <a:gs pos="100000">
                      <a:srgbClr val="FF00BC"/>
                    </a:gs>
                  </a:gsLst>
                  <a:lin ang="0"/>
                </a:gradFill>
                <a:latin typeface="Bricolage Grotesque"/>
                <a:ea typeface="Bricolage Grotesque"/>
                <a:cs typeface="Bricolage Grotesque"/>
              </a:rPr>
              <a:t>KJ Growth data engineer</a:t>
            </a:r>
          </a:p>
        </p:txBody>
      </p:sp>
      <p:sp>
        <p:nvSpPr>
          <p:cNvPr id="7" name="experience-circle-1">
            <a:extLst xmlns:a="http://schemas.openxmlformats.org/drawingml/2006/main">
              <a:ext uri="{FF2B5EF4-FFF2-40B4-BE49-F238E27FC236}">
                <a16:creationId xmlns:a16="http://schemas.microsoft.com/office/drawing/2014/main" id="{EB796F06-9E9E-4188-96F7-DEA8A5386C54}"/>
              </a:ext>
            </a:extLst>
          </p:cNvPr>
          <p:cNvSpPr>
            <a:spLocks xmlns:a="http://schemas.openxmlformats.org/drawingml/2006/main" noGrp="1"/>
          </p:cNvSpPr>
          <p:nvPr/>
        </p:nvSpPr>
        <p:spPr>
          <a:xfrm xmlns:a="http://schemas.openxmlformats.org/drawingml/2006/main">
            <a:off x="1314450" y="4076700"/>
            <a:ext cx="2324100" cy="2324100"/>
          </a:xfrm>
          <a:prstGeom xmlns:a="http://schemas.openxmlformats.org/drawingml/2006/main" prst="ellipse">
            <a:avLst/>
          </a:prstGeom>
          <a:solidFill xmlns:a="http://schemas.openxmlformats.org/drawingml/2006/main">
            <a:srgbClr val="15172C"/>
          </a:solidFill>
          <a:ln xmlns:a="http://schemas.openxmlformats.org/drawingml/2006/main" w="7620">
            <a:solidFill>
              <a:srgbClr val="443C48"/>
            </a:solidFill>
          </a:ln>
        </p:spPr>
      </p:sp>
      <p:sp>
        <p:nvSpPr>
          <p:cNvPr id="8" name="experience-title-1">
            <a:extLst xmlns:a="http://schemas.openxmlformats.org/drawingml/2006/main">
              <a:ext uri="{FF2B5EF4-FFF2-40B4-BE49-F238E27FC236}">
                <a16:creationId xmlns:a16="http://schemas.microsoft.com/office/drawing/2014/main" id="{6A07EC3B-71B2-475B-85EC-85F2EF466E73}"/>
              </a:ext>
            </a:extLst>
          </p:cNvPr>
          <p:cNvSpPr>
            <a:spLocks xmlns:a="http://schemas.openxmlformats.org/drawingml/2006/main" noGrp="1"/>
          </p:cNvSpPr>
          <p:nvPr/>
        </p:nvSpPr>
        <p:spPr>
          <a:xfrm xmlns:a="http://schemas.openxmlformats.org/drawingml/2006/main">
            <a:off x="904875" y="67246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B8E9"/>
                </a:solidFill>
                <a:latin typeface="Bricolage Grotesque"/>
                <a:ea typeface="Bricolage Grotesque"/>
                <a:cs typeface="Bricolage Grotesque"/>
              </a:defRPr>
            </a:defPPr>
          </a:lstStyle>
          <a:p xmlns:a="http://schemas.openxmlformats.org/drawingml/2006/main">
            <a:pPr algn="ctr">
              <a:buNone/>
              <a:defRPr sz="2250" b="1">
                <a:solidFill>
                  <a:srgbClr val="FFB8E9"/>
                </a:solidFill>
                <a:latin typeface="Bricolage Grotesque"/>
                <a:ea typeface="Bricolage Grotesque"/>
                <a:cs typeface="Bricolage Grotesque"/>
              </a:defRPr>
            </a:pPr>
            <a:r>
              <a:rPr sz="2250" b="1">
                <a:solidFill>
                  <a:srgbClr val="FFB8E9"/>
                </a:solidFill>
                <a:latin typeface="Bricolage Grotesque"/>
                <a:ea typeface="Bricolage Grotesque"/>
                <a:cs typeface="Bricolage Grotesque"/>
              </a:rPr>
              <a:t>Schole.ai</a:t>
            </a:r>
          </a:p>
        </p:txBody>
      </p:sp>
      <p:sp>
        <p:nvSpPr>
          <p:cNvPr id="9" name="experience-description-1">
            <a:extLst xmlns:a="http://schemas.openxmlformats.org/drawingml/2006/main">
              <a:ext uri="{FF2B5EF4-FFF2-40B4-BE49-F238E27FC236}">
                <a16:creationId xmlns:a16="http://schemas.microsoft.com/office/drawing/2014/main" id="{DD2F222C-25B1-4C50-8444-2C412C98928D}"/>
              </a:ext>
            </a:extLst>
          </p:cNvPr>
          <p:cNvSpPr>
            <a:spLocks xmlns:a="http://schemas.openxmlformats.org/drawingml/2006/main" noGrp="1"/>
          </p:cNvSpPr>
          <p:nvPr/>
        </p:nvSpPr>
        <p:spPr>
          <a:xfrm xmlns:a="http://schemas.openxmlformats.org/drawingml/2006/main">
            <a:off x="904875" y="7486650"/>
            <a:ext cx="314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a:solidFill>
                  <a:srgbClr val="D2D0D6"/>
                </a:solidFill>
                <a:latin typeface="Inter"/>
                <a:ea typeface="Inter"/>
                <a:cs typeface="Inter"/>
              </a:defRPr>
            </a:defPPr>
          </a:lstStyle>
          <a:p xmlns:a="http://schemas.openxmlformats.org/drawingml/2006/main">
            <a:pPr algn="ctr">
              <a:buNone/>
              <a:defRPr sz="2100" b="0">
                <a:solidFill>
                  <a:srgbClr val="D2D0D6"/>
                </a:solidFill>
                <a:latin typeface="Inter"/>
                <a:ea typeface="Inter"/>
                <a:cs typeface="Inter"/>
              </a:defRPr>
            </a:pPr>
            <a:r>
              <a:rPr sz="2100" b="0">
                <a:solidFill>
                  <a:srgbClr val="D2D0D6"/>
                </a:solidFill>
                <a:latin typeface="Inter"/>
                <a:ea typeface="Inter"/>
                <a:cs typeface="Inter"/>
              </a:rPr>
              <a:t>Founding growth engineer</a:t>
            </a:r>
          </a:p>
          <a:p xmlns:a="http://schemas.openxmlformats.org/drawingml/2006/main">
            <a:pPr algn="ctr">
              <a:buNone/>
              <a:defRPr sz="2100" b="0">
                <a:solidFill>
                  <a:srgbClr val="D2D0D6"/>
                </a:solidFill>
                <a:latin typeface="Inter"/>
                <a:ea typeface="Inter"/>
                <a:cs typeface="Inter"/>
              </a:defRPr>
            </a:pPr>
            <a:r>
              <a:rPr sz="2100" b="0">
                <a:solidFill>
                  <a:srgbClr val="D2D0D6"/>
                </a:solidFill>
                <a:latin typeface="Inter"/>
                <a:ea typeface="Inter"/>
                <a:cs typeface="Inter"/>
              </a:rPr>
              <a:t>at an AI startup</a:t>
            </a:r>
          </a:p>
        </p:txBody>
      </p:sp>
      <p:sp>
        <p:nvSpPr>
          <p:cNvPr id="10" name="experience-circle-2">
            <a:extLst xmlns:a="http://schemas.openxmlformats.org/drawingml/2006/main">
              <a:ext uri="{FF2B5EF4-FFF2-40B4-BE49-F238E27FC236}">
                <a16:creationId xmlns:a16="http://schemas.microsoft.com/office/drawing/2014/main" id="{A6EC4309-DBF2-4D3D-AB3A-694AD2B898A4}"/>
              </a:ext>
            </a:extLst>
          </p:cNvPr>
          <p:cNvSpPr>
            <a:spLocks xmlns:a="http://schemas.openxmlformats.org/drawingml/2006/main" noGrp="1"/>
          </p:cNvSpPr>
          <p:nvPr/>
        </p:nvSpPr>
        <p:spPr>
          <a:xfrm xmlns:a="http://schemas.openxmlformats.org/drawingml/2006/main">
            <a:off x="4648200" y="4076700"/>
            <a:ext cx="2324100" cy="2324100"/>
          </a:xfrm>
          <a:prstGeom xmlns:a="http://schemas.openxmlformats.org/drawingml/2006/main" prst="ellipse">
            <a:avLst/>
          </a:prstGeom>
          <a:solidFill xmlns:a="http://schemas.openxmlformats.org/drawingml/2006/main">
            <a:srgbClr val="568F6B"/>
          </a:solidFill>
          <a:ln xmlns:a="http://schemas.openxmlformats.org/drawingml/2006/main" w="7620">
            <a:solidFill>
              <a:srgbClr val="443C48"/>
            </a:solidFill>
          </a:ln>
        </p:spPr>
      </p:sp>
      <p:sp>
        <p:nvSpPr>
          <p:cNvPr id="11" name="experience-title-2">
            <a:extLst xmlns:a="http://schemas.openxmlformats.org/drawingml/2006/main">
              <a:ext uri="{FF2B5EF4-FFF2-40B4-BE49-F238E27FC236}">
                <a16:creationId xmlns:a16="http://schemas.microsoft.com/office/drawing/2014/main" id="{F1830A20-0C19-488B-9CAC-2E304F6CE1B4}"/>
              </a:ext>
            </a:extLst>
          </p:cNvPr>
          <p:cNvSpPr>
            <a:spLocks xmlns:a="http://schemas.openxmlformats.org/drawingml/2006/main" noGrp="1"/>
          </p:cNvSpPr>
          <p:nvPr/>
        </p:nvSpPr>
        <p:spPr>
          <a:xfrm xmlns:a="http://schemas.openxmlformats.org/drawingml/2006/main">
            <a:off x="4238625" y="67246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B8E9"/>
                </a:solidFill>
                <a:latin typeface="Bricolage Grotesque"/>
                <a:ea typeface="Bricolage Grotesque"/>
                <a:cs typeface="Bricolage Grotesque"/>
              </a:defRPr>
            </a:defPPr>
          </a:lstStyle>
          <a:p xmlns:a="http://schemas.openxmlformats.org/drawingml/2006/main">
            <a:pPr algn="ctr">
              <a:buNone/>
              <a:defRPr sz="2250" b="1">
                <a:solidFill>
                  <a:srgbClr val="FFB8E9"/>
                </a:solidFill>
                <a:latin typeface="Bricolage Grotesque"/>
                <a:ea typeface="Bricolage Grotesque"/>
                <a:cs typeface="Bricolage Grotesque"/>
              </a:defRPr>
            </a:pPr>
            <a:r>
              <a:rPr sz="2250" b="1">
                <a:solidFill>
                  <a:srgbClr val="FFB8E9"/>
                </a:solidFill>
                <a:latin typeface="Bricolage Grotesque"/>
                <a:ea typeface="Bricolage Grotesque"/>
                <a:cs typeface="Bricolage Grotesque"/>
              </a:rPr>
              <a:t>trykindredsong.com</a:t>
            </a:r>
          </a:p>
        </p:txBody>
      </p:sp>
      <p:sp>
        <p:nvSpPr>
          <p:cNvPr id="12" name="experience-description-2">
            <a:extLst xmlns:a="http://schemas.openxmlformats.org/drawingml/2006/main">
              <a:ext uri="{FF2B5EF4-FFF2-40B4-BE49-F238E27FC236}">
                <a16:creationId xmlns:a16="http://schemas.microsoft.com/office/drawing/2014/main" id="{361B6408-0640-4A87-90C1-D0143798FE77}"/>
              </a:ext>
            </a:extLst>
          </p:cNvPr>
          <p:cNvSpPr>
            <a:spLocks xmlns:a="http://schemas.openxmlformats.org/drawingml/2006/main" noGrp="1"/>
          </p:cNvSpPr>
          <p:nvPr/>
        </p:nvSpPr>
        <p:spPr>
          <a:xfrm xmlns:a="http://schemas.openxmlformats.org/drawingml/2006/main">
            <a:off x="4238625" y="7486650"/>
            <a:ext cx="314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a:solidFill>
                  <a:srgbClr val="D2D0D6"/>
                </a:solidFill>
                <a:latin typeface="Inter"/>
                <a:ea typeface="Inter"/>
                <a:cs typeface="Inter"/>
              </a:defRPr>
            </a:defPPr>
          </a:lstStyle>
          <a:p xmlns:a="http://schemas.openxmlformats.org/drawingml/2006/main">
            <a:pPr algn="ctr">
              <a:buNone/>
              <a:defRPr sz="2100" b="0">
                <a:solidFill>
                  <a:srgbClr val="D2D0D6"/>
                </a:solidFill>
                <a:latin typeface="Inter"/>
                <a:ea typeface="Inter"/>
                <a:cs typeface="Inter"/>
              </a:defRPr>
            </a:pPr>
            <a:r>
              <a:rPr sz="2100" b="0">
                <a:solidFill>
                  <a:srgbClr val="D2D0D6"/>
                </a:solidFill>
                <a:latin typeface="Inter"/>
                <a:ea typeface="Inter"/>
                <a:cs typeface="Inter"/>
              </a:rPr>
              <a:t>Sold custom pet songs</a:t>
            </a:r>
          </a:p>
          <a:p xmlns:a="http://schemas.openxmlformats.org/drawingml/2006/main">
            <a:pPr algn="ctr">
              <a:buNone/>
              <a:defRPr sz="2100" b="0">
                <a:solidFill>
                  <a:srgbClr val="D2D0D6"/>
                </a:solidFill>
                <a:latin typeface="Inter"/>
                <a:ea typeface="Inter"/>
                <a:cs typeface="Inter"/>
              </a:defRPr>
            </a:pPr>
            <a:r>
              <a:rPr sz="2100" b="0">
                <a:solidFill>
                  <a:srgbClr val="D2D0D6"/>
                </a:solidFill>
                <a:latin typeface="Inter"/>
                <a:ea typeface="Inter"/>
                <a:cs typeface="Inter"/>
              </a:rPr>
              <a:t>Revenue run rate: 20k</a:t>
            </a:r>
          </a:p>
        </p:txBody>
      </p:sp>
      <p:sp>
        <p:nvSpPr>
          <p:cNvPr id="13" name="experience-circle-3">
            <a:extLst xmlns:a="http://schemas.openxmlformats.org/drawingml/2006/main">
              <a:ext uri="{FF2B5EF4-FFF2-40B4-BE49-F238E27FC236}">
                <a16:creationId xmlns:a16="http://schemas.microsoft.com/office/drawing/2014/main" id="{C3995526-113A-47EB-9D4A-3EFE6E4EDF2E}"/>
              </a:ext>
            </a:extLst>
          </p:cNvPr>
          <p:cNvSpPr>
            <a:spLocks xmlns:a="http://schemas.openxmlformats.org/drawingml/2006/main" noGrp="1"/>
          </p:cNvSpPr>
          <p:nvPr/>
        </p:nvSpPr>
        <p:spPr>
          <a:xfrm xmlns:a="http://schemas.openxmlformats.org/drawingml/2006/main">
            <a:off x="7981950" y="4076700"/>
            <a:ext cx="2324100" cy="2324100"/>
          </a:xfrm>
          <a:prstGeom xmlns:a="http://schemas.openxmlformats.org/drawingml/2006/main" prst="ellipse">
            <a:avLst/>
          </a:prstGeom>
          <a:solidFill xmlns:a="http://schemas.openxmlformats.org/drawingml/2006/main">
            <a:srgbClr val="F3F2F5"/>
          </a:solidFill>
          <a:ln xmlns:a="http://schemas.openxmlformats.org/drawingml/2006/main" w="7620">
            <a:solidFill>
              <a:srgbClr val="443C48"/>
            </a:solidFill>
          </a:ln>
        </p:spPr>
      </p:sp>
      <p:sp>
        <p:nvSpPr>
          <p:cNvPr id="14" name="experience-title-3">
            <a:extLst xmlns:a="http://schemas.openxmlformats.org/drawingml/2006/main">
              <a:ext uri="{FF2B5EF4-FFF2-40B4-BE49-F238E27FC236}">
                <a16:creationId xmlns:a16="http://schemas.microsoft.com/office/drawing/2014/main" id="{CB1071E3-1C90-4AD0-9A34-71DB9E8C38D0}"/>
              </a:ext>
            </a:extLst>
          </p:cNvPr>
          <p:cNvSpPr>
            <a:spLocks xmlns:a="http://schemas.openxmlformats.org/drawingml/2006/main" noGrp="1"/>
          </p:cNvSpPr>
          <p:nvPr/>
        </p:nvSpPr>
        <p:spPr>
          <a:xfrm xmlns:a="http://schemas.openxmlformats.org/drawingml/2006/main">
            <a:off x="7572375" y="67246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B8E9"/>
                </a:solidFill>
                <a:latin typeface="Bricolage Grotesque"/>
                <a:ea typeface="Bricolage Grotesque"/>
                <a:cs typeface="Bricolage Grotesque"/>
              </a:defRPr>
            </a:defPPr>
          </a:lstStyle>
          <a:p xmlns:a="http://schemas.openxmlformats.org/drawingml/2006/main">
            <a:pPr algn="ctr">
              <a:buNone/>
              <a:defRPr sz="2250" b="1">
                <a:solidFill>
                  <a:srgbClr val="FFB8E9"/>
                </a:solidFill>
                <a:latin typeface="Bricolage Grotesque"/>
                <a:ea typeface="Bricolage Grotesque"/>
                <a:cs typeface="Bricolage Grotesque"/>
              </a:defRPr>
            </a:pPr>
            <a:r>
              <a:rPr sz="2250" b="1">
                <a:solidFill>
                  <a:srgbClr val="FFB8E9"/>
                </a:solidFill>
                <a:latin typeface="Bricolage Grotesque"/>
                <a:ea typeface="Bricolage Grotesque"/>
                <a:cs typeface="Bricolage Grotesque"/>
              </a:rPr>
              <a:t>Sponsorfi.io</a:t>
            </a:r>
          </a:p>
        </p:txBody>
      </p:sp>
      <p:sp>
        <p:nvSpPr>
          <p:cNvPr id="15" name="experience-description-3">
            <a:extLst xmlns:a="http://schemas.openxmlformats.org/drawingml/2006/main">
              <a:ext uri="{FF2B5EF4-FFF2-40B4-BE49-F238E27FC236}">
                <a16:creationId xmlns:a16="http://schemas.microsoft.com/office/drawing/2014/main" id="{CD98DF28-6AE8-49C5-8A5F-3AC0748FDA5F}"/>
              </a:ext>
            </a:extLst>
          </p:cNvPr>
          <p:cNvSpPr>
            <a:spLocks xmlns:a="http://schemas.openxmlformats.org/drawingml/2006/main" noGrp="1"/>
          </p:cNvSpPr>
          <p:nvPr/>
        </p:nvSpPr>
        <p:spPr>
          <a:xfrm xmlns:a="http://schemas.openxmlformats.org/drawingml/2006/main">
            <a:off x="7572375" y="7486650"/>
            <a:ext cx="314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a:solidFill>
                  <a:srgbClr val="D2D0D6"/>
                </a:solidFill>
                <a:latin typeface="Inter"/>
                <a:ea typeface="Inter"/>
                <a:cs typeface="Inter"/>
              </a:defRPr>
            </a:defPPr>
          </a:lstStyle>
          <a:p xmlns:a="http://schemas.openxmlformats.org/drawingml/2006/main">
            <a:pPr algn="ctr">
              <a:buNone/>
              <a:defRPr sz="2100" b="0">
                <a:solidFill>
                  <a:srgbClr val="D2D0D6"/>
                </a:solidFill>
                <a:latin typeface="Inter"/>
                <a:ea typeface="Inter"/>
                <a:cs typeface="Inter"/>
              </a:defRPr>
            </a:pPr>
            <a:r>
              <a:rPr sz="2100" b="0">
                <a:solidFill>
                  <a:srgbClr val="D2D0D6"/>
                </a:solidFill>
                <a:latin typeface="Inter"/>
                <a:ea typeface="Inter"/>
                <a:cs typeface="Inter"/>
              </a:rPr>
              <a:t>Built a SaaS tool</a:t>
            </a:r>
          </a:p>
          <a:p xmlns:a="http://schemas.openxmlformats.org/drawingml/2006/main">
            <a:pPr algn="ctr">
              <a:buNone/>
              <a:defRPr sz="2100" b="0">
                <a:solidFill>
                  <a:srgbClr val="D2D0D6"/>
                </a:solidFill>
                <a:latin typeface="Inter"/>
                <a:ea typeface="Inter"/>
                <a:cs typeface="Inter"/>
              </a:defRPr>
            </a:pPr>
            <a:r>
              <a:rPr sz="2100" b="0">
                <a:solidFill>
                  <a:srgbClr val="D2D0D6"/>
                </a:solidFill>
                <a:latin typeface="Inter"/>
                <a:ea typeface="Inter"/>
                <a:cs typeface="Inter"/>
              </a:rPr>
              <a:t>A/B tested signup flow</a:t>
            </a:r>
          </a:p>
        </p:txBody>
      </p:sp>
      <p:sp>
        <p:nvSpPr>
          <p:cNvPr id="16" name="experience-circle-4">
            <a:extLst xmlns:a="http://schemas.openxmlformats.org/drawingml/2006/main">
              <a:ext uri="{FF2B5EF4-FFF2-40B4-BE49-F238E27FC236}">
                <a16:creationId xmlns:a16="http://schemas.microsoft.com/office/drawing/2014/main" id="{B3953E2D-FE47-444A-B890-616E4A480BBD}"/>
              </a:ext>
            </a:extLst>
          </p:cNvPr>
          <p:cNvSpPr>
            <a:spLocks xmlns:a="http://schemas.openxmlformats.org/drawingml/2006/main" noGrp="1"/>
          </p:cNvSpPr>
          <p:nvPr/>
        </p:nvSpPr>
        <p:spPr>
          <a:xfrm xmlns:a="http://schemas.openxmlformats.org/drawingml/2006/main">
            <a:off x="11315700" y="4076700"/>
            <a:ext cx="2324100" cy="2324100"/>
          </a:xfrm>
          <a:prstGeom xmlns:a="http://schemas.openxmlformats.org/drawingml/2006/main" prst="ellipse">
            <a:avLst/>
          </a:prstGeom>
          <a:solidFill xmlns:a="http://schemas.openxmlformats.org/drawingml/2006/main">
            <a:srgbClr val="17141B"/>
          </a:solidFill>
          <a:ln xmlns:a="http://schemas.openxmlformats.org/drawingml/2006/main" w="7620">
            <a:solidFill>
              <a:srgbClr val="443C48"/>
            </a:solidFill>
          </a:ln>
        </p:spPr>
      </p:sp>
      <p:sp>
        <p:nvSpPr>
          <p:cNvPr id="17" name="experience-title-4">
            <a:extLst xmlns:a="http://schemas.openxmlformats.org/drawingml/2006/main">
              <a:ext uri="{FF2B5EF4-FFF2-40B4-BE49-F238E27FC236}">
                <a16:creationId xmlns:a16="http://schemas.microsoft.com/office/drawing/2014/main" id="{336FC493-0354-4C60-9DC3-6A12B201DED2}"/>
              </a:ext>
            </a:extLst>
          </p:cNvPr>
          <p:cNvSpPr>
            <a:spLocks xmlns:a="http://schemas.openxmlformats.org/drawingml/2006/main" noGrp="1"/>
          </p:cNvSpPr>
          <p:nvPr/>
        </p:nvSpPr>
        <p:spPr>
          <a:xfrm xmlns:a="http://schemas.openxmlformats.org/drawingml/2006/main">
            <a:off x="10906125" y="67246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B8E9"/>
                </a:solidFill>
                <a:latin typeface="Bricolage Grotesque"/>
                <a:ea typeface="Bricolage Grotesque"/>
                <a:cs typeface="Bricolage Grotesque"/>
              </a:defRPr>
            </a:defPPr>
          </a:lstStyle>
          <a:p xmlns:a="http://schemas.openxmlformats.org/drawingml/2006/main">
            <a:pPr algn="ctr">
              <a:buNone/>
              <a:defRPr sz="2250" b="1">
                <a:solidFill>
                  <a:srgbClr val="FFB8E9"/>
                </a:solidFill>
                <a:latin typeface="Bricolage Grotesque"/>
                <a:ea typeface="Bricolage Grotesque"/>
                <a:cs typeface="Bricolage Grotesque"/>
              </a:defRPr>
            </a:pPr>
            <a:r>
              <a:rPr sz="2250" b="1">
                <a:solidFill>
                  <a:srgbClr val="FFB8E9"/>
                </a:solidFill>
                <a:latin typeface="Bricolage Grotesque"/>
                <a:ea typeface="Bricolage Grotesque"/>
                <a:cs typeface="Bricolage Grotesque"/>
              </a:rPr>
              <a:t>Dropshipper</a:t>
            </a:r>
          </a:p>
        </p:txBody>
      </p:sp>
      <p:sp>
        <p:nvSpPr>
          <p:cNvPr id="18" name="experience-description-4">
            <a:extLst xmlns:a="http://schemas.openxmlformats.org/drawingml/2006/main">
              <a:ext uri="{FF2B5EF4-FFF2-40B4-BE49-F238E27FC236}">
                <a16:creationId xmlns:a16="http://schemas.microsoft.com/office/drawing/2014/main" id="{D3C2FBE7-955B-4279-9975-2BB5DD72561F}"/>
              </a:ext>
            </a:extLst>
          </p:cNvPr>
          <p:cNvSpPr>
            <a:spLocks xmlns:a="http://schemas.openxmlformats.org/drawingml/2006/main" noGrp="1"/>
          </p:cNvSpPr>
          <p:nvPr/>
        </p:nvSpPr>
        <p:spPr>
          <a:xfrm xmlns:a="http://schemas.openxmlformats.org/drawingml/2006/main">
            <a:off x="10906125" y="7486650"/>
            <a:ext cx="314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a:solidFill>
                  <a:srgbClr val="D2D0D6"/>
                </a:solidFill>
                <a:latin typeface="Inter"/>
                <a:ea typeface="Inter"/>
                <a:cs typeface="Inter"/>
              </a:defRPr>
            </a:defPPr>
          </a:lstStyle>
          <a:p xmlns:a="http://schemas.openxmlformats.org/drawingml/2006/main">
            <a:pPr algn="ctr">
              <a:buNone/>
              <a:defRPr sz="2100" b="0">
                <a:solidFill>
                  <a:srgbClr val="D2D0D6"/>
                </a:solidFill>
                <a:latin typeface="Inter"/>
                <a:ea typeface="Inter"/>
                <a:cs typeface="Inter"/>
              </a:defRPr>
            </a:pPr>
            <a:r>
              <a:rPr sz="2100" b="0">
                <a:solidFill>
                  <a:srgbClr val="D2D0D6"/>
                </a:solidFill>
                <a:latin typeface="Inter"/>
                <a:ea typeface="Inter"/>
                <a:cs typeface="Inter"/>
              </a:rPr>
              <a:t>LED lights + hair trimmers</a:t>
            </a:r>
          </a:p>
          <a:p xmlns:a="http://schemas.openxmlformats.org/drawingml/2006/main">
            <a:pPr algn="ctr">
              <a:buNone/>
              <a:defRPr sz="2100" b="0">
                <a:solidFill>
                  <a:srgbClr val="D2D0D6"/>
                </a:solidFill>
                <a:latin typeface="Inter"/>
                <a:ea typeface="Inter"/>
                <a:cs typeface="Inter"/>
              </a:defRPr>
            </a:pPr>
            <a:r>
              <a:rPr sz="2100" b="0">
                <a:solidFill>
                  <a:srgbClr val="D2D0D6"/>
                </a:solidFill>
                <a:latin typeface="Inter"/>
                <a:ea typeface="Inter"/>
                <a:cs typeface="Inter"/>
              </a:rPr>
              <a:t>Revenue run rate: 40k</a:t>
            </a:r>
          </a:p>
        </p:txBody>
      </p:sp>
      <p:sp>
        <p:nvSpPr>
          <p:cNvPr id="19" name="experience-circle-5">
            <a:extLst xmlns:a="http://schemas.openxmlformats.org/drawingml/2006/main">
              <a:ext uri="{FF2B5EF4-FFF2-40B4-BE49-F238E27FC236}">
                <a16:creationId xmlns:a16="http://schemas.microsoft.com/office/drawing/2014/main" id="{F6CF54FD-1BA2-4478-8797-D680CDF66061}"/>
              </a:ext>
            </a:extLst>
          </p:cNvPr>
          <p:cNvSpPr>
            <a:spLocks xmlns:a="http://schemas.openxmlformats.org/drawingml/2006/main" noGrp="1"/>
          </p:cNvSpPr>
          <p:nvPr/>
        </p:nvSpPr>
        <p:spPr>
          <a:xfrm xmlns:a="http://schemas.openxmlformats.org/drawingml/2006/main">
            <a:off x="14649450" y="4076700"/>
            <a:ext cx="2324100" cy="2324100"/>
          </a:xfrm>
          <a:prstGeom xmlns:a="http://schemas.openxmlformats.org/drawingml/2006/main" prst="ellipse">
            <a:avLst/>
          </a:prstGeom>
          <a:solidFill xmlns:a="http://schemas.openxmlformats.org/drawingml/2006/main">
            <a:srgbClr val="FFCC00"/>
          </a:solidFill>
          <a:ln xmlns:a="http://schemas.openxmlformats.org/drawingml/2006/main" w="7620">
            <a:solidFill>
              <a:srgbClr val="443C48"/>
            </a:solidFill>
          </a:ln>
        </p:spPr>
      </p:sp>
      <p:sp>
        <p:nvSpPr>
          <p:cNvPr id="20" name="experience-title-5">
            <a:extLst xmlns:a="http://schemas.openxmlformats.org/drawingml/2006/main">
              <a:ext uri="{FF2B5EF4-FFF2-40B4-BE49-F238E27FC236}">
                <a16:creationId xmlns:a16="http://schemas.microsoft.com/office/drawing/2014/main" id="{214FFD36-19CC-41D0-914C-1CC38625F75B}"/>
              </a:ext>
            </a:extLst>
          </p:cNvPr>
          <p:cNvSpPr>
            <a:spLocks xmlns:a="http://schemas.openxmlformats.org/drawingml/2006/main" noGrp="1"/>
          </p:cNvSpPr>
          <p:nvPr/>
        </p:nvSpPr>
        <p:spPr>
          <a:xfrm xmlns:a="http://schemas.openxmlformats.org/drawingml/2006/main">
            <a:off x="14239875" y="67246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B8E9"/>
                </a:solidFill>
                <a:latin typeface="Bricolage Grotesque"/>
                <a:ea typeface="Bricolage Grotesque"/>
                <a:cs typeface="Bricolage Grotesque"/>
              </a:defRPr>
            </a:defPPr>
          </a:lstStyle>
          <a:p xmlns:a="http://schemas.openxmlformats.org/drawingml/2006/main">
            <a:pPr algn="ctr">
              <a:buNone/>
              <a:defRPr sz="2250" b="1">
                <a:solidFill>
                  <a:srgbClr val="FFB8E9"/>
                </a:solidFill>
                <a:latin typeface="Bricolage Grotesque"/>
                <a:ea typeface="Bricolage Grotesque"/>
                <a:cs typeface="Bricolage Grotesque"/>
              </a:defRPr>
            </a:pPr>
            <a:r>
              <a:rPr sz="2250" b="1">
                <a:solidFill>
                  <a:srgbClr val="FFB8E9"/>
                </a:solidFill>
                <a:latin typeface="Bricolage Grotesque"/>
                <a:ea typeface="Bricolage Grotesque"/>
                <a:cs typeface="Bricolage Grotesque"/>
              </a:rPr>
              <a:t>USC Marshall</a:t>
            </a:r>
          </a:p>
        </p:txBody>
      </p:sp>
      <p:sp>
        <p:nvSpPr>
          <p:cNvPr id="21" name="experience-description-5">
            <a:extLst xmlns:a="http://schemas.openxmlformats.org/drawingml/2006/main">
              <a:ext uri="{FF2B5EF4-FFF2-40B4-BE49-F238E27FC236}">
                <a16:creationId xmlns:a16="http://schemas.microsoft.com/office/drawing/2014/main" id="{9434B027-1A01-471C-84AF-C2EF17DDFCFB}"/>
              </a:ext>
            </a:extLst>
          </p:cNvPr>
          <p:cNvSpPr>
            <a:spLocks xmlns:a="http://schemas.openxmlformats.org/drawingml/2006/main" noGrp="1"/>
          </p:cNvSpPr>
          <p:nvPr/>
        </p:nvSpPr>
        <p:spPr>
          <a:xfrm xmlns:a="http://schemas.openxmlformats.org/drawingml/2006/main">
            <a:off x="14239875" y="7486650"/>
            <a:ext cx="314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a:solidFill>
                  <a:srgbClr val="D2D0D6"/>
                </a:solidFill>
                <a:latin typeface="Inter"/>
                <a:ea typeface="Inter"/>
                <a:cs typeface="Inter"/>
              </a:defRPr>
            </a:defPPr>
          </a:lstStyle>
          <a:p xmlns:a="http://schemas.openxmlformats.org/drawingml/2006/main">
            <a:pPr algn="ctr">
              <a:buNone/>
              <a:defRPr sz="2100" b="0">
                <a:solidFill>
                  <a:srgbClr val="D2D0D6"/>
                </a:solidFill>
                <a:latin typeface="Inter"/>
                <a:ea typeface="Inter"/>
                <a:cs typeface="Inter"/>
              </a:defRPr>
            </a:pPr>
            <a:r>
              <a:rPr sz="2100" b="0">
                <a:solidFill>
                  <a:srgbClr val="D2D0D6"/>
                </a:solidFill>
                <a:latin typeface="Inter"/>
                <a:ea typeface="Inter"/>
                <a:cs typeface="Inter"/>
              </a:rPr>
              <a:t>Undergrad</a:t>
            </a:r>
          </a:p>
        </p:txBody>
      </p:sp>
      <p:pic>
        <p:nvPicPr>
          <p:cNvPr id="22" name="">
            <a:extLst xmlns:a="http://schemas.openxmlformats.org/drawingml/2006/main">
              <a:ext uri="{FF2B5EF4-FFF2-40B4-BE49-F238E27FC236}">
                <a16:creationId xmlns:a16="http://schemas.microsoft.com/office/drawing/2014/main" id="{1F05E8E7-F70D-4645-9871-E70C1A1D6B2E}"/>
              </a:ext>
            </a:extLst>
          </p:cNvPr>
          <p:cNvPicPr>
            <a:picLocks xmlns:a="http://schemas.openxmlformats.org/drawingml/2006/main" noChangeAspect="1"/>
          </p:cNvPicPr>
          <p:nvPr/>
        </p:nvPicPr>
        <p:blipFill>
          <a:blip xmlns:r="http://schemas.openxmlformats.org/officeDocument/2006/relationships" xmlns:a="http://schemas.openxmlformats.org/drawingml/2006/main" r:embed="Rca2a57df732244a8"/>
          <a:stretch xmlns:a="http://schemas.openxmlformats.org/drawingml/2006/main"/>
        </p:blipFill>
        <p:spPr>
          <a:xfrm xmlns:a="http://schemas.openxmlformats.org/drawingml/2006/main">
            <a:off x="1733550" y="4401608"/>
            <a:ext cx="1485900" cy="1693333"/>
          </a:xfrm>
          <a:prstGeom xmlns:a="http://schemas.openxmlformats.org/drawingml/2006/main" prst="rect">
            <a:avLst/>
          </a:prstGeom>
        </p:spPr>
      </p:pic>
      <p:pic>
        <p:nvPicPr>
          <p:cNvPr id="23" name="">
            <a:extLst xmlns:a="http://schemas.openxmlformats.org/drawingml/2006/main">
              <a:ext uri="{FF2B5EF4-FFF2-40B4-BE49-F238E27FC236}">
                <a16:creationId xmlns:a16="http://schemas.microsoft.com/office/drawing/2014/main" id="{9B737004-E96B-480F-B93C-144D8074FAFF}"/>
              </a:ext>
            </a:extLst>
          </p:cNvPr>
          <p:cNvPicPr>
            <a:picLocks xmlns:a="http://schemas.openxmlformats.org/drawingml/2006/main" noChangeAspect="1"/>
          </p:cNvPicPr>
          <p:nvPr/>
        </p:nvPicPr>
        <p:blipFill>
          <a:blip xmlns:r="http://schemas.openxmlformats.org/officeDocument/2006/relationships" xmlns:a="http://schemas.openxmlformats.org/drawingml/2006/main" r:embed="Ra82bb9e959cf473f"/>
          <a:stretch xmlns:a="http://schemas.openxmlformats.org/drawingml/2006/main"/>
        </p:blipFill>
        <p:spPr>
          <a:xfrm xmlns:a="http://schemas.openxmlformats.org/drawingml/2006/main">
            <a:off x="5238750" y="4667250"/>
            <a:ext cx="1143000" cy="1143000"/>
          </a:xfrm>
          <a:prstGeom xmlns:a="http://schemas.openxmlformats.org/drawingml/2006/main" prst="rect">
            <a:avLst/>
          </a:prstGeom>
        </p:spPr>
      </p:pic>
      <p:pic>
        <p:nvPicPr>
          <p:cNvPr id="24" name="">
            <a:extLst xmlns:a="http://schemas.openxmlformats.org/drawingml/2006/main">
              <a:ext uri="{FF2B5EF4-FFF2-40B4-BE49-F238E27FC236}">
                <a16:creationId xmlns:a16="http://schemas.microsoft.com/office/drawing/2014/main" id="{7CDBB101-6A2C-418D-A66F-D336604D5109}"/>
              </a:ext>
            </a:extLst>
          </p:cNvPr>
          <p:cNvPicPr>
            <a:picLocks xmlns:a="http://schemas.openxmlformats.org/drawingml/2006/main" noChangeAspect="1"/>
          </p:cNvPicPr>
          <p:nvPr/>
        </p:nvPicPr>
        <p:blipFill>
          <a:blip xmlns:r="http://schemas.openxmlformats.org/officeDocument/2006/relationships" xmlns:a="http://schemas.openxmlformats.org/drawingml/2006/main" r:embed="R6e9ab3c35caf432f"/>
          <a:stretch xmlns:a="http://schemas.openxmlformats.org/drawingml/2006/main"/>
        </p:blipFill>
        <p:spPr>
          <a:xfrm xmlns:a="http://schemas.openxmlformats.org/drawingml/2006/main">
            <a:off x="7981950" y="4076700"/>
            <a:ext cx="2324100" cy="2324100"/>
          </a:xfrm>
          <a:prstGeom xmlns:a="http://schemas.openxmlformats.org/drawingml/2006/main" prst="rect">
            <a:avLst/>
          </a:prstGeom>
        </p:spPr>
      </p:pic>
      <p:pic>
        <p:nvPicPr>
          <p:cNvPr id="25" name="">
            <a:extLst xmlns:a="http://schemas.openxmlformats.org/drawingml/2006/main">
              <a:ext uri="{FF2B5EF4-FFF2-40B4-BE49-F238E27FC236}">
                <a16:creationId xmlns:a16="http://schemas.microsoft.com/office/drawing/2014/main" id="{B02305C2-9E7A-4E72-B6B4-E459F49389CA}"/>
              </a:ext>
            </a:extLst>
          </p:cNvPr>
          <p:cNvPicPr>
            <a:picLocks xmlns:a="http://schemas.openxmlformats.org/drawingml/2006/main" noChangeAspect="1"/>
          </p:cNvPicPr>
          <p:nvPr/>
        </p:nvPicPr>
        <p:blipFill>
          <a:blip xmlns:r="http://schemas.openxmlformats.org/officeDocument/2006/relationships" xmlns:a="http://schemas.openxmlformats.org/drawingml/2006/main" r:embed="Rebb28128399343a5"/>
          <a:srcRect xmlns:a="http://schemas.openxmlformats.org/drawingml/2006/main" l="0" t="0" r="0" b="0"/>
          <a:stretch xmlns:a="http://schemas.openxmlformats.org/drawingml/2006/main"/>
        </p:blipFill>
        <p:spPr>
          <a:xfrm xmlns:a="http://schemas.openxmlformats.org/drawingml/2006/main" rot="0" flipH="0" flipV="0">
            <a:off x="11734800" y="4400550"/>
            <a:ext cx="1485900" cy="1676400"/>
          </a:xfrm>
          <a:prstGeom xmlns:a="http://schemas.openxmlformats.org/drawingml/2006/main" prst="rect">
            <a:avLst/>
          </a:prstGeom>
        </p:spPr>
      </p:pic>
      <p:pic>
        <p:nvPicPr>
          <p:cNvPr id="26" name="">
            <a:extLst xmlns:a="http://schemas.openxmlformats.org/drawingml/2006/main">
              <a:ext uri="{FF2B5EF4-FFF2-40B4-BE49-F238E27FC236}">
                <a16:creationId xmlns:a16="http://schemas.microsoft.com/office/drawing/2014/main" id="{56B3D1A8-45A7-4702-98A3-DD24429E831C}"/>
              </a:ext>
            </a:extLst>
          </p:cNvPr>
          <p:cNvPicPr>
            <a:picLocks xmlns:a="http://schemas.openxmlformats.org/drawingml/2006/main" noChangeAspect="1"/>
          </p:cNvPicPr>
          <p:nvPr/>
        </p:nvPicPr>
        <p:blipFill>
          <a:blip xmlns:r="http://schemas.openxmlformats.org/officeDocument/2006/relationships" xmlns:a="http://schemas.openxmlformats.org/drawingml/2006/main" r:embed="R2d6787a715bf4bd4"/>
          <a:stretch xmlns:a="http://schemas.openxmlformats.org/drawingml/2006/main"/>
        </p:blipFill>
        <p:spPr>
          <a:xfrm xmlns:a="http://schemas.openxmlformats.org/drawingml/2006/main">
            <a:off x="14839950" y="4915710"/>
            <a:ext cx="1943100" cy="646081"/>
          </a:xfrm>
          <a:prstGeom xmlns:a="http://schemas.openxmlformats.org/drawingml/2006/main" prst="rect">
            <a:avLst/>
          </a:prstGeom>
        </p:spPr>
      </p:pic>
    </p:spTree>
    <p:extLst>
      <p:ext uri="{BB962C8B-B14F-4D97-AF65-F5344CB8AC3E}">
        <p14:creationId xmlns:p14="http://schemas.microsoft.com/office/powerpoint/2010/main" val="1431641898"/>
      </p:ext>
    </p:extLst>
  </p:cSld>
</p:sld>
</file>

<file path=ppt/slides/slide2.xml><?xml version="1.0" encoding="utf-8"?>
<p:sld xmlns:p="http://schemas.openxmlformats.org/presentationml/2006/main">
  <p:cSld>
    <p:bg>
      <p:bgPr>
        <a:gradFill xmlns:a="http://schemas.openxmlformats.org/drawingml/2006/main">
          <a:gsLst>
            <a:gs pos="0">
              <a:srgbClr val="100D11"/>
            </a:gs>
            <a:gs pos="100000">
              <a:srgbClr val="09090B"/>
            </a:gs>
          </a:gsLst>
          <a:lin ang="2700000"/>
        </a:gradFill>
      </p:bgPr>
    </p:bg>
    <p:spTree>
      <p:nvGrpSpPr>
        <p:cNvPr id="1" name=""/>
        <p:cNvGrpSpPr/>
        <p:nvPr/>
      </p:nvGrpSpPr>
      <p:grpSpPr>
        <a:xfrm xmlns:a="http://schemas.openxmlformats.org/drawingml/2006/main"/>
      </p:grpSpPr>
      <p:pic>
        <p:nvPicPr>
          <p:cNvPr id="43" name="">
            <a:extLst xmlns:a="http://schemas.openxmlformats.org/drawingml/2006/main">
              <a:ext uri="{FF2B5EF4-FFF2-40B4-BE49-F238E27FC236}">
                <a16:creationId xmlns:a16="http://schemas.microsoft.com/office/drawing/2014/main" id="{62DACFC9-1BFF-44D1-B20F-6AC79F6441C6}"/>
              </a:ext>
            </a:extLst>
          </p:cNvPr>
          <p:cNvPicPr>
            <a:picLocks xmlns:a="http://schemas.openxmlformats.org/drawingml/2006/main" noChangeAspect="1"/>
          </p:cNvPicPr>
          <p:nvPr/>
        </p:nvPicPr>
        <p:blipFill>
          <a:blip xmlns:r="http://schemas.openxmlformats.org/officeDocument/2006/relationships" xmlns:a="http://schemas.openxmlformats.org/drawingml/2006/main" r:embed="R9fb90bab146a4ea0">
            <a:extLst>
              <a:ext uri="{96DAC541-7B7A-43D3-8B79-37D633B846F1}">
                <asvg:svgBlip xmlns:asvg="http://schemas.microsoft.com/office/drawing/2016/SVG/main" r:embed="Rc8b503503ec9495d"/>
              </a:ext>
            </a:extLst>
          </a:blip>
          <a:stretch xmlns:a="http://schemas.openxmlformats.org/drawingml/2006/main"/>
        </p:blipFill>
        <p:spPr>
          <a:xfrm xmlns:a="http://schemas.openxmlformats.org/drawingml/2006/main">
            <a:off x="666750" y="428625"/>
            <a:ext cx="2152650" cy="361950"/>
          </a:xfrm>
          <a:prstGeom xmlns:a="http://schemas.openxmlformats.org/drawingml/2006/main" prst="rect">
            <a:avLst/>
          </a:prstGeom>
        </p:spPr>
      </p:pic>
      <p:sp>
        <p:nvSpPr>
          <p:cNvPr id="2" name="text-13">
            <a:extLst xmlns:a="http://schemas.openxmlformats.org/drawingml/2006/main">
              <a:ext uri="{FF2B5EF4-FFF2-40B4-BE49-F238E27FC236}">
                <a16:creationId xmlns:a16="http://schemas.microsoft.com/office/drawing/2014/main" id="{E5D0E6A7-4D03-463C-A3EB-AA16EE088AA7}"/>
              </a:ext>
            </a:extLst>
          </p:cNvPr>
          <p:cNvSpPr>
            <a:spLocks xmlns:a="http://schemas.openxmlformats.org/drawingml/2006/main" noGrp="1"/>
          </p:cNvSpPr>
          <p:nvPr/>
        </p:nvSpPr>
        <p:spPr>
          <a:xfrm xmlns:a="http://schemas.openxmlformats.org/drawingml/2006/main">
            <a:off x="3095625" y="42862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AAA7AF"/>
                </a:solidFill>
                <a:latin typeface="Inter"/>
                <a:ea typeface="Inter"/>
                <a:cs typeface="Inter"/>
              </a:defRPr>
            </a:pPr>
            <a:r>
              <a:rPr sz="1950" b="0">
                <a:solidFill>
                  <a:srgbClr val="AAA7AF"/>
                </a:solidFill>
                <a:latin typeface="Inter"/>
                <a:ea typeface="Inter"/>
                <a:cs typeface="Inter"/>
              </a:rPr>
              <a:t>What we made</a:t>
            </a:r>
          </a:p>
        </p:txBody>
      </p:sp>
      <p:sp>
        <p:nvSpPr>
          <p:cNvPr id="3" name="">
            <a:extLst xmlns:a="http://schemas.openxmlformats.org/drawingml/2006/main">
              <a:ext uri="{FF2B5EF4-FFF2-40B4-BE49-F238E27FC236}">
                <a16:creationId xmlns:a16="http://schemas.microsoft.com/office/drawing/2014/main" id="{858CE289-C00B-42A4-A111-35F0EE73FA59}"/>
              </a:ext>
            </a:extLst>
          </p:cNvPr>
          <p:cNvSpPr>
            <a:spLocks xmlns:a="http://schemas.openxmlformats.org/drawingml/2006/main" noGrp="1"/>
          </p:cNvSpPr>
          <p:nvPr/>
        </p:nvSpPr>
        <p:spPr>
          <a:xfrm xmlns:a="http://schemas.openxmlformats.org/drawingml/2006/main">
            <a:off x="16363950" y="381000"/>
            <a:ext cx="1257300" cy="457200"/>
          </a:xfrm>
          <a:prstGeom xmlns:a="http://schemas.openxmlformats.org/drawingml/2006/main" prst="roundRect">
            <a:avLst>
              <a:gd name="adj" fmla="val 50000"/>
            </a:avLst>
          </a:prstGeom>
          <a:gradFill xmlns:a="http://schemas.openxmlformats.org/drawingml/2006/main">
            <a:gsLst>
              <a:gs pos="0">
                <a:srgbClr val="FFB8E9"/>
              </a:gs>
              <a:gs pos="100000">
                <a:srgbClr val="FF00BC"/>
              </a:gs>
            </a:gsLst>
            <a:lin ang="0"/>
          </a:gradFill>
          <a:ln xmlns:a="http://schemas.openxmlformats.org/drawingml/2006/main" w="0">
            <a:noFill/>
          </a:ln>
        </p:spPr>
      </p:sp>
      <p:sp>
        <p:nvSpPr>
          <p:cNvPr id="4" name="text-14">
            <a:extLst xmlns:a="http://schemas.openxmlformats.org/drawingml/2006/main">
              <a:ext uri="{FF2B5EF4-FFF2-40B4-BE49-F238E27FC236}">
                <a16:creationId xmlns:a16="http://schemas.microsoft.com/office/drawing/2014/main" id="{3E21B40F-5AF6-418B-BAC8-819F9F05ED66}"/>
              </a:ext>
            </a:extLst>
          </p:cNvPr>
          <p:cNvSpPr>
            <a:spLocks xmlns:a="http://schemas.openxmlformats.org/drawingml/2006/main" noGrp="1"/>
          </p:cNvSpPr>
          <p:nvPr/>
        </p:nvSpPr>
        <p:spPr>
          <a:xfrm xmlns:a="http://schemas.openxmlformats.org/drawingml/2006/main">
            <a:off x="16535400" y="457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EBEBEB"/>
                </a:solidFill>
                <a:latin typeface="Inter"/>
                <a:ea typeface="Inter"/>
                <a:cs typeface="Inter"/>
              </a:defRPr>
            </a:pPr>
            <a:r>
              <a:rPr sz="1800" b="1">
                <a:solidFill>
                  <a:srgbClr val="EBEBEB"/>
                </a:solidFill>
                <a:latin typeface="Inter"/>
                <a:ea typeface="Inter"/>
                <a:cs typeface="Inter"/>
              </a:rPr>
              <a:t>03 / 10</a:t>
            </a:r>
          </a:p>
        </p:txBody>
      </p:sp>
      <p:sp>
        <p:nvSpPr>
          <p:cNvPr id="5" name="">
            <a:extLst xmlns:a="http://schemas.openxmlformats.org/drawingml/2006/main">
              <a:ext uri="{FF2B5EF4-FFF2-40B4-BE49-F238E27FC236}">
                <a16:creationId xmlns:a16="http://schemas.microsoft.com/office/drawing/2014/main" id="{23103019-9B86-4229-B723-E857958B73CD}"/>
              </a:ext>
            </a:extLst>
          </p:cNvPr>
          <p:cNvSpPr>
            <a:spLocks xmlns:a="http://schemas.openxmlformats.org/drawingml/2006/main" noGrp="1"/>
          </p:cNvSpPr>
          <p:nvPr/>
        </p:nvSpPr>
        <p:spPr>
          <a:xfrm xmlns:a="http://schemas.openxmlformats.org/drawingml/2006/main">
            <a:off x="666750" y="1000125"/>
            <a:ext cx="16954500" cy="0"/>
          </a:xfrm>
          <a:prstGeom xmlns:a="http://schemas.openxmlformats.org/drawingml/2006/main" prst="line">
            <a:avLst/>
          </a:prstGeom>
          <a:noFill xmlns:a="http://schemas.openxmlformats.org/drawingml/2006/main"/>
          <a:ln xmlns:a="http://schemas.openxmlformats.org/drawingml/2006/main" w="9525">
            <a:solidFill>
              <a:srgbClr val="29262D"/>
            </a:solidFill>
          </a:ln>
        </p:spPr>
      </p:sp>
      <p:sp>
        <p:nvSpPr>
          <p:cNvPr id="6" name="text-15">
            <a:extLst xmlns:a="http://schemas.openxmlformats.org/drawingml/2006/main">
              <a:ext uri="{FF2B5EF4-FFF2-40B4-BE49-F238E27FC236}">
                <a16:creationId xmlns:a16="http://schemas.microsoft.com/office/drawing/2014/main" id="{3121ACC3-E50D-4628-ADA6-0A4C3D1392E7}"/>
              </a:ext>
            </a:extLst>
          </p:cNvPr>
          <p:cNvSpPr>
            <a:spLocks xmlns:a="http://schemas.openxmlformats.org/drawingml/2006/main" noGrp="1"/>
          </p:cNvSpPr>
          <p:nvPr/>
        </p:nvSpPr>
        <p:spPr>
          <a:xfrm xmlns:a="http://schemas.openxmlformats.org/drawingml/2006/main">
            <a:off x="666750" y="1323975"/>
            <a:ext cx="1381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EBEBEB"/>
                </a:solidFill>
                <a:latin typeface="Bricolage Grotesque"/>
                <a:ea typeface="Bricolage Grotesque"/>
                <a:cs typeface="Bricolage Grotesque"/>
              </a:defRPr>
            </a:pPr>
            <a:r>
              <a:rPr sz="5700" b="1">
                <a:solidFill>
                  <a:srgbClr val="EBEBEB"/>
                </a:solidFill>
                <a:latin typeface="Bricolage Grotesque"/>
                <a:ea typeface="Bricolage Grotesque"/>
                <a:cs typeface="Bricolage Grotesque"/>
              </a:rPr>
              <a:t>Ned the Salmon</a:t>
            </a:r>
          </a:p>
        </p:txBody>
      </p:sp>
      <p:sp>
        <p:nvSpPr>
          <p:cNvPr id="8" name="text-17">
            <a:extLst xmlns:a="http://schemas.openxmlformats.org/drawingml/2006/main">
              <a:ext uri="{FF2B5EF4-FFF2-40B4-BE49-F238E27FC236}">
                <a16:creationId xmlns:a16="http://schemas.microsoft.com/office/drawing/2014/main" id="{DF851CBB-3245-446B-B01C-714EDEB5EA33}"/>
              </a:ext>
            </a:extLst>
          </p:cNvPr>
          <p:cNvSpPr>
            <a:spLocks xmlns:a="http://schemas.openxmlformats.org/drawingml/2006/main" noGrp="1"/>
          </p:cNvSpPr>
          <p:nvPr/>
        </p:nvSpPr>
        <p:spPr>
          <a:xfrm xmlns:a="http://schemas.openxmlformats.org/drawingml/2006/main">
            <a:off x="685800" y="9744075"/>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AAA7AF"/>
                </a:solidFill>
                <a:latin typeface="Geist Mono"/>
                <a:ea typeface="Geist Mono"/>
                <a:cs typeface="Geist Mono"/>
              </a:defRPr>
            </a:pPr>
            <a:r>
              <a:rPr sz="1650" b="0">
                <a:solidFill>
                  <a:srgbClr val="AAA7AF"/>
                </a:solidFill>
                <a:latin typeface="Geist Mono"/>
                <a:ea typeface="Geist Mono"/>
                <a:cs typeface="Geist Mono"/>
              </a:rPr>
              <a:t>packages/watchdog</a:t>
            </a:r>
          </a:p>
        </p:txBody>
      </p:sp>
      <p:sp>
        <p:nvSpPr>
          <p:cNvPr id="9" name="text-18">
            <a:extLst xmlns:a="http://schemas.openxmlformats.org/drawingml/2006/main">
              <a:ext uri="{FF2B5EF4-FFF2-40B4-BE49-F238E27FC236}">
                <a16:creationId xmlns:a16="http://schemas.microsoft.com/office/drawing/2014/main" id="{F1468BAD-3200-4F54-B7BA-3FD99F953314}"/>
              </a:ext>
            </a:extLst>
          </p:cNvPr>
          <p:cNvSpPr>
            <a:spLocks xmlns:a="http://schemas.openxmlformats.org/drawingml/2006/main" noGrp="1"/>
          </p:cNvSpPr>
          <p:nvPr/>
        </p:nvSpPr>
        <p:spPr>
          <a:xfrm xmlns:a="http://schemas.openxmlformats.org/drawingml/2006/main">
            <a:off x="13620750" y="97440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725" b="0">
                <a:solidFill>
                  <a:srgbClr val="AAA7AF"/>
                </a:solidFill>
                <a:latin typeface="Inter"/>
                <a:ea typeface="Inter"/>
                <a:cs typeface="Inter"/>
              </a:defRPr>
            </a:pPr>
            <a:r>
              <a:rPr sz="1725" b="0">
                <a:solidFill>
                  <a:srgbClr val="AAA7AF"/>
                </a:solidFill>
                <a:latin typeface="Inter"/>
                <a:ea typeface="Inter"/>
                <a:cs typeface="Inter"/>
              </a:rPr>
              <a:t>244 tests</a:t>
            </a:r>
          </a:p>
        </p:txBody>
      </p:sp>
      <p:graphicFrame>
        <p:nvGraphicFramePr>
          <p:cNvPr id="45" name="">
            <a:extLst xmlns:a="http://schemas.openxmlformats.org/drawingml/2006/main">
              <a:ext uri="{FF2B5EF4-FFF2-40B4-BE49-F238E27FC236}">
                <a16:creationId xmlns:a16="http://schemas.microsoft.com/office/drawing/2014/main" id="{3CFAC5B7-6459-4897-87BB-DB2D171E0967}"/>
              </a:ext>
            </a:extLst>
          </p:cNvPr>
          <p:cNvGraphicFramePr/>
          <p:nvPr/>
        </p:nvGraphicFramePr>
        <p:xfrm>
          <a:off xmlns:a="http://schemas.openxmlformats.org/drawingml/2006/main" x="666750" y="2914650"/>
          <a:ext xmlns:a="http://schemas.openxmlformats.org/drawingml/2006/main" cx="16954500" cy="6715125"/>
        </p:xfrm>
        <a:graphic xmlns:a="http://schemas.openxmlformats.org/drawingml/2006/main">
          <a:graphicData uri="http://schemas.openxmlformats.org/drawingml/2006/table">
            <a:tbl>
              <a:tblPr/>
              <a:tblGrid>
                <a:gridCol w="2457450"/>
                <a:gridCol w="14497050"/>
              </a:tblGrid>
              <a:tr h="1800225">
                <a:tc>
                  <a:txBody>
                    <a:bodyPr wrap="square">
                      <a:noAutofit/>
                    </a:bodyPr>
                    <a:lstStyle/>
                    <a:p>
                      <a:pPr algn="l">
                        <a:buNone/>
                      </a:pPr>
                      <a:r>
                        <a:rPr sz="2250" b="1">
                          <a:solidFill>
                            <a:srgbClr val="FFB8E9"/>
                          </a:solidFill>
                          <a:latin typeface="Bricolage Grotesque"/>
                          <a:ea typeface="Bricolage Grotesque"/>
                          <a:cs typeface="Bricolage Grotesque"/>
                        </a:rPr>
                        <a:t>The seal</a:t>
                      </a:r>
                    </a:p>
                  </a:txBody>
                  <a:tcPr marL="171450" marR="171450" marT="114300" marB="114300" anchor="ctr">
                    <a:solidFill>
                      <a:srgbClr val="19191C"/>
                    </a:solidFill>
                  </a:tcPr>
                </a:tc>
                <a:tc>
                  <a:txBody>
                    <a:bodyPr wrap="square">
                      <a:noAutofit/>
                    </a:bodyPr>
                    <a:lstStyle/>
                    <a:p>
                      <a:pPr algn="l">
                        <a:buNone/>
                      </a:pPr>
                      <a:r>
                        <a:rPr sz="2063" b="0">
                          <a:solidFill>
                            <a:srgbClr val="D2D0D6"/>
                          </a:solidFill>
                          <a:latin typeface="Inter"/>
                          <a:ea typeface="Inter"/>
                          <a:cs typeface="Inter"/>
                        </a:rPr>
                        <a:t>Every request to a collection endpoint (Google Ads, their /4vu8/ paths, facebook.com/tr, the CAPI Gateway, TikTok, Reddit, LinkedIn, X, Bing, Amplitude, Clarity, Hotjar, Tolt, OpenAI) is intercepted, recorded and failed locally. The browser can reach only openart.ai; third-party scripts are fetched by the watchdog itself; prefetch, prerender, service workers, WebSockets, popups and the Reporting API are disabled; profiles are deleted after each run. Every report includes the zero-leak proof (1,181 and 1,172 attempts blocked, 0 completed).</a:t>
                      </a:r>
                    </a:p>
                  </a:txBody>
                  <a:tcPr marL="171450" marR="171450" marT="114300" marB="114300" anchor="ctr">
                    <a:solidFill>
                      <a:srgbClr val="19191C"/>
                    </a:solidFill>
                  </a:tcPr>
                </a:tc>
              </a:tr>
              <a:tr h="1485900">
                <a:tc>
                  <a:txBody>
                    <a:bodyPr wrap="square">
                      <a:noAutofit/>
                    </a:bodyPr>
                    <a:lstStyle/>
                    <a:p>
                      <a:pPr algn="l">
                        <a:buNone/>
                      </a:pPr>
                      <a:r>
                        <a:rPr sz="2250" b="1">
                          <a:solidFill>
                            <a:srgbClr val="FFB8E9"/>
                          </a:solidFill>
                          <a:latin typeface="Bricolage Grotesque"/>
                          <a:ea typeface="Bricolage Grotesque"/>
                          <a:cs typeface="Bricolage Grotesque"/>
                        </a:rPr>
                        <a:t>19 contract checks</a:t>
                      </a:r>
                    </a:p>
                  </a:txBody>
                  <a:tcPr marL="171450" marR="171450" marT="114300" marB="114300" anchor="ctr">
                    <a:solidFill>
                      <a:srgbClr val="151518"/>
                    </a:solidFill>
                  </a:tcPr>
                </a:tc>
                <a:tc>
                  <a:txBody>
                    <a:bodyPr wrap="square">
                      <a:noAutofit/>
                    </a:bodyPr>
                    <a:lstStyle/>
                    <a:p>
                      <a:pPr algn="l">
                        <a:buNone/>
                      </a:pPr>
                      <a:r>
                        <a:rPr sz="2063" b="0">
                          <a:solidFill>
                            <a:srgbClr val="D2D0D6"/>
                          </a:solidFill>
                          <a:latin typeface="Inter"/>
                          <a:ea typeface="Inter"/>
                          <a:cs typeface="Inter"/>
                        </a:rPr>
                        <a:t>Each is mapped to a defect: signup reaches Google with user data; TikTok signup has reg_&lt;uid&gt;; X sends one deterministic purchase; LinkedIn has value and ID; business_subscription is consumed; no auto form events on generation; one page view per route change on 7 platforms; _fbc present after multi-hop and return; oppref preserved; gbraid/wbraid persisted; the handoff URL carries attribution; consent defaults set for EEA/UK/CH.</a:t>
                      </a:r>
                    </a:p>
                  </a:txBody>
                  <a:tcPr marL="171450" marR="171450" marT="114300" marB="114300" anchor="ctr">
                    <a:solidFill>
                      <a:srgbClr val="151518"/>
                    </a:solidFill>
                  </a:tcPr>
                </a:tc>
              </a:tr>
              <a:tr h="857250">
                <a:tc>
                  <a:txBody>
                    <a:bodyPr wrap="square">
                      <a:noAutofit/>
                    </a:bodyPr>
                    <a:lstStyle/>
                    <a:p>
                      <a:pPr algn="l">
                        <a:buNone/>
                      </a:pPr>
                      <a:r>
                        <a:rPr sz="2250" b="1">
                          <a:solidFill>
                            <a:srgbClr val="FFB8E9"/>
                          </a:solidFill>
                          <a:latin typeface="Bricolage Grotesque"/>
                          <a:ea typeface="Bricolage Grotesque"/>
                          <a:cs typeface="Bricolage Grotesque"/>
                        </a:rPr>
                        <a:t>Replay journeys</a:t>
                      </a:r>
                    </a:p>
                  </a:txBody>
                  <a:tcPr marL="171450" marR="171450" marT="114300" marB="114300" anchor="ctr">
                    <a:solidFill>
                      <a:srgbClr val="19191C"/>
                    </a:solidFill>
                  </a:tcPr>
                </a:tc>
                <a:tc>
                  <a:txBody>
                    <a:bodyPr wrap="square">
                      <a:noAutofit/>
                    </a:bodyPr>
                    <a:lstStyle/>
                    <a:p>
                      <a:pPr algn="l">
                        <a:buNone/>
                      </a:pPr>
                      <a:r>
                        <a:rPr sz="2063" b="0">
                          <a:solidFill>
                            <a:srgbClr val="D2D0D6"/>
                          </a:solidFill>
                          <a:latin typeface="Inter"/>
                          <a:ea typeface="Inter"/>
                          <a:cs typeface="Inter"/>
                        </a:rPr>
                        <a:t>Journeys replayed with synthetic click IDs: Meta one-hop, multi-hop, return; oppref landing; gbraid/wbraid; Instagram in-app browser; a uBlock-stripped landing; in-app route changes; consent probes for DE, GB, CH.</a:t>
                      </a:r>
                    </a:p>
                  </a:txBody>
                  <a:tcPr marL="171450" marR="171450" marT="114300" marB="114300" anchor="ctr">
                    <a:solidFill>
                      <a:srgbClr val="19191C"/>
                    </a:solidFill>
                  </a:tcPr>
                </a:tc>
              </a:tr>
              <a:tr h="857250">
                <a:tc>
                  <a:txBody>
                    <a:bodyPr wrap="square">
                      <a:noAutofit/>
                    </a:bodyPr>
                    <a:lstStyle/>
                    <a:p>
                      <a:pPr algn="l">
                        <a:buNone/>
                      </a:pPr>
                      <a:r>
                        <a:rPr sz="2250" b="1">
                          <a:solidFill>
                            <a:srgbClr val="FFB8E9"/>
                          </a:solidFill>
                          <a:latin typeface="Bricolage Grotesque"/>
                          <a:ea typeface="Bricolage Grotesque"/>
                          <a:cs typeface="Bricolage Grotesque"/>
                        </a:rPr>
                        <a:t>Patch inputs</a:t>
                      </a:r>
                    </a:p>
                  </a:txBody>
                  <a:tcPr marL="171450" marR="171450" marT="114300" marB="114300" anchor="ctr">
                    <a:solidFill>
                      <a:srgbClr val="151518"/>
                    </a:solidFill>
                  </a:tcPr>
                </a:tc>
                <a:tc>
                  <a:txBody>
                    <a:bodyPr wrap="square">
                      <a:noAutofit/>
                    </a:bodyPr>
                    <a:lstStyle/>
                    <a:p>
                      <a:pPr algn="l">
                        <a:buNone/>
                      </a:pPr>
                      <a:r>
                        <a:rPr sz="2063" b="0">
                          <a:solidFill>
                            <a:srgbClr val="D2D0D6"/>
                          </a:solidFill>
                          <a:latin typeface="Inter"/>
                          <a:ea typeface="Inter"/>
                          <a:cs typeface="Inter"/>
                        </a:rPr>
                        <a:t>For the "after" run: --patch-container and --patch-gtag-config (serve modified GTM/Google tag files for both loaders), --inject-script (a stand-in for the drop-in shim), --edge-sim (applies the Worker's cookies to responses).</a:t>
                      </a:r>
                    </a:p>
                  </a:txBody>
                  <a:tcPr marL="171450" marR="171450" marT="114300" marB="114300" anchor="ctr">
                    <a:solidFill>
                      <a:srgbClr val="151518"/>
                    </a:solidFill>
                  </a:tcPr>
                </a:tc>
              </a:tr>
              <a:tr h="857250">
                <a:tc>
                  <a:txBody>
                    <a:bodyPr wrap="square">
                      <a:noAutofit/>
                    </a:bodyPr>
                    <a:lstStyle/>
                    <a:p>
                      <a:pPr algn="l">
                        <a:buNone/>
                      </a:pPr>
                      <a:r>
                        <a:rPr sz="2250" b="1">
                          <a:solidFill>
                            <a:srgbClr val="FFB8E9"/>
                          </a:solidFill>
                          <a:latin typeface="Bricolage Grotesque"/>
                          <a:ea typeface="Bricolage Grotesque"/>
                          <a:cs typeface="Bricolage Grotesque"/>
                        </a:rPr>
                        <a:t>Output</a:t>
                      </a:r>
                    </a:p>
                  </a:txBody>
                  <a:tcPr marL="171450" marR="171450" marT="114300" marB="114300" anchor="ctr">
                    <a:solidFill>
                      <a:srgbClr val="19191C"/>
                    </a:solidFill>
                  </a:tcPr>
                </a:tc>
                <a:tc>
                  <a:txBody>
                    <a:bodyPr wrap="square">
                      <a:noAutofit/>
                    </a:bodyPr>
                    <a:lstStyle/>
                    <a:p>
                      <a:pPr algn="l">
                        <a:buNone/>
                      </a:pPr>
                      <a:r>
                        <a:rPr sz="2063" b="0">
                          <a:solidFill>
                            <a:srgbClr val="D2D0D6"/>
                          </a:solidFill>
                          <a:latin typeface="Inter"/>
                          <a:ea typeface="Inter"/>
                          <a:cs typeface="Inter"/>
                        </a:rPr>
                        <a:t>results.json and a red/green report.html with evidence, per-platform click-ID coverage, consent summary, container diff and the leak proof.</a:t>
                      </a:r>
                    </a:p>
                  </a:txBody>
                  <a:tcPr marL="171450" marR="171450" marT="114300" marB="114300" anchor="ctr">
                    <a:solidFill>
                      <a:srgbClr val="19191C"/>
                    </a:solidFill>
                  </a:tcPr>
                </a:tc>
              </a:tr>
              <a:tr h="857250">
                <a:tc>
                  <a:txBody>
                    <a:bodyPr wrap="square">
                      <a:noAutofit/>
                    </a:bodyPr>
                    <a:lstStyle/>
                    <a:p>
                      <a:pPr algn="l">
                        <a:buNone/>
                      </a:pPr>
                      <a:r>
                        <a:rPr sz="2250" b="1">
                          <a:solidFill>
                            <a:srgbClr val="FFB8E9"/>
                          </a:solidFill>
                          <a:latin typeface="Bricolage Grotesque"/>
                          <a:ea typeface="Bricolage Grotesque"/>
                          <a:cs typeface="Bricolage Grotesque"/>
                        </a:rPr>
                        <a:t>Scheduling</a:t>
                      </a:r>
                    </a:p>
                  </a:txBody>
                  <a:tcPr marL="171450" marR="171450" marT="114300" marB="114300" anchor="ctr">
                    <a:solidFill>
                      <a:srgbClr val="151518"/>
                    </a:solidFill>
                  </a:tcPr>
                </a:tc>
                <a:tc>
                  <a:txBody>
                    <a:bodyPr wrap="square">
                      <a:noAutofit/>
                    </a:bodyPr>
                    <a:lstStyle/>
                    <a:p>
                      <a:pPr algn="l">
                        <a:buNone/>
                      </a:pPr>
                      <a:r>
                        <a:rPr sz="2063" b="0">
                          <a:solidFill>
                            <a:srgbClr val="D2D0D6"/>
                          </a:solidFill>
                          <a:latin typeface="Inter"/>
                          <a:ea typeface="Inter"/>
                          <a:cs typeface="Inter"/>
                        </a:rPr>
                        <a:t>Dockerfile, Cloud Run Job + Scheduler, Slack alert on any failure or container change, GitHub Actions alternative. Not deployed.</a:t>
                      </a:r>
                    </a:p>
                  </a:txBody>
                  <a:tcPr marL="171450" marR="171450" marT="114300" marB="114300" anchor="ctr">
                    <a:solidFill>
                      <a:srgbClr val="151518"/>
                    </a:solidFill>
                  </a:tcPr>
                </a:tc>
              </a:tr>
            </a:tbl>
          </a:graphicData>
        </a:graphic>
      </p:graphicFrame>
    </p:spTree>
    <p:extLst>
      <p:ext uri="{BB962C8B-B14F-4D97-AF65-F5344CB8AC3E}">
        <p14:creationId xmlns:p14="http://schemas.microsoft.com/office/powerpoint/2010/main" val="1736745966"/>
      </p:ext>
    </p:extLst>
  </p:cSld>
</p:sld>
</file>

<file path=ppt/slides/slide3.xml><?xml version="1.0" encoding="utf-8"?>
<p:sld xmlns:p="http://schemas.openxmlformats.org/presentationml/2006/main">
  <p:cSld>
    <p:bg>
      <p:bgPr>
        <a:gradFill xmlns:a="http://schemas.openxmlformats.org/drawingml/2006/main">
          <a:gsLst>
            <a:gs pos="0">
              <a:srgbClr val="100D11"/>
            </a:gs>
            <a:gs pos="100000">
              <a:srgbClr val="09090B"/>
            </a:gs>
          </a:gsLst>
          <a:lin ang="2700000"/>
        </a:gra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3BCB5EF3-7669-4ECB-A6F5-3B5AFE131709}"/>
              </a:ext>
            </a:extLst>
          </p:cNvPr>
          <p:cNvPicPr>
            <a:picLocks xmlns:a="http://schemas.openxmlformats.org/drawingml/2006/main" noChangeAspect="1"/>
          </p:cNvPicPr>
          <p:nvPr/>
        </p:nvPicPr>
        <p:blipFill>
          <a:blip xmlns:r="http://schemas.openxmlformats.org/officeDocument/2006/relationships" xmlns:a="http://schemas.openxmlformats.org/drawingml/2006/main" r:embed="R1bd28f42946b41f5">
            <a:extLst>
              <a:ext uri="{96DAC541-7B7A-43D3-8B79-37D633B846F1}">
                <asvg:svgBlip xmlns:asvg="http://schemas.microsoft.com/office/drawing/2016/SVG/main" r:embed="Rc6dad7ca741f4f88"/>
              </a:ext>
            </a:extLst>
          </a:blip>
          <a:stretch xmlns:a="http://schemas.openxmlformats.org/drawingml/2006/main"/>
        </p:blipFill>
        <p:spPr>
          <a:xfrm xmlns:a="http://schemas.openxmlformats.org/drawingml/2006/main">
            <a:off x="666750" y="428625"/>
            <a:ext cx="2152650" cy="361950"/>
          </a:xfrm>
          <a:prstGeom xmlns:a="http://schemas.openxmlformats.org/drawingml/2006/main" prst="rect">
            <a:avLst/>
          </a:prstGeom>
        </p:spPr>
      </p:pic>
      <p:sp>
        <p:nvSpPr>
          <p:cNvPr id="2" name="text-30">
            <a:extLst xmlns:a="http://schemas.openxmlformats.org/drawingml/2006/main">
              <a:ext uri="{FF2B5EF4-FFF2-40B4-BE49-F238E27FC236}">
                <a16:creationId xmlns:a16="http://schemas.microsoft.com/office/drawing/2014/main" id="{7B2D2113-4A93-401D-98DC-7B97CF3372D6}"/>
              </a:ext>
            </a:extLst>
          </p:cNvPr>
          <p:cNvSpPr>
            <a:spLocks xmlns:a="http://schemas.openxmlformats.org/drawingml/2006/main" noGrp="1"/>
          </p:cNvSpPr>
          <p:nvPr/>
        </p:nvSpPr>
        <p:spPr>
          <a:xfrm xmlns:a="http://schemas.openxmlformats.org/drawingml/2006/main">
            <a:off x="3095625" y="42862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AAA7AF"/>
                </a:solidFill>
                <a:latin typeface="Inter"/>
                <a:ea typeface="Inter"/>
                <a:cs typeface="Inter"/>
              </a:defRPr>
            </a:pPr>
            <a:r>
              <a:rPr sz="1950" b="0">
                <a:solidFill>
                  <a:srgbClr val="AAA7AF"/>
                </a:solidFill>
                <a:latin typeface="Inter"/>
                <a:ea typeface="Inter"/>
                <a:cs typeface="Inter"/>
              </a:rPr>
              <a:t>What we made</a:t>
            </a:r>
          </a:p>
        </p:txBody>
      </p:sp>
      <p:sp>
        <p:nvSpPr>
          <p:cNvPr id="3" name="">
            <a:extLst xmlns:a="http://schemas.openxmlformats.org/drawingml/2006/main">
              <a:ext uri="{FF2B5EF4-FFF2-40B4-BE49-F238E27FC236}">
                <a16:creationId xmlns:a16="http://schemas.microsoft.com/office/drawing/2014/main" id="{976A3775-C946-4B52-A99E-B0BC03AD0E15}"/>
              </a:ext>
            </a:extLst>
          </p:cNvPr>
          <p:cNvSpPr>
            <a:spLocks xmlns:a="http://schemas.openxmlformats.org/drawingml/2006/main" noGrp="1"/>
          </p:cNvSpPr>
          <p:nvPr/>
        </p:nvSpPr>
        <p:spPr>
          <a:xfrm xmlns:a="http://schemas.openxmlformats.org/drawingml/2006/main">
            <a:off x="16363950" y="381000"/>
            <a:ext cx="1257300" cy="457200"/>
          </a:xfrm>
          <a:prstGeom xmlns:a="http://schemas.openxmlformats.org/drawingml/2006/main" prst="roundRect">
            <a:avLst>
              <a:gd name="adj" fmla="val 50000"/>
            </a:avLst>
          </a:prstGeom>
          <a:gradFill xmlns:a="http://schemas.openxmlformats.org/drawingml/2006/main">
            <a:gsLst>
              <a:gs pos="0">
                <a:srgbClr val="FFB8E9"/>
              </a:gs>
              <a:gs pos="100000">
                <a:srgbClr val="FF00BC"/>
              </a:gs>
            </a:gsLst>
            <a:lin ang="0"/>
          </a:gradFill>
          <a:ln xmlns:a="http://schemas.openxmlformats.org/drawingml/2006/main" w="0">
            <a:noFill/>
          </a:ln>
        </p:spPr>
      </p:sp>
      <p:sp>
        <p:nvSpPr>
          <p:cNvPr id="4" name="text-31">
            <a:extLst xmlns:a="http://schemas.openxmlformats.org/drawingml/2006/main">
              <a:ext uri="{FF2B5EF4-FFF2-40B4-BE49-F238E27FC236}">
                <a16:creationId xmlns:a16="http://schemas.microsoft.com/office/drawing/2014/main" id="{BFAB8400-F3BC-4D1F-95FD-1A62E41ABD53}"/>
              </a:ext>
            </a:extLst>
          </p:cNvPr>
          <p:cNvSpPr>
            <a:spLocks xmlns:a="http://schemas.openxmlformats.org/drawingml/2006/main" noGrp="1"/>
          </p:cNvSpPr>
          <p:nvPr/>
        </p:nvSpPr>
        <p:spPr>
          <a:xfrm xmlns:a="http://schemas.openxmlformats.org/drawingml/2006/main">
            <a:off x="16535400" y="457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EBEBEB"/>
                </a:solidFill>
                <a:latin typeface="Inter"/>
                <a:ea typeface="Inter"/>
                <a:cs typeface="Inter"/>
              </a:defRPr>
            </a:pPr>
            <a:r>
              <a:rPr sz="1800" b="1">
                <a:solidFill>
                  <a:srgbClr val="EBEBEB"/>
                </a:solidFill>
                <a:latin typeface="Inter"/>
                <a:ea typeface="Inter"/>
                <a:cs typeface="Inter"/>
              </a:rPr>
              <a:t>02 / 10</a:t>
            </a:r>
          </a:p>
        </p:txBody>
      </p:sp>
      <p:sp>
        <p:nvSpPr>
          <p:cNvPr id="5" name="">
            <a:extLst xmlns:a="http://schemas.openxmlformats.org/drawingml/2006/main">
              <a:ext uri="{FF2B5EF4-FFF2-40B4-BE49-F238E27FC236}">
                <a16:creationId xmlns:a16="http://schemas.microsoft.com/office/drawing/2014/main" id="{0898DB63-F3C9-4853-88E0-5F006A20946B}"/>
              </a:ext>
            </a:extLst>
          </p:cNvPr>
          <p:cNvSpPr>
            <a:spLocks xmlns:a="http://schemas.openxmlformats.org/drawingml/2006/main" noGrp="1"/>
          </p:cNvSpPr>
          <p:nvPr/>
        </p:nvSpPr>
        <p:spPr>
          <a:xfrm xmlns:a="http://schemas.openxmlformats.org/drawingml/2006/main">
            <a:off x="666750" y="1000125"/>
            <a:ext cx="16954500" cy="0"/>
          </a:xfrm>
          <a:prstGeom xmlns:a="http://schemas.openxmlformats.org/drawingml/2006/main" prst="line">
            <a:avLst/>
          </a:prstGeom>
          <a:noFill xmlns:a="http://schemas.openxmlformats.org/drawingml/2006/main"/>
          <a:ln xmlns:a="http://schemas.openxmlformats.org/drawingml/2006/main" w="9525">
            <a:solidFill>
              <a:srgbClr val="29262D"/>
            </a:solidFill>
          </a:ln>
        </p:spPr>
      </p:sp>
      <p:sp>
        <p:nvSpPr>
          <p:cNvPr id="6" name="text-32">
            <a:extLst xmlns:a="http://schemas.openxmlformats.org/drawingml/2006/main">
              <a:ext uri="{FF2B5EF4-FFF2-40B4-BE49-F238E27FC236}">
                <a16:creationId xmlns:a16="http://schemas.microsoft.com/office/drawing/2014/main" id="{E6FF8891-9255-4F16-BBD2-F2831CC1E0C0}"/>
              </a:ext>
            </a:extLst>
          </p:cNvPr>
          <p:cNvSpPr>
            <a:spLocks xmlns:a="http://schemas.openxmlformats.org/drawingml/2006/main" noGrp="1"/>
          </p:cNvSpPr>
          <p:nvPr/>
        </p:nvSpPr>
        <p:spPr>
          <a:xfrm xmlns:a="http://schemas.openxmlformats.org/drawingml/2006/main">
            <a:off x="666750" y="1323975"/>
            <a:ext cx="1381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EBEBEB"/>
                </a:solidFill>
                <a:latin typeface="Bricolage Grotesque"/>
                <a:ea typeface="Bricolage Grotesque"/>
                <a:cs typeface="Bricolage Grotesque"/>
              </a:defRPr>
            </a:pPr>
            <a:r>
              <a:rPr sz="5700" b="1">
                <a:solidFill>
                  <a:srgbClr val="EBEBEB"/>
                </a:solidFill>
                <a:latin typeface="Bricolage Grotesque"/>
                <a:ea typeface="Bricolage Grotesque"/>
                <a:cs typeface="Bricolage Grotesque"/>
              </a:rPr>
              <a:t>Code changes</a:t>
            </a:r>
          </a:p>
        </p:txBody>
      </p:sp>
      <p:sp>
        <p:nvSpPr>
          <p:cNvPr id="8" name="text-34">
            <a:extLst xmlns:a="http://schemas.openxmlformats.org/drawingml/2006/main">
              <a:ext uri="{FF2B5EF4-FFF2-40B4-BE49-F238E27FC236}">
                <a16:creationId xmlns:a16="http://schemas.microsoft.com/office/drawing/2014/main" id="{9E6E671A-B5EA-46FC-9E6A-6630F64E1B01}"/>
              </a:ext>
            </a:extLst>
          </p:cNvPr>
          <p:cNvSpPr>
            <a:spLocks xmlns:a="http://schemas.openxmlformats.org/drawingml/2006/main" noGrp="1"/>
          </p:cNvSpPr>
          <p:nvPr/>
        </p:nvSpPr>
        <p:spPr>
          <a:xfrm xmlns:a="http://schemas.openxmlformats.org/drawingml/2006/main">
            <a:off x="685800" y="9744075"/>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AAA7AF"/>
                </a:solidFill>
                <a:latin typeface="Geist Mono"/>
                <a:ea typeface="Geist Mono"/>
                <a:cs typeface="Geist Mono"/>
              </a:defRPr>
            </a:pPr>
            <a:r>
              <a:rPr sz="1650" b="0">
                <a:solidFill>
                  <a:srgbClr val="AAA7AF"/>
                </a:solidFill>
                <a:latin typeface="Geist Mono"/>
                <a:ea typeface="Geist Mono"/>
                <a:cs typeface="Geist Mono"/>
              </a:rPr>
              <a:t>web-fixes + edge-attribution + conversion-service</a:t>
            </a:r>
          </a:p>
        </p:txBody>
      </p:sp>
      <p:sp>
        <p:nvSpPr>
          <p:cNvPr id="9" name="text-35">
            <a:extLst xmlns:a="http://schemas.openxmlformats.org/drawingml/2006/main">
              <a:ext uri="{FF2B5EF4-FFF2-40B4-BE49-F238E27FC236}">
                <a16:creationId xmlns:a16="http://schemas.microsoft.com/office/drawing/2014/main" id="{5378E5D5-6096-4F4E-8C75-ECDD11AF0062}"/>
              </a:ext>
            </a:extLst>
          </p:cNvPr>
          <p:cNvSpPr>
            <a:spLocks xmlns:a="http://schemas.openxmlformats.org/drawingml/2006/main" noGrp="1"/>
          </p:cNvSpPr>
          <p:nvPr/>
        </p:nvSpPr>
        <p:spPr>
          <a:xfrm xmlns:a="http://schemas.openxmlformats.org/drawingml/2006/main">
            <a:off x="13620750" y="97440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725" b="0">
                <a:solidFill>
                  <a:srgbClr val="AAA7AF"/>
                </a:solidFill>
                <a:latin typeface="Inter"/>
                <a:ea typeface="Inter"/>
                <a:cs typeface="Inter"/>
              </a:defRPr>
            </a:pPr>
            <a:r>
              <a:rPr sz="1725" b="0">
                <a:solidFill>
                  <a:srgbClr val="AAA7AF"/>
                </a:solidFill>
                <a:latin typeface="Inter"/>
                <a:ea typeface="Inter"/>
                <a:cs typeface="Inter"/>
              </a:rPr>
              <a:t>16 defects / full evidence</a:t>
            </a:r>
          </a:p>
        </p:txBody>
      </p:sp>
      <p:sp>
        <p:nvSpPr>
          <p:cNvPr id="30" name="simple-29">
            <a:extLst xmlns:a="http://schemas.openxmlformats.org/drawingml/2006/main">
              <a:ext uri="{FF2B5EF4-FFF2-40B4-BE49-F238E27FC236}">
                <a16:creationId xmlns:a16="http://schemas.microsoft.com/office/drawing/2014/main" id="{B3BFFD62-443B-4A0C-82F7-9697F9B99B1F}"/>
              </a:ext>
            </a:extLst>
          </p:cNvPr>
          <p:cNvSpPr>
            <a:spLocks xmlns:a="http://schemas.openxmlformats.org/drawingml/2006/main" noGrp="1"/>
          </p:cNvSpPr>
          <p:nvPr/>
        </p:nvSpPr>
        <p:spPr>
          <a:xfrm xmlns:a="http://schemas.openxmlformats.org/drawingml/2006/main">
            <a:off x="695325" y="2305050"/>
            <a:ext cx="1619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D2D0D6"/>
                </a:solidFill>
                <a:latin typeface="Inter"/>
                <a:ea typeface="Inter"/>
                <a:cs typeface="Inter"/>
              </a:defRPr>
            </a:pPr>
            <a:r>
              <a:rPr sz="2400" b="0">
                <a:solidFill>
                  <a:srgbClr val="D2D0D6"/>
                </a:solidFill>
                <a:latin typeface="Inter"/>
                <a:ea typeface="Inter"/>
                <a:cs typeface="Inter"/>
              </a:rPr>
              <a:t>D1–D16: verified defects and how each was proven</a:t>
            </a:r>
          </a:p>
        </p:txBody>
      </p:sp>
      <p:graphicFrame>
        <p:nvGraphicFramePr>
          <p:cNvPr id="34" name="">
            <a:extLst xmlns:a="http://schemas.openxmlformats.org/drawingml/2006/main">
              <a:ext uri="{FF2B5EF4-FFF2-40B4-BE49-F238E27FC236}">
                <a16:creationId xmlns:a16="http://schemas.microsoft.com/office/drawing/2014/main" id="{E2EAB8F3-826C-4E38-9C62-36FBBA4C4CBD}"/>
              </a:ext>
            </a:extLst>
          </p:cNvPr>
          <p:cNvGraphicFramePr/>
          <p:nvPr/>
        </p:nvGraphicFramePr>
        <p:xfrm>
          <a:off xmlns:a="http://schemas.openxmlformats.org/drawingml/2006/main" x="666750" y="2724150"/>
          <a:ext xmlns:a="http://schemas.openxmlformats.org/drawingml/2006/main" cx="16954500" cy="6743700"/>
        </p:xfrm>
        <a:graphic xmlns:a="http://schemas.openxmlformats.org/drawingml/2006/main">
          <a:graphicData uri="http://schemas.openxmlformats.org/drawingml/2006/table">
            <a:tbl>
              <a:tblPr/>
              <a:tblGrid>
                <a:gridCol w="723900"/>
                <a:gridCol w="10991850"/>
                <a:gridCol w="5238750"/>
              </a:tblGrid>
              <a:tr h="419100">
                <a:tc>
                  <a:txBody>
                    <a:bodyPr wrap="square">
                      <a:noAutofit/>
                    </a:bodyPr>
                    <a:lstStyle/>
                    <a:p>
                      <a:pPr algn="l">
                        <a:buNone/>
                      </a:pPr>
                      <a:r>
                        <a:rPr sz="1875" b="1">
                          <a:solidFill>
                            <a:srgbClr val="EBEBEB"/>
                          </a:solidFill>
                          <a:latin typeface="Inter"/>
                          <a:ea typeface="Inter"/>
                          <a:cs typeface="Inter"/>
                        </a:rPr>
                        <a:t>#</a:t>
                      </a:r>
                    </a:p>
                  </a:txBody>
                  <a:tcPr marL="114300" marR="114300" marT="47625" marB="47625" anchor="ctr">
                    <a:solidFill>
                      <a:srgbClr val="28262D"/>
                    </a:solidFill>
                  </a:tcPr>
                </a:tc>
                <a:tc>
                  <a:txBody>
                    <a:bodyPr wrap="square">
                      <a:noAutofit/>
                    </a:bodyPr>
                    <a:lstStyle/>
                    <a:p>
                      <a:pPr algn="l">
                        <a:buNone/>
                      </a:pPr>
                      <a:r>
                        <a:rPr sz="1875" b="1">
                          <a:solidFill>
                            <a:srgbClr val="EBEBEB"/>
                          </a:solidFill>
                          <a:latin typeface="Inter"/>
                          <a:ea typeface="Inter"/>
                          <a:cs typeface="Inter"/>
                        </a:rPr>
                        <a:t>Defect</a:t>
                      </a:r>
                    </a:p>
                  </a:txBody>
                  <a:tcPr marL="114300" marR="114300" marT="47625" marB="47625" anchor="ctr">
                    <a:solidFill>
                      <a:srgbClr val="28262D"/>
                    </a:solidFill>
                  </a:tcPr>
                </a:tc>
                <a:tc>
                  <a:txBody>
                    <a:bodyPr wrap="square">
                      <a:noAutofit/>
                    </a:bodyPr>
                    <a:lstStyle/>
                    <a:p>
                      <a:pPr algn="l">
                        <a:buNone/>
                      </a:pPr>
                      <a:r>
                        <a:rPr sz="1875" b="1">
                          <a:solidFill>
                            <a:srgbClr val="EBEBEB"/>
                          </a:solidFill>
                          <a:latin typeface="Inter"/>
                          <a:ea typeface="Inter"/>
                          <a:cs typeface="Inter"/>
                        </a:rPr>
                        <a:t>How it was proven</a:t>
                      </a:r>
                    </a:p>
                  </a:txBody>
                  <a:tcPr marL="114300" marR="114300" marT="47625" marB="47625" anchor="ctr">
                    <a:solidFill>
                      <a:srgbClr val="28262D"/>
                    </a:solidFill>
                  </a:tcPr>
                </a:tc>
              </a:tr>
              <a:tr h="552450">
                <a:tc>
                  <a:txBody>
                    <a:bodyPr wrap="square">
                      <a:noAutofit/>
                    </a:bodyPr>
                    <a:lstStyle/>
                    <a:p>
                      <a:pPr algn="l">
                        <a:buNone/>
                      </a:pPr>
                      <a:r>
                        <a:rPr sz="1500" b="0">
                          <a:solidFill>
                            <a:srgbClr val="FFB8E9"/>
                          </a:solidFill>
                          <a:latin typeface="Inter"/>
                          <a:ea typeface="Inter"/>
                          <a:cs typeface="Inter"/>
                        </a:rPr>
                        <a:t>D1</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Google Ads signup conversion has never fired: it listens for new_user_signed_up, the app sends signup</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No emitter in ~1,090 files; sealed replay shows signup sends nothing to Google</a:t>
                      </a:r>
                    </a:p>
                  </a:txBody>
                  <a:tcPr marL="114300" marR="114300" marT="47625" marB="47625" anchor="ctr">
                    <a:solidFill>
                      <a:srgbClr val="19191C"/>
                    </a:solidFill>
                  </a:tcPr>
                </a:tc>
              </a:tr>
              <a:tr h="552450">
                <a:tc>
                  <a:txBody>
                    <a:bodyPr wrap="square">
                      <a:noAutofit/>
                    </a:bodyPr>
                    <a:lstStyle/>
                    <a:p>
                      <a:pPr algn="l">
                        <a:buNone/>
                      </a:pPr>
                      <a:r>
                        <a:rPr sz="1500" b="0">
                          <a:solidFill>
                            <a:srgbClr val="FFB8E9"/>
                          </a:solidFill>
                          <a:latin typeface="Inter"/>
                          <a:ea typeface="Inter"/>
                          <a:cs typeface="Inter"/>
                        </a:rPr>
                        <a:t>D2</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Each platform gets a different "purchase": LinkedIn no value/ID, X twice with random IDs, Meta and TikTok first-purchase-only valued at LTV, business_subscription consumed by nothing</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Sealed replay of the app's real purchase pushes, decoded per vendor</a:t>
                      </a:r>
                    </a:p>
                  </a:txBody>
                  <a:tcPr marL="114300" marR="114300" marT="47625" marB="47625" anchor="ctr">
                    <a:solidFill>
                      <a:srgbClr val="151518"/>
                    </a:solidFill>
                  </a:tcPr>
                </a:tc>
              </a:tr>
              <a:tr h="323850">
                <a:tc>
                  <a:txBody>
                    <a:bodyPr wrap="square">
                      <a:noAutofit/>
                    </a:bodyPr>
                    <a:lstStyle/>
                    <a:p>
                      <a:pPr algn="l">
                        <a:buNone/>
                      </a:pPr>
                      <a:r>
                        <a:rPr sz="1500" b="0">
                          <a:solidFill>
                            <a:srgbClr val="FFB8E9"/>
                          </a:solidFill>
                          <a:latin typeface="Inter"/>
                          <a:ea typeface="Inter"/>
                          <a:cs typeface="Inter"/>
                        </a:rPr>
                        <a:t>D3</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Renewals, upgrades, add-ons, refunds reach no platform from the browser</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Shipped code: these events only refresh the screen</a:t>
                      </a:r>
                    </a:p>
                  </a:txBody>
                  <a:tcPr marL="114300" marR="114300" marT="47625" marB="47625" anchor="ctr">
                    <a:solidFill>
                      <a:srgbClr val="19191C"/>
                    </a:solidFill>
                  </a:tcPr>
                </a:tc>
              </a:tr>
              <a:tr h="323850">
                <a:tc>
                  <a:txBody>
                    <a:bodyPr wrap="square">
                      <a:noAutofit/>
                    </a:bodyPr>
                    <a:lstStyle/>
                    <a:p>
                      <a:pPr algn="l">
                        <a:buNone/>
                      </a:pPr>
                      <a:r>
                        <a:rPr sz="1500" b="0">
                          <a:solidFill>
                            <a:srgbClr val="FFB8E9"/>
                          </a:solidFill>
                          <a:latin typeface="Inter"/>
                          <a:ea typeface="Inter"/>
                          <a:cs typeface="Inter"/>
                        </a:rPr>
                        <a:t>D4</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Fallback value bug: if the invoice lookup fails, annual plans report at half the monthly price with a Date.now() ID</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Shipped code, PRICES table and the fallback builder</a:t>
                      </a:r>
                    </a:p>
                  </a:txBody>
                  <a:tcPr marL="114300" marR="114300" marT="47625" marB="47625" anchor="ctr">
                    <a:solidFill>
                      <a:srgbClr val="151518"/>
                    </a:solidFill>
                  </a:tcPr>
                </a:tc>
              </a:tr>
              <a:tr h="323850">
                <a:tc>
                  <a:txBody>
                    <a:bodyPr wrap="square">
                      <a:noAutofit/>
                    </a:bodyPr>
                    <a:lstStyle/>
                    <a:p>
                      <a:pPr algn="l">
                        <a:buNone/>
                      </a:pPr>
                      <a:r>
                        <a:rPr sz="1500" b="0">
                          <a:solidFill>
                            <a:srgbClr val="FFB8E9"/>
                          </a:solidFill>
                          <a:latin typeface="Inter"/>
                          <a:ea typeface="Inter"/>
                          <a:cs typeface="Inter"/>
                        </a:rPr>
                        <a:t>D5</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TikTok signup event has an empty event_id</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Sealed replay</a:t>
                      </a:r>
                    </a:p>
                  </a:txBody>
                  <a:tcPr marL="114300" marR="114300" marT="47625" marB="47625" anchor="ctr">
                    <a:solidFill>
                      <a:srgbClr val="19191C"/>
                    </a:solidFill>
                  </a:tcPr>
                </a:tc>
              </a:tr>
              <a:tr h="323850">
                <a:tc>
                  <a:txBody>
                    <a:bodyPr wrap="square">
                      <a:noAutofit/>
                    </a:bodyPr>
                    <a:lstStyle/>
                    <a:p>
                      <a:pPr algn="l">
                        <a:buNone/>
                      </a:pPr>
                      <a:r>
                        <a:rPr sz="1500" b="0">
                          <a:solidFill>
                            <a:srgbClr val="FFB8E9"/>
                          </a:solidFill>
                          <a:latin typeface="Inter"/>
                          <a:ea typeface="Inter"/>
                          <a:cs typeface="Inter"/>
                        </a:rPr>
                        <a:t>D6</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Google form_start/form_submit fire on every Generate click; Meta and X fire auto click events</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Logged-in capture of a real generation</a:t>
                      </a:r>
                    </a:p>
                  </a:txBody>
                  <a:tcPr marL="114300" marR="114300" marT="47625" marB="47625" anchor="ctr">
                    <a:solidFill>
                      <a:srgbClr val="151518"/>
                    </a:solidFill>
                  </a:tcPr>
                </a:tc>
              </a:tr>
              <a:tr h="552450">
                <a:tc>
                  <a:txBody>
                    <a:bodyPr wrap="square">
                      <a:noAutofit/>
                    </a:bodyPr>
                    <a:lstStyle/>
                    <a:p>
                      <a:pPr algn="l">
                        <a:buNone/>
                      </a:pPr>
                      <a:r>
                        <a:rPr sz="1500" b="0">
                          <a:solidFill>
                            <a:srgbClr val="FFB8E9"/>
                          </a:solidFill>
                          <a:latin typeface="Inter"/>
                          <a:ea typeface="Inter"/>
                          <a:cs typeface="Inter"/>
                        </a:rPr>
                        <a:t>D7</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Meta loses the click on multi-page and return journeys; no code builds _fbc from the stored fbclid</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Live click-through matrix: one-hop keeps it, multi-hop and return lose it</a:t>
                      </a:r>
                    </a:p>
                  </a:txBody>
                  <a:tcPr marL="114300" marR="114300" marT="47625" marB="47625" anchor="ctr">
                    <a:solidFill>
                      <a:srgbClr val="19191C"/>
                    </a:solidFill>
                  </a:tcPr>
                </a:tc>
              </a:tr>
              <a:tr h="323850">
                <a:tc>
                  <a:txBody>
                    <a:bodyPr wrap="square">
                      <a:noAutofit/>
                    </a:bodyPr>
                    <a:lstStyle/>
                    <a:p>
                      <a:pPr algn="l">
                        <a:buNone/>
                      </a:pPr>
                      <a:r>
                        <a:rPr sz="1500" b="0">
                          <a:solidFill>
                            <a:srgbClr val="FFB8E9"/>
                          </a:solidFill>
                          <a:latin typeface="Inter"/>
                          <a:ea typeface="Inter"/>
                          <a:cs typeface="Inter"/>
                        </a:rPr>
                        <a:t>D8</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ChatGPT-ads oppref always lost on marketing landings</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Live test; the SDK reads only the current URL</a:t>
                      </a:r>
                    </a:p>
                  </a:txBody>
                  <a:tcPr marL="114300" marR="114300" marT="47625" marB="47625" anchor="ctr">
                    <a:solidFill>
                      <a:srgbClr val="151518"/>
                    </a:solidFill>
                  </a:tcPr>
                </a:tc>
              </a:tr>
              <a:tr h="552450">
                <a:tc>
                  <a:txBody>
                    <a:bodyPr wrap="square">
                      <a:noAutofit/>
                    </a:bodyPr>
                    <a:lstStyle/>
                    <a:p>
                      <a:pPr algn="l">
                        <a:buNone/>
                      </a:pPr>
                      <a:r>
                        <a:rPr sz="1500" b="0">
                          <a:solidFill>
                            <a:srgbClr val="FFB8E9"/>
                          </a:solidFill>
                          <a:latin typeface="Inter"/>
                          <a:ea typeface="Inter"/>
                          <a:cs typeface="Inter"/>
                        </a:rPr>
                        <a:t>D9</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iOS Google IDs (gbraid/wbraid) and Reddit's rdt_cid never reach the server store; checkout posts only gclid</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Shipped code: the app keeps 4 keys and overwrites the JSON</a:t>
                      </a:r>
                    </a:p>
                  </a:txBody>
                  <a:tcPr marL="114300" marR="114300" marT="47625" marB="47625" anchor="ctr">
                    <a:solidFill>
                      <a:srgbClr val="19191C"/>
                    </a:solidFill>
                  </a:tcPr>
                </a:tc>
              </a:tr>
              <a:tr h="323850">
                <a:tc>
                  <a:txBody>
                    <a:bodyPr wrap="square">
                      <a:noAutofit/>
                    </a:bodyPr>
                    <a:lstStyle/>
                    <a:p>
                      <a:pPr algn="l">
                        <a:buNone/>
                      </a:pPr>
                      <a:r>
                        <a:rPr sz="1500" b="0">
                          <a:solidFill>
                            <a:srgbClr val="FFB8E9"/>
                          </a:solidFill>
                          <a:latin typeface="Inter"/>
                          <a:ea typeface="Inter"/>
                          <a:cs typeface="Inter"/>
                        </a:rPr>
                        <a:t>D10</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In-app browser handoff copies a bare /home URL; Google OAuth stays enabled where Google blocks it</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Live Instagram/TikTok UA tests, overlay inspected</a:t>
                      </a:r>
                    </a:p>
                  </a:txBody>
                  <a:tcPr marL="114300" marR="114300" marT="47625" marB="47625" anchor="ctr">
                    <a:solidFill>
                      <a:srgbClr val="151518"/>
                    </a:solidFill>
                  </a:tcPr>
                </a:tc>
              </a:tr>
              <a:tr h="323850">
                <a:tc>
                  <a:txBody>
                    <a:bodyPr wrap="square">
                      <a:noAutofit/>
                    </a:bodyPr>
                    <a:lstStyle/>
                    <a:p>
                      <a:pPr algn="l">
                        <a:buNone/>
                      </a:pPr>
                      <a:r>
                        <a:rPr sz="1500" b="0">
                          <a:solidFill>
                            <a:srgbClr val="FFB8E9"/>
                          </a:solidFill>
                          <a:latin typeface="Inter"/>
                          <a:ea typeface="Inter"/>
                          <a:cs typeface="Inter"/>
                        </a:rPr>
                        <a:t>D11</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uBlock's default list strips all 7 click IDs and blocks every pixel plus their own /4vu8/ path</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Replayed with uBlock's actual filter lists</a:t>
                      </a:r>
                    </a:p>
                  </a:txBody>
                  <a:tcPr marL="114300" marR="114300" marT="47625" marB="47625" anchor="ctr">
                    <a:solidFill>
                      <a:srgbClr val="19191C"/>
                    </a:solidFill>
                  </a:tcPr>
                </a:tc>
              </a:tr>
              <a:tr h="323850">
                <a:tc>
                  <a:txBody>
                    <a:bodyPr wrap="square">
                      <a:noAutofit/>
                    </a:bodyPr>
                    <a:lstStyle/>
                    <a:p>
                      <a:pPr algn="l">
                        <a:buNone/>
                      </a:pPr>
                      <a:r>
                        <a:rPr sz="1500" b="0">
                          <a:solidFill>
                            <a:srgbClr val="FFB8E9"/>
                          </a:solidFill>
                          <a:latin typeface="Inter"/>
                          <a:ea typeface="Inter"/>
                          <a:cs typeface="Inter"/>
                        </a:rPr>
                        <a:t>D12</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Click IDs live in script-set cookies Safari caps at 7 days</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Cookie inspection; only oa_device_id is server-set</a:t>
                      </a:r>
                    </a:p>
                  </a:txBody>
                  <a:tcPr marL="114300" marR="114300" marT="47625" marB="47625" anchor="ctr">
                    <a:solidFill>
                      <a:srgbClr val="151518"/>
                    </a:solidFill>
                  </a:tcPr>
                </a:tc>
              </a:tr>
              <a:tr h="323850">
                <a:tc>
                  <a:txBody>
                    <a:bodyPr wrap="square">
                      <a:noAutofit/>
                    </a:bodyPr>
                    <a:lstStyle/>
                    <a:p>
                      <a:pPr algn="l">
                        <a:buNone/>
                      </a:pPr>
                      <a:r>
                        <a:rPr sz="1500" b="0">
                          <a:solidFill>
                            <a:srgbClr val="FFB8E9"/>
                          </a:solidFill>
                          <a:latin typeface="Inter"/>
                          <a:ea typeface="Inter"/>
                          <a:cs typeface="Inter"/>
                        </a:rPr>
                        <a:t>D13</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Page views: Google/Reddit/LinkedIn/X get 0 on route changes, Meta up to 3, UET 3, TikTok 2, legacy Amplitude 6</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Logged-in route-change counts</a:t>
                      </a:r>
                    </a:p>
                  </a:txBody>
                  <a:tcPr marL="114300" marR="114300" marT="47625" marB="47625" anchor="ctr">
                    <a:solidFill>
                      <a:srgbClr val="19191C"/>
                    </a:solidFill>
                  </a:tcPr>
                </a:tc>
              </a:tr>
              <a:tr h="323850">
                <a:tc>
                  <a:txBody>
                    <a:bodyPr wrap="square">
                      <a:noAutofit/>
                    </a:bodyPr>
                    <a:lstStyle/>
                    <a:p>
                      <a:pPr algn="l">
                        <a:buNone/>
                      </a:pPr>
                      <a:r>
                        <a:rPr sz="1500" b="0">
                          <a:solidFill>
                            <a:srgbClr val="FFB8E9"/>
                          </a:solidFill>
                          <a:latin typeface="Inter"/>
                          <a:ea typeface="Inter"/>
                          <a:cs typeface="Inter"/>
                        </a:rPr>
                        <a:t>D14</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No consent manager, no Consent Mode (gcd=13l3l3l3l1l1 on all 348 Google hits), 0 of 18 tags gated</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Live hits, DE/GB/CH probes</a:t>
                      </a:r>
                    </a:p>
                  </a:txBody>
                  <a:tcPr marL="114300" marR="114300" marT="47625" marB="47625" anchor="ctr">
                    <a:solidFill>
                      <a:srgbClr val="151518"/>
                    </a:solidFill>
                  </a:tcPr>
                </a:tc>
              </a:tr>
              <a:tr h="323850">
                <a:tc>
                  <a:txBody>
                    <a:bodyPr wrap="square">
                      <a:noAutofit/>
                    </a:bodyPr>
                    <a:lstStyle/>
                    <a:p>
                      <a:pPr algn="l">
                        <a:buNone/>
                      </a:pPr>
                      <a:r>
                        <a:rPr sz="1500" b="0">
                          <a:solidFill>
                            <a:srgbClr val="FFB8E9"/>
                          </a:solidFill>
                          <a:latin typeface="Inter"/>
                          <a:ea typeface="Inter"/>
                          <a:cs typeface="Inter"/>
                        </a:rPr>
                        <a:t>D15</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Enterprise HubSpot form hard-codes lead_source=Event, lead_source_detail=Brandweek; click-ID fields never filled</a:t>
                      </a:r>
                    </a:p>
                  </a:txBody>
                  <a:tcPr marL="114300" marR="114300" marT="47625" marB="47625" anchor="ctr">
                    <a:solidFill>
                      <a:srgbClr val="19191C"/>
                    </a:solidFill>
                  </a:tcPr>
                </a:tc>
                <a:tc>
                  <a:txBody>
                    <a:bodyPr wrap="square">
                      <a:noAutofit/>
                    </a:bodyPr>
                    <a:lstStyle/>
                    <a:p>
                      <a:pPr algn="l">
                        <a:buNone/>
                      </a:pPr>
                      <a:r>
                        <a:rPr sz="1500" b="0">
                          <a:solidFill>
                            <a:srgbClr val="D2D0D6"/>
                          </a:solidFill>
                          <a:latin typeface="Inter"/>
                          <a:ea typeface="Inter"/>
                          <a:cs typeface="Inter"/>
                        </a:rPr>
                        <a:t>Public form definition JSON</a:t>
                      </a:r>
                    </a:p>
                  </a:txBody>
                  <a:tcPr marL="114300" marR="114300" marT="47625" marB="47625" anchor="ctr">
                    <a:solidFill>
                      <a:srgbClr val="19191C"/>
                    </a:solidFill>
                  </a:tcPr>
                </a:tc>
              </a:tr>
              <a:tr h="552450">
                <a:tc>
                  <a:txBody>
                    <a:bodyPr wrap="square">
                      <a:noAutofit/>
                    </a:bodyPr>
                    <a:lstStyle/>
                    <a:p>
                      <a:pPr algn="l">
                        <a:buNone/>
                      </a:pPr>
                      <a:r>
                        <a:rPr sz="1500" b="0">
                          <a:solidFill>
                            <a:srgbClr val="FFB8E9"/>
                          </a:solidFill>
                          <a:latin typeface="Inter"/>
                          <a:ea typeface="Inter"/>
                          <a:cs typeface="Inter"/>
                        </a:rPr>
                        <a:t>D16</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Shim logs click IDs to console, ttclid cookie lasts 1 day, quantity=undefined in checkout URL, GTM loaded twice, Clear-Site-Data on the homepage</a:t>
                      </a:r>
                    </a:p>
                  </a:txBody>
                  <a:tcPr marL="114300" marR="114300" marT="47625" marB="47625" anchor="ctr">
                    <a:solidFill>
                      <a:srgbClr val="151518"/>
                    </a:solidFill>
                  </a:tcPr>
                </a:tc>
                <a:tc>
                  <a:txBody>
                    <a:bodyPr wrap="square">
                      <a:noAutofit/>
                    </a:bodyPr>
                    <a:lstStyle/>
                    <a:p>
                      <a:pPr algn="l">
                        <a:buNone/>
                      </a:pPr>
                      <a:r>
                        <a:rPr sz="1500" b="0">
                          <a:solidFill>
                            <a:srgbClr val="D2D0D6"/>
                          </a:solidFill>
                          <a:latin typeface="Inter"/>
                          <a:ea typeface="Inter"/>
                          <a:cs typeface="Inter"/>
                        </a:rPr>
                        <a:t>Code and captures</a:t>
                      </a:r>
                    </a:p>
                  </a:txBody>
                  <a:tcPr marL="114300" marR="114300" marT="47625" marB="47625" anchor="ctr">
                    <a:solidFill>
                      <a:srgbClr val="151518"/>
                    </a:solidFill>
                  </a:tcPr>
                </a:tc>
              </a:tr>
            </a:tbl>
          </a:graphicData>
        </a:graphic>
      </p:graphicFrame>
    </p:spTree>
    <p:extLst>
      <p:ext uri="{BB962C8B-B14F-4D97-AF65-F5344CB8AC3E}">
        <p14:creationId xmlns:p14="http://schemas.microsoft.com/office/powerpoint/2010/main" val="1204961257"/>
      </p:ext>
    </p:extLst>
  </p:cSld>
</p:sld>
</file>

<file path=ppt/slides/slide4.xml><?xml version="1.0" encoding="utf-8"?>
<p:sld xmlns:p="http://schemas.openxmlformats.org/presentationml/2006/main">
  <p:cSld>
    <p:bg>
      <p:bgPr>
        <a:gradFill xmlns:a="http://schemas.openxmlformats.org/drawingml/2006/main">
          <a:gsLst>
            <a:gs pos="0">
              <a:srgbClr val="100D11"/>
            </a:gs>
            <a:gs pos="100000">
              <a:srgbClr val="09090B"/>
            </a:gs>
          </a:gsLst>
          <a:lin ang="2700000"/>
        </a:gradFill>
      </p:bgPr>
    </p:bg>
    <p:spTree>
      <p:nvGrpSpPr>
        <p:cNvPr id="1" name=""/>
        <p:cNvGrpSpPr/>
        <p:nvPr/>
      </p:nvGrpSpPr>
      <p:grpSpPr>
        <a:xfrm xmlns:a="http://schemas.openxmlformats.org/drawingml/2006/main"/>
      </p:grpSpPr>
      <p:pic>
        <p:nvPicPr>
          <p:cNvPr id="44" name="">
            <a:extLst xmlns:a="http://schemas.openxmlformats.org/drawingml/2006/main">
              <a:ext uri="{FF2B5EF4-FFF2-40B4-BE49-F238E27FC236}">
                <a16:creationId xmlns:a16="http://schemas.microsoft.com/office/drawing/2014/main" id="{EAF38ABC-EA63-443D-A3FE-4B23807CA0E7}"/>
              </a:ext>
            </a:extLst>
          </p:cNvPr>
          <p:cNvPicPr>
            <a:picLocks xmlns:a="http://schemas.openxmlformats.org/drawingml/2006/main" noChangeAspect="1"/>
          </p:cNvPicPr>
          <p:nvPr/>
        </p:nvPicPr>
        <p:blipFill>
          <a:blip xmlns:r="http://schemas.openxmlformats.org/officeDocument/2006/relationships" xmlns:a="http://schemas.openxmlformats.org/drawingml/2006/main" r:embed="R1a9ed0de8b364974">
            <a:extLst>
              <a:ext uri="{96DAC541-7B7A-43D3-8B79-37D633B846F1}">
                <asvg:svgBlip xmlns:asvg="http://schemas.microsoft.com/office/drawing/2016/SVG/main" r:embed="R3080c1f93bab4206"/>
              </a:ext>
            </a:extLst>
          </a:blip>
          <a:stretch xmlns:a="http://schemas.openxmlformats.org/drawingml/2006/main"/>
        </p:blipFill>
        <p:spPr>
          <a:xfrm xmlns:a="http://schemas.openxmlformats.org/drawingml/2006/main">
            <a:off x="666750" y="428625"/>
            <a:ext cx="2152650" cy="361950"/>
          </a:xfrm>
          <a:prstGeom xmlns:a="http://schemas.openxmlformats.org/drawingml/2006/main" prst="rect">
            <a:avLst/>
          </a:prstGeom>
        </p:spPr>
      </p:pic>
      <p:sp>
        <p:nvSpPr>
          <p:cNvPr id="2" name="text-50">
            <a:extLst xmlns:a="http://schemas.openxmlformats.org/drawingml/2006/main">
              <a:ext uri="{FF2B5EF4-FFF2-40B4-BE49-F238E27FC236}">
                <a16:creationId xmlns:a16="http://schemas.microsoft.com/office/drawing/2014/main" id="{FB569570-053B-45BB-8C41-C879B766AC2D}"/>
              </a:ext>
            </a:extLst>
          </p:cNvPr>
          <p:cNvSpPr>
            <a:spLocks xmlns:a="http://schemas.openxmlformats.org/drawingml/2006/main" noGrp="1"/>
          </p:cNvSpPr>
          <p:nvPr/>
        </p:nvSpPr>
        <p:spPr>
          <a:xfrm xmlns:a="http://schemas.openxmlformats.org/drawingml/2006/main">
            <a:off x="3095625" y="42862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AAA7AF"/>
                </a:solidFill>
                <a:latin typeface="Inter"/>
                <a:ea typeface="Inter"/>
                <a:cs typeface="Inter"/>
              </a:defRPr>
            </a:pPr>
            <a:r>
              <a:rPr sz="1950" b="0">
                <a:solidFill>
                  <a:srgbClr val="AAA7AF"/>
                </a:solidFill>
                <a:latin typeface="Inter"/>
                <a:ea typeface="Inter"/>
                <a:cs typeface="Inter"/>
              </a:rPr>
              <a:t>What we made</a:t>
            </a:r>
          </a:p>
        </p:txBody>
      </p:sp>
      <p:sp>
        <p:nvSpPr>
          <p:cNvPr id="3" name="">
            <a:extLst xmlns:a="http://schemas.openxmlformats.org/drawingml/2006/main">
              <a:ext uri="{FF2B5EF4-FFF2-40B4-BE49-F238E27FC236}">
                <a16:creationId xmlns:a16="http://schemas.microsoft.com/office/drawing/2014/main" id="{A11F8490-C33B-4EA4-B70E-84C1D66177FF}"/>
              </a:ext>
            </a:extLst>
          </p:cNvPr>
          <p:cNvSpPr>
            <a:spLocks xmlns:a="http://schemas.openxmlformats.org/drawingml/2006/main" noGrp="1"/>
          </p:cNvSpPr>
          <p:nvPr/>
        </p:nvSpPr>
        <p:spPr>
          <a:xfrm xmlns:a="http://schemas.openxmlformats.org/drawingml/2006/main">
            <a:off x="16363950" y="381000"/>
            <a:ext cx="1257300" cy="457200"/>
          </a:xfrm>
          <a:prstGeom xmlns:a="http://schemas.openxmlformats.org/drawingml/2006/main" prst="roundRect">
            <a:avLst>
              <a:gd name="adj" fmla="val 50000"/>
            </a:avLst>
          </a:prstGeom>
          <a:gradFill xmlns:a="http://schemas.openxmlformats.org/drawingml/2006/main">
            <a:gsLst>
              <a:gs pos="0">
                <a:srgbClr val="FFB8E9"/>
              </a:gs>
              <a:gs pos="100000">
                <a:srgbClr val="FF00BC"/>
              </a:gs>
            </a:gsLst>
            <a:lin ang="0"/>
          </a:gradFill>
          <a:ln xmlns:a="http://schemas.openxmlformats.org/drawingml/2006/main" w="0">
            <a:noFill/>
          </a:ln>
        </p:spPr>
      </p:sp>
      <p:sp>
        <p:nvSpPr>
          <p:cNvPr id="4" name="text-51">
            <a:extLst xmlns:a="http://schemas.openxmlformats.org/drawingml/2006/main">
              <a:ext uri="{FF2B5EF4-FFF2-40B4-BE49-F238E27FC236}">
                <a16:creationId xmlns:a16="http://schemas.microsoft.com/office/drawing/2014/main" id="{A3B1BB1E-F3BB-4B34-998A-BC4D5BB4E56E}"/>
              </a:ext>
            </a:extLst>
          </p:cNvPr>
          <p:cNvSpPr>
            <a:spLocks xmlns:a="http://schemas.openxmlformats.org/drawingml/2006/main" noGrp="1"/>
          </p:cNvSpPr>
          <p:nvPr/>
        </p:nvSpPr>
        <p:spPr>
          <a:xfrm xmlns:a="http://schemas.openxmlformats.org/drawingml/2006/main">
            <a:off x="16535400" y="457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EBEBEB"/>
                </a:solidFill>
                <a:latin typeface="Inter"/>
                <a:ea typeface="Inter"/>
                <a:cs typeface="Inter"/>
              </a:defRPr>
            </a:pPr>
            <a:r>
              <a:rPr sz="1800" b="1">
                <a:solidFill>
                  <a:srgbClr val="EBEBEB"/>
                </a:solidFill>
                <a:latin typeface="Inter"/>
                <a:ea typeface="Inter"/>
                <a:cs typeface="Inter"/>
              </a:rPr>
              <a:t>04 / 10</a:t>
            </a:r>
          </a:p>
        </p:txBody>
      </p:sp>
      <p:sp>
        <p:nvSpPr>
          <p:cNvPr id="5" name="">
            <a:extLst xmlns:a="http://schemas.openxmlformats.org/drawingml/2006/main">
              <a:ext uri="{FF2B5EF4-FFF2-40B4-BE49-F238E27FC236}">
                <a16:creationId xmlns:a16="http://schemas.microsoft.com/office/drawing/2014/main" id="{50879715-1910-4F82-95AD-9B31F15FC57A}"/>
              </a:ext>
            </a:extLst>
          </p:cNvPr>
          <p:cNvSpPr>
            <a:spLocks xmlns:a="http://schemas.openxmlformats.org/drawingml/2006/main" noGrp="1"/>
          </p:cNvSpPr>
          <p:nvPr/>
        </p:nvSpPr>
        <p:spPr>
          <a:xfrm xmlns:a="http://schemas.openxmlformats.org/drawingml/2006/main">
            <a:off x="666750" y="1000125"/>
            <a:ext cx="16954500" cy="0"/>
          </a:xfrm>
          <a:prstGeom xmlns:a="http://schemas.openxmlformats.org/drawingml/2006/main" prst="line">
            <a:avLst/>
          </a:prstGeom>
          <a:noFill xmlns:a="http://schemas.openxmlformats.org/drawingml/2006/main"/>
          <a:ln xmlns:a="http://schemas.openxmlformats.org/drawingml/2006/main" w="9525">
            <a:solidFill>
              <a:srgbClr val="29262D"/>
            </a:solidFill>
          </a:ln>
        </p:spPr>
      </p:sp>
      <p:sp>
        <p:nvSpPr>
          <p:cNvPr id="6" name="text-52">
            <a:extLst xmlns:a="http://schemas.openxmlformats.org/drawingml/2006/main">
              <a:ext uri="{FF2B5EF4-FFF2-40B4-BE49-F238E27FC236}">
                <a16:creationId xmlns:a16="http://schemas.microsoft.com/office/drawing/2014/main" id="{DB4C9C33-FBAF-47B7-AEE8-69F17A710581}"/>
              </a:ext>
            </a:extLst>
          </p:cNvPr>
          <p:cNvSpPr>
            <a:spLocks xmlns:a="http://schemas.openxmlformats.org/drawingml/2006/main" noGrp="1"/>
          </p:cNvSpPr>
          <p:nvPr/>
        </p:nvSpPr>
        <p:spPr>
          <a:xfrm xmlns:a="http://schemas.openxmlformats.org/drawingml/2006/main">
            <a:off x="666750" y="1323975"/>
            <a:ext cx="1381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EBEBEB"/>
                </a:solidFill>
                <a:latin typeface="Bricolage Grotesque"/>
                <a:ea typeface="Bricolage Grotesque"/>
                <a:cs typeface="Bricolage Grotesque"/>
              </a:defRPr>
            </a:pPr>
            <a:r>
              <a:rPr sz="5700" b="1">
                <a:solidFill>
                  <a:srgbClr val="EBEBEB"/>
                </a:solidFill>
                <a:latin typeface="Bricolage Grotesque"/>
                <a:ea typeface="Bricolage Grotesque"/>
                <a:cs typeface="Bricolage Grotesque"/>
              </a:rPr>
              <a:t>Edge attribution</a:t>
            </a:r>
          </a:p>
        </p:txBody>
      </p:sp>
      <p:sp>
        <p:nvSpPr>
          <p:cNvPr id="8" name="text-54">
            <a:extLst xmlns:a="http://schemas.openxmlformats.org/drawingml/2006/main">
              <a:ext uri="{FF2B5EF4-FFF2-40B4-BE49-F238E27FC236}">
                <a16:creationId xmlns:a16="http://schemas.microsoft.com/office/drawing/2014/main" id="{EB5044D0-0D85-4660-99A4-7B14A70B494D}"/>
              </a:ext>
            </a:extLst>
          </p:cNvPr>
          <p:cNvSpPr>
            <a:spLocks xmlns:a="http://schemas.openxmlformats.org/drawingml/2006/main" noGrp="1"/>
          </p:cNvSpPr>
          <p:nvPr/>
        </p:nvSpPr>
        <p:spPr>
          <a:xfrm xmlns:a="http://schemas.openxmlformats.org/drawingml/2006/main">
            <a:off x="685800" y="9744075"/>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AAA7AF"/>
                </a:solidFill>
                <a:latin typeface="Geist Mono"/>
                <a:ea typeface="Geist Mono"/>
                <a:cs typeface="Geist Mono"/>
              </a:defRPr>
            </a:pPr>
            <a:r>
              <a:rPr sz="1650" b="0">
                <a:solidFill>
                  <a:srgbClr val="AAA7AF"/>
                </a:solidFill>
                <a:latin typeface="Geist Mono"/>
                <a:ea typeface="Geist Mono"/>
                <a:cs typeface="Geist Mono"/>
              </a:rPr>
              <a:t>packages/edge-attribution</a:t>
            </a:r>
          </a:p>
        </p:txBody>
      </p:sp>
      <p:sp>
        <p:nvSpPr>
          <p:cNvPr id="9" name="text-55">
            <a:extLst xmlns:a="http://schemas.openxmlformats.org/drawingml/2006/main">
              <a:ext uri="{FF2B5EF4-FFF2-40B4-BE49-F238E27FC236}">
                <a16:creationId xmlns:a16="http://schemas.microsoft.com/office/drawing/2014/main" id="{35241731-7CC1-48CB-8AA0-204667F350C7}"/>
              </a:ext>
            </a:extLst>
          </p:cNvPr>
          <p:cNvSpPr>
            <a:spLocks xmlns:a="http://schemas.openxmlformats.org/drawingml/2006/main" noGrp="1"/>
          </p:cNvSpPr>
          <p:nvPr/>
        </p:nvSpPr>
        <p:spPr>
          <a:xfrm xmlns:a="http://schemas.openxmlformats.org/drawingml/2006/main">
            <a:off x="13620750" y="97440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725" b="0">
                <a:solidFill>
                  <a:srgbClr val="AAA7AF"/>
                </a:solidFill>
                <a:latin typeface="Inter"/>
                <a:ea typeface="Inter"/>
                <a:cs typeface="Inter"/>
              </a:defRPr>
            </a:pPr>
            <a:r>
              <a:rPr sz="1725" b="0">
                <a:solidFill>
                  <a:srgbClr val="AAA7AF"/>
                </a:solidFill>
                <a:latin typeface="Inter"/>
                <a:ea typeface="Inter"/>
                <a:cs typeface="Inter"/>
              </a:rPr>
              <a:t>339 tests</a:t>
            </a:r>
          </a:p>
        </p:txBody>
      </p:sp>
      <p:sp>
        <p:nvSpPr>
          <p:cNvPr id="45" name="edge-description">
            <a:extLst xmlns:a="http://schemas.openxmlformats.org/drawingml/2006/main">
              <a:ext uri="{FF2B5EF4-FFF2-40B4-BE49-F238E27FC236}">
                <a16:creationId xmlns:a16="http://schemas.microsoft.com/office/drawing/2014/main" id="{5C6C36F1-EDBB-4BD2-8742-A7479D7C35FC}"/>
              </a:ext>
            </a:extLst>
          </p:cNvPr>
          <p:cNvSpPr>
            <a:spLocks xmlns:a="http://schemas.openxmlformats.org/drawingml/2006/main" noGrp="1"/>
          </p:cNvSpPr>
          <p:nvPr/>
        </p:nvSpPr>
        <p:spPr>
          <a:xfrm xmlns:a="http://schemas.openxmlformats.org/drawingml/2006/main">
            <a:off x="695325" y="2305050"/>
            <a:ext cx="1662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400">
                <a:solidFill>
                  <a:srgbClr val="D2D0D6"/>
                </a:solidFill>
                <a:latin typeface="Inter"/>
                <a:ea typeface="Inter"/>
                <a:cs typeface="Inter"/>
              </a:defRPr>
            </a:defPPr>
          </a:lstStyle>
          <a:p xmlns:a="http://schemas.openxmlformats.org/drawingml/2006/main">
            <a:pPr algn="l">
              <a:defRPr sz="2400">
                <a:solidFill>
                  <a:srgbClr val="D2D0D6"/>
                </a:solidFill>
                <a:latin typeface="Inter"/>
                <a:ea typeface="Inter"/>
                <a:cs typeface="Inter"/>
              </a:defRPr>
            </a:pPr>
            <a:r>
              <a:rPr sz="2400">
                <a:solidFill>
                  <a:srgbClr val="D2D0D6"/>
                </a:solidFill>
                <a:latin typeface="Inter"/>
                <a:ea typeface="Inter"/>
                <a:cs typeface="Inter"/>
              </a:rPr>
              <a:t>withAttribution(handler) wraps the fetch handler of their existing Cloudflare Worker.</a:t>
            </a:r>
          </a:p>
        </p:txBody>
      </p:sp>
      <p:graphicFrame>
        <p:nvGraphicFramePr>
          <p:cNvPr id="46" name="">
            <a:extLst xmlns:a="http://schemas.openxmlformats.org/drawingml/2006/main">
              <a:ext uri="{FF2B5EF4-FFF2-40B4-BE49-F238E27FC236}">
                <a16:creationId xmlns:a16="http://schemas.microsoft.com/office/drawing/2014/main" id="{E50AA81C-D454-4A0F-BD28-FAF190CE8397}"/>
              </a:ext>
            </a:extLst>
          </p:cNvPr>
          <p:cNvGraphicFramePr/>
          <p:nvPr/>
        </p:nvGraphicFramePr>
        <p:xfrm>
          <a:off xmlns:a="http://schemas.openxmlformats.org/drawingml/2006/main" x="666750" y="2914650"/>
          <a:ext xmlns:a="http://schemas.openxmlformats.org/drawingml/2006/main" cx="16954500" cy="6515100"/>
        </p:xfrm>
        <a:graphic xmlns:a="http://schemas.openxmlformats.org/drawingml/2006/main">
          <a:graphicData uri="http://schemas.openxmlformats.org/drawingml/2006/table">
            <a:tbl>
              <a:tblPr/>
              <a:tblGrid>
                <a:gridCol w="2457450"/>
                <a:gridCol w="14497050"/>
              </a:tblGrid>
              <a:tr h="1600200">
                <a:tc>
                  <a:txBody>
                    <a:bodyPr wrap="square">
                      <a:noAutofit/>
                    </a:bodyPr>
                    <a:lstStyle/>
                    <a:p>
                      <a:pPr algn="l"/>
                      <a:r>
                        <a:rPr sz="2250" b="1">
                          <a:solidFill>
                            <a:srgbClr val="FFB8E9"/>
                          </a:solidFill>
                          <a:latin typeface="Bricolage Grotesque"/>
                          <a:ea typeface="Bricolage Grotesque"/>
                          <a:cs typeface="Bricolage Grotesque"/>
                        </a:rPr>
                        <a:t>Capture + cookies</a:t>
                      </a:r>
                    </a:p>
                  </a:txBody>
                  <a:tcPr marL="171450" marR="171450" marT="114300" marB="114300" anchor="ctr">
                    <a:solidFill>
                      <a:srgbClr val="19191C"/>
                    </a:solidFill>
                  </a:tcPr>
                </a:tc>
                <a:tc>
                  <a:txBody>
                    <a:bodyPr wrap="square">
                      <a:noAutofit/>
                    </a:bodyPr>
                    <a:lstStyle/>
                    <a:p>
                      <a:pPr algn="l"/>
                      <a:r>
                        <a:rPr sz="2250" b="0">
                          <a:solidFill>
                            <a:srgbClr val="D2D0D6"/>
                          </a:solidFill>
                          <a:latin typeface="Inter"/>
                          <a:ea typeface="Inter"/>
                          <a:cs typeface="Inter"/>
                        </a:rPr>
                        <a:t>On document navigations, parse 14 click-ID types plus UTMs, referrer and landing path. Set a signed, HttpOnly 13-month oa_attr with first and last touch, server-set oa_ad_clids in their existing format, _fbc minted per Meta's rules, __oppref, and a 28-day ttclid (D7, D8, D9, D11, D12). Server-set cookies address Safari's script-set expiry limit. Browser privacy rules still apply.</a:t>
                      </a:r>
                    </a:p>
                  </a:txBody>
                  <a:tcPr marL="171450" marR="171450" marT="114300" marB="114300" anchor="ctr">
                    <a:solidFill>
                      <a:srgbClr val="19191C"/>
                    </a:solidFill>
                  </a:tcPr>
                </a:tc>
              </a:tr>
              <a:tr h="914400">
                <a:tc>
                  <a:txBody>
                    <a:bodyPr wrap="square">
                      <a:noAutofit/>
                    </a:bodyPr>
                    <a:lstStyle/>
                    <a:p>
                      <a:pPr algn="l"/>
                      <a:r>
                        <a:rPr sz="2250" b="1">
                          <a:solidFill>
                            <a:srgbClr val="FFB8E9"/>
                          </a:solidFill>
                          <a:latin typeface="Bricolage Grotesque"/>
                          <a:ea typeface="Bricolage Grotesque"/>
                          <a:cs typeface="Bricolage Grotesque"/>
                        </a:rPr>
                        <a:t>Persistence</a:t>
                      </a:r>
                    </a:p>
                  </a:txBody>
                  <a:tcPr marL="171450" marR="171450" marT="114300" marB="114300" anchor="ctr">
                    <a:solidFill>
                      <a:srgbClr val="151518"/>
                    </a:solidFill>
                  </a:tcPr>
                </a:tc>
                <a:tc>
                  <a:txBody>
                    <a:bodyPr wrap="square">
                      <a:noAutofit/>
                    </a:bodyPr>
                    <a:lstStyle/>
                    <a:p>
                      <a:pPr algn="l"/>
                      <a:r>
                        <a:rPr sz="2250" b="0">
                          <a:solidFill>
                            <a:srgbClr val="D2D0D6"/>
                          </a:solidFill>
                          <a:latin typeface="Inter"/>
                          <a:ea typeface="Inter"/>
                          <a:cs typeface="Inter"/>
                        </a:rPr>
                        <a:t>Persist to KV keyed by device ID without blocking the response, or POST to an extension of their existing /api/user/ad-click-ids. Signup-merge logic ships as runnable code.</a:t>
                      </a:r>
                    </a:p>
                  </a:txBody>
                  <a:tcPr marL="171450" marR="171450" marT="114300" marB="114300" anchor="ctr">
                    <a:solidFill>
                      <a:srgbClr val="151518"/>
                    </a:solidFill>
                  </a:tcPr>
                </a:tc>
              </a:tr>
              <a:tr h="1257300">
                <a:tc>
                  <a:txBody>
                    <a:bodyPr wrap="square">
                      <a:noAutofit/>
                    </a:bodyPr>
                    <a:lstStyle/>
                    <a:p>
                      <a:pPr algn="l"/>
                      <a:r>
                        <a:rPr sz="2250" b="1">
                          <a:solidFill>
                            <a:srgbClr val="FFB8E9"/>
                          </a:solidFill>
                          <a:latin typeface="Bricolage Grotesque"/>
                          <a:ea typeface="Bricolage Grotesque"/>
                          <a:cs typeface="Bricolage Grotesque"/>
                        </a:rPr>
                        <a:t>In-app handoff</a:t>
                      </a:r>
                    </a:p>
                  </a:txBody>
                  <a:tcPr marL="171450" marR="171450" marT="114300" marB="114300" anchor="ctr">
                    <a:solidFill>
                      <a:srgbClr val="19191C"/>
                    </a:solidFill>
                  </a:tcPr>
                </a:tc>
                <a:tc>
                  <a:txBody>
                    <a:bodyPr wrap="square">
                      <a:noAutofit/>
                    </a:bodyPr>
                    <a:lstStyle/>
                    <a:p>
                      <a:pPr algn="l"/>
                      <a:r>
                        <a:rPr sz="2250" b="0">
                          <a:solidFill>
                            <a:srgbClr val="D2D0D6"/>
                          </a:solidFill>
                          <a:latin typeface="Inter"/>
                          <a:ea typeface="Inter"/>
                          <a:cs typeface="Inter"/>
                        </a:rPr>
                        <a:t>POST /api/attribution/handoff creates a single-use 30-minute token holding only allow-listed params and a same-origin path. Credential-looking paths are refused. GET /r/:token restores cookies in the external browser (D10).</a:t>
                      </a:r>
                    </a:p>
                  </a:txBody>
                  <a:tcPr marL="171450" marR="171450" marT="114300" marB="114300" anchor="ctr">
                    <a:solidFill>
                      <a:srgbClr val="19191C"/>
                    </a:solidFill>
                  </a:tcPr>
                </a:tc>
              </a:tr>
              <a:tr h="914400">
                <a:tc>
                  <a:txBody>
                    <a:bodyPr wrap="square">
                      <a:noAutofit/>
                    </a:bodyPr>
                    <a:lstStyle/>
                    <a:p>
                      <a:pPr algn="l"/>
                      <a:r>
                        <a:rPr sz="2250" b="1">
                          <a:solidFill>
                            <a:srgbClr val="FFB8E9"/>
                          </a:solidFill>
                          <a:latin typeface="Bricolage Grotesque"/>
                          <a:ea typeface="Bricolage Grotesque"/>
                          <a:cs typeface="Bricolage Grotesque"/>
                        </a:rPr>
                        <a:t>Consent</a:t>
                      </a:r>
                    </a:p>
                  </a:txBody>
                  <a:tcPr marL="171450" marR="171450" marT="114300" marB="114300" anchor="ctr">
                    <a:solidFill>
                      <a:srgbClr val="151518"/>
                    </a:solidFill>
                  </a:tcPr>
                </a:tc>
                <a:tc>
                  <a:txBody>
                    <a:bodyPr wrap="square">
                      <a:noAutofit/>
                    </a:bodyPr>
                    <a:lstStyle/>
                    <a:p>
                      <a:pPr algn="l"/>
                      <a:r>
                        <a:rPr sz="2250" b="0">
                          <a:solidFill>
                            <a:srgbClr val="D2D0D6"/>
                          </a:solidFill>
                          <a:latin typeface="Inter"/>
                          <a:ea typeface="Inter"/>
                          <a:cs typeface="Inter"/>
                        </a:rPr>
                        <a:t>Outside EEA/UK/CH, eligible unless GPC, a US opt-out or an explicit denial applies. Inside EEA/UK/CH, advertising storage needs an explicit grant.</a:t>
                      </a:r>
                    </a:p>
                  </a:txBody>
                  <a:tcPr marL="171450" marR="171450" marT="114300" marB="114300" anchor="ctr">
                    <a:solidFill>
                      <a:srgbClr val="151518"/>
                    </a:solidFill>
                  </a:tcPr>
                </a:tc>
              </a:tr>
              <a:tr h="914400">
                <a:tc>
                  <a:txBody>
                    <a:bodyPr wrap="square">
                      <a:noAutofit/>
                    </a:bodyPr>
                    <a:lstStyle/>
                    <a:p>
                      <a:pPr algn="l"/>
                      <a:r>
                        <a:rPr sz="2250" b="1">
                          <a:solidFill>
                            <a:srgbClr val="FFB8E9"/>
                          </a:solidFill>
                          <a:latin typeface="Bricolage Grotesque"/>
                          <a:ea typeface="Bricolage Grotesque"/>
                          <a:cs typeface="Bricolage Grotesque"/>
                        </a:rPr>
                        <a:t>Blocked users</a:t>
                      </a:r>
                    </a:p>
                  </a:txBody>
                  <a:tcPr marL="171450" marR="171450" marT="114300" marB="114300" anchor="ctr">
                    <a:solidFill>
                      <a:srgbClr val="19191C"/>
                    </a:solidFill>
                  </a:tcPr>
                </a:tc>
                <a:tc>
                  <a:txBody>
                    <a:bodyPr wrap="square">
                      <a:noAutofit/>
                    </a:bodyPr>
                    <a:lstStyle/>
                    <a:p>
                      <a:pPr algn="l"/>
                      <a:r>
                        <a:rPr sz="2250" b="0">
                          <a:solidFill>
                            <a:srgbClr val="D2D0D6"/>
                          </a:solidFill>
                          <a:latin typeface="Inter"/>
                          <a:ea typeface="Inter"/>
                          <a:cs typeface="Inter"/>
                        </a:rPr>
                        <a:t>On a uBlock-stripped landing, save UTMs and surviving IDs. Together with hashed-email server conversions, these support attribution of blocked users at campaign level.</a:t>
                      </a:r>
                    </a:p>
                  </a:txBody>
                  <a:tcPr marL="171450" marR="171450" marT="114300" marB="114300" anchor="ctr">
                    <a:solidFill>
                      <a:srgbClr val="19191C"/>
                    </a:solidFill>
                  </a:tcPr>
                </a:tc>
              </a:tr>
              <a:tr h="914400">
                <a:tc>
                  <a:txBody>
                    <a:bodyPr wrap="square">
                      <a:noAutofit/>
                    </a:bodyPr>
                    <a:lstStyle/>
                    <a:p>
                      <a:pPr algn="l"/>
                      <a:r>
                        <a:rPr sz="2250" b="1">
                          <a:solidFill>
                            <a:srgbClr val="FFB8E9"/>
                          </a:solidFill>
                          <a:latin typeface="Bricolage Grotesque"/>
                          <a:ea typeface="Bricolage Grotesque"/>
                          <a:cs typeface="Bricolage Grotesque"/>
                        </a:rPr>
                        <a:t>Parity + security</a:t>
                      </a:r>
                    </a:p>
                  </a:txBody>
                  <a:tcPr marL="171450" marR="171450" marT="114300" marB="114300" anchor="ctr">
                    <a:solidFill>
                      <a:srgbClr val="151518"/>
                    </a:solidFill>
                  </a:tcPr>
                </a:tc>
                <a:tc>
                  <a:txBody>
                    <a:bodyPr wrap="square">
                      <a:noAutofit/>
                    </a:bodyPr>
                    <a:lstStyle/>
                    <a:p>
                      <a:pPr algn="l"/>
                      <a:r>
                        <a:rPr sz="2250" b="0">
                          <a:solidFill>
                            <a:srgbClr val="D2D0D6"/>
                          </a:solidFill>
                          <a:latin typeface="Inter"/>
                          <a:ea typeface="Inter"/>
                          <a:cs typeface="Inter"/>
                        </a:rPr>
                        <a:t>dist/edge-sim.js is byte-consistent with the Worker for Ned the Salmon. Security review fixed a ReDoS in bot detection and a forged-device-ID path. All 45 hand-broken rules were caught.</a:t>
                      </a:r>
                    </a:p>
                  </a:txBody>
                  <a:tcPr marL="171450" marR="171450" marT="114300" marB="114300" anchor="ctr">
                    <a:solidFill>
                      <a:srgbClr val="151518"/>
                    </a:solidFill>
                  </a:tcPr>
                </a:tc>
              </a:tr>
            </a:tbl>
          </a:graphicData>
        </a:graphic>
      </p:graphicFrame>
    </p:spTree>
    <p:extLst>
      <p:ext uri="{BB962C8B-B14F-4D97-AF65-F5344CB8AC3E}">
        <p14:creationId xmlns:p14="http://schemas.microsoft.com/office/powerpoint/2010/main" val="680130833"/>
      </p:ext>
    </p:extLst>
  </p:cSld>
</p:sld>
</file>

<file path=ppt/slides/slide5.xml><?xml version="1.0" encoding="utf-8"?>
<p:sld xmlns:p="http://schemas.openxmlformats.org/presentationml/2006/main">
  <p:cSld>
    <p:bg>
      <p:bgPr>
        <a:gradFill xmlns:a="http://schemas.openxmlformats.org/drawingml/2006/main">
          <a:gsLst>
            <a:gs pos="0">
              <a:srgbClr val="100D11"/>
            </a:gs>
            <a:gs pos="100000">
              <a:srgbClr val="09090B"/>
            </a:gs>
          </a:gsLst>
          <a:lin ang="2700000"/>
        </a:gradFill>
      </p:bgPr>
    </p:bg>
    <p:spTree>
      <p:nvGrpSpPr>
        <p:cNvPr id="1" name=""/>
        <p:cNvGrpSpPr/>
        <p:nvPr/>
      </p:nvGrpSpPr>
      <p:grpSpPr>
        <a:xfrm xmlns:a="http://schemas.openxmlformats.org/drawingml/2006/main"/>
      </p:grpSpPr>
      <p:pic>
        <p:nvPicPr>
          <p:cNvPr id="49" name="">
            <a:extLst xmlns:a="http://schemas.openxmlformats.org/drawingml/2006/main">
              <a:ext uri="{FF2B5EF4-FFF2-40B4-BE49-F238E27FC236}">
                <a16:creationId xmlns:a16="http://schemas.microsoft.com/office/drawing/2014/main" id="{348370AE-04B5-4B5A-849D-33FD676919D1}"/>
              </a:ext>
            </a:extLst>
          </p:cNvPr>
          <p:cNvPicPr>
            <a:picLocks xmlns:a="http://schemas.openxmlformats.org/drawingml/2006/main" noChangeAspect="1"/>
          </p:cNvPicPr>
          <p:nvPr/>
        </p:nvPicPr>
        <p:blipFill>
          <a:blip xmlns:r="http://schemas.openxmlformats.org/officeDocument/2006/relationships" xmlns:a="http://schemas.openxmlformats.org/drawingml/2006/main" r:embed="Rb22575a4a70f41f3">
            <a:extLst>
              <a:ext uri="{96DAC541-7B7A-43D3-8B79-37D633B846F1}">
                <asvg:svgBlip xmlns:asvg="http://schemas.microsoft.com/office/drawing/2016/SVG/main" r:embed="R8fe650d191734f4e"/>
              </a:ext>
            </a:extLst>
          </a:blip>
          <a:stretch xmlns:a="http://schemas.openxmlformats.org/drawingml/2006/main"/>
        </p:blipFill>
        <p:spPr>
          <a:xfrm xmlns:a="http://schemas.openxmlformats.org/drawingml/2006/main">
            <a:off x="666750" y="428625"/>
            <a:ext cx="2152650" cy="361950"/>
          </a:xfrm>
          <a:prstGeom xmlns:a="http://schemas.openxmlformats.org/drawingml/2006/main" prst="rect">
            <a:avLst/>
          </a:prstGeom>
        </p:spPr>
      </p:pic>
      <p:sp>
        <p:nvSpPr>
          <p:cNvPr id="2" name="text-68">
            <a:extLst xmlns:a="http://schemas.openxmlformats.org/drawingml/2006/main">
              <a:ext uri="{FF2B5EF4-FFF2-40B4-BE49-F238E27FC236}">
                <a16:creationId xmlns:a16="http://schemas.microsoft.com/office/drawing/2014/main" id="{FAC566D9-649D-4C3B-9852-9D79D9725ADC}"/>
              </a:ext>
            </a:extLst>
          </p:cNvPr>
          <p:cNvSpPr>
            <a:spLocks xmlns:a="http://schemas.openxmlformats.org/drawingml/2006/main" noGrp="1"/>
          </p:cNvSpPr>
          <p:nvPr/>
        </p:nvSpPr>
        <p:spPr>
          <a:xfrm xmlns:a="http://schemas.openxmlformats.org/drawingml/2006/main">
            <a:off x="3095625" y="42862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AAA7AF"/>
                </a:solidFill>
                <a:latin typeface="Inter"/>
                <a:ea typeface="Inter"/>
                <a:cs typeface="Inter"/>
              </a:defRPr>
            </a:pPr>
            <a:r>
              <a:rPr sz="1950" b="0">
                <a:solidFill>
                  <a:srgbClr val="AAA7AF"/>
                </a:solidFill>
                <a:latin typeface="Inter"/>
                <a:ea typeface="Inter"/>
                <a:cs typeface="Inter"/>
              </a:rPr>
              <a:t>What we made</a:t>
            </a:r>
          </a:p>
        </p:txBody>
      </p:sp>
      <p:sp>
        <p:nvSpPr>
          <p:cNvPr id="3" name="">
            <a:extLst xmlns:a="http://schemas.openxmlformats.org/drawingml/2006/main">
              <a:ext uri="{FF2B5EF4-FFF2-40B4-BE49-F238E27FC236}">
                <a16:creationId xmlns:a16="http://schemas.microsoft.com/office/drawing/2014/main" id="{6FCC9A09-55C9-4D7E-B67B-DB194FE7F455}"/>
              </a:ext>
            </a:extLst>
          </p:cNvPr>
          <p:cNvSpPr>
            <a:spLocks xmlns:a="http://schemas.openxmlformats.org/drawingml/2006/main" noGrp="1"/>
          </p:cNvSpPr>
          <p:nvPr/>
        </p:nvSpPr>
        <p:spPr>
          <a:xfrm xmlns:a="http://schemas.openxmlformats.org/drawingml/2006/main">
            <a:off x="16363950" y="381000"/>
            <a:ext cx="1257300" cy="457200"/>
          </a:xfrm>
          <a:prstGeom xmlns:a="http://schemas.openxmlformats.org/drawingml/2006/main" prst="roundRect">
            <a:avLst>
              <a:gd name="adj" fmla="val 50000"/>
            </a:avLst>
          </a:prstGeom>
          <a:gradFill xmlns:a="http://schemas.openxmlformats.org/drawingml/2006/main">
            <a:gsLst>
              <a:gs pos="0">
                <a:srgbClr val="FFB8E9"/>
              </a:gs>
              <a:gs pos="100000">
                <a:srgbClr val="FF00BC"/>
              </a:gs>
            </a:gsLst>
            <a:lin ang="0"/>
          </a:gradFill>
          <a:ln xmlns:a="http://schemas.openxmlformats.org/drawingml/2006/main" w="0">
            <a:noFill/>
          </a:ln>
        </p:spPr>
      </p:sp>
      <p:sp>
        <p:nvSpPr>
          <p:cNvPr id="4" name="text-69">
            <a:extLst xmlns:a="http://schemas.openxmlformats.org/drawingml/2006/main">
              <a:ext uri="{FF2B5EF4-FFF2-40B4-BE49-F238E27FC236}">
                <a16:creationId xmlns:a16="http://schemas.microsoft.com/office/drawing/2014/main" id="{845CE44C-B18B-4D01-A11D-601E691E6F2B}"/>
              </a:ext>
            </a:extLst>
          </p:cNvPr>
          <p:cNvSpPr>
            <a:spLocks xmlns:a="http://schemas.openxmlformats.org/drawingml/2006/main" noGrp="1"/>
          </p:cNvSpPr>
          <p:nvPr/>
        </p:nvSpPr>
        <p:spPr>
          <a:xfrm xmlns:a="http://schemas.openxmlformats.org/drawingml/2006/main">
            <a:off x="16535400" y="457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EBEBEB"/>
                </a:solidFill>
                <a:latin typeface="Inter"/>
                <a:ea typeface="Inter"/>
                <a:cs typeface="Inter"/>
              </a:defRPr>
            </a:pPr>
            <a:r>
              <a:rPr sz="1800" b="1">
                <a:solidFill>
                  <a:srgbClr val="EBEBEB"/>
                </a:solidFill>
                <a:latin typeface="Inter"/>
                <a:ea typeface="Inter"/>
                <a:cs typeface="Inter"/>
              </a:rPr>
              <a:t>05 / 10</a:t>
            </a:r>
          </a:p>
        </p:txBody>
      </p:sp>
      <p:sp>
        <p:nvSpPr>
          <p:cNvPr id="5" name="">
            <a:extLst xmlns:a="http://schemas.openxmlformats.org/drawingml/2006/main">
              <a:ext uri="{FF2B5EF4-FFF2-40B4-BE49-F238E27FC236}">
                <a16:creationId xmlns:a16="http://schemas.microsoft.com/office/drawing/2014/main" id="{3B844AA5-B1EA-4864-BE7F-F68B4D4F514D}"/>
              </a:ext>
            </a:extLst>
          </p:cNvPr>
          <p:cNvSpPr>
            <a:spLocks xmlns:a="http://schemas.openxmlformats.org/drawingml/2006/main" noGrp="1"/>
          </p:cNvSpPr>
          <p:nvPr/>
        </p:nvSpPr>
        <p:spPr>
          <a:xfrm xmlns:a="http://schemas.openxmlformats.org/drawingml/2006/main">
            <a:off x="666750" y="1000125"/>
            <a:ext cx="16954500" cy="0"/>
          </a:xfrm>
          <a:prstGeom xmlns:a="http://schemas.openxmlformats.org/drawingml/2006/main" prst="line">
            <a:avLst/>
          </a:prstGeom>
          <a:noFill xmlns:a="http://schemas.openxmlformats.org/drawingml/2006/main"/>
          <a:ln xmlns:a="http://schemas.openxmlformats.org/drawingml/2006/main" w="9525">
            <a:solidFill>
              <a:srgbClr val="29262D"/>
            </a:solidFill>
          </a:ln>
        </p:spPr>
      </p:sp>
      <p:sp>
        <p:nvSpPr>
          <p:cNvPr id="6" name="text-70">
            <a:extLst xmlns:a="http://schemas.openxmlformats.org/drawingml/2006/main">
              <a:ext uri="{FF2B5EF4-FFF2-40B4-BE49-F238E27FC236}">
                <a16:creationId xmlns:a16="http://schemas.microsoft.com/office/drawing/2014/main" id="{B720901E-7ED1-4EE6-BB50-8EE7FB7A50CC}"/>
              </a:ext>
            </a:extLst>
          </p:cNvPr>
          <p:cNvSpPr>
            <a:spLocks xmlns:a="http://schemas.openxmlformats.org/drawingml/2006/main" noGrp="1"/>
          </p:cNvSpPr>
          <p:nvPr/>
        </p:nvSpPr>
        <p:spPr>
          <a:xfrm xmlns:a="http://schemas.openxmlformats.org/drawingml/2006/main">
            <a:off x="666750" y="1323975"/>
            <a:ext cx="1381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EBEBEB"/>
                </a:solidFill>
                <a:latin typeface="Bricolage Grotesque"/>
                <a:ea typeface="Bricolage Grotesque"/>
                <a:cs typeface="Bricolage Grotesque"/>
              </a:defRPr>
            </a:pPr>
            <a:r>
              <a:rPr sz="5700" b="1">
                <a:solidFill>
                  <a:srgbClr val="EBEBEB"/>
                </a:solidFill>
                <a:latin typeface="Bricolage Grotesque"/>
                <a:ea typeface="Bricolage Grotesque"/>
                <a:cs typeface="Bricolage Grotesque"/>
              </a:rPr>
              <a:t>Contracts</a:t>
            </a:r>
          </a:p>
        </p:txBody>
      </p:sp>
      <p:sp>
        <p:nvSpPr>
          <p:cNvPr id="8" name="text-72">
            <a:extLst xmlns:a="http://schemas.openxmlformats.org/drawingml/2006/main">
              <a:ext uri="{FF2B5EF4-FFF2-40B4-BE49-F238E27FC236}">
                <a16:creationId xmlns:a16="http://schemas.microsoft.com/office/drawing/2014/main" id="{959D5661-3FB6-4909-8BA4-0239203015DC}"/>
              </a:ext>
            </a:extLst>
          </p:cNvPr>
          <p:cNvSpPr>
            <a:spLocks xmlns:a="http://schemas.openxmlformats.org/drawingml/2006/main" noGrp="1"/>
          </p:cNvSpPr>
          <p:nvPr/>
        </p:nvSpPr>
        <p:spPr>
          <a:xfrm xmlns:a="http://schemas.openxmlformats.org/drawingml/2006/main">
            <a:off x="685800" y="9744075"/>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AAA7AF"/>
                </a:solidFill>
                <a:latin typeface="Geist Mono"/>
                <a:ea typeface="Geist Mono"/>
                <a:cs typeface="Geist Mono"/>
              </a:defRPr>
            </a:pPr>
            <a:r>
              <a:rPr sz="1650" b="0">
                <a:solidFill>
                  <a:srgbClr val="AAA7AF"/>
                </a:solidFill>
                <a:latin typeface="Geist Mono"/>
                <a:ea typeface="Geist Mono"/>
                <a:cs typeface="Geist Mono"/>
              </a:rPr>
              <a:t>packages/contracts</a:t>
            </a:r>
          </a:p>
        </p:txBody>
      </p:sp>
      <p:sp>
        <p:nvSpPr>
          <p:cNvPr id="9" name="text-73">
            <a:extLst xmlns:a="http://schemas.openxmlformats.org/drawingml/2006/main">
              <a:ext uri="{FF2B5EF4-FFF2-40B4-BE49-F238E27FC236}">
                <a16:creationId xmlns:a16="http://schemas.microsoft.com/office/drawing/2014/main" id="{9F64C891-D79A-480B-A992-27021A06CAE1}"/>
              </a:ext>
            </a:extLst>
          </p:cNvPr>
          <p:cNvSpPr>
            <a:spLocks xmlns:a="http://schemas.openxmlformats.org/drawingml/2006/main" noGrp="1"/>
          </p:cNvSpPr>
          <p:nvPr/>
        </p:nvSpPr>
        <p:spPr>
          <a:xfrm xmlns:a="http://schemas.openxmlformats.org/drawingml/2006/main">
            <a:off x="13620750" y="97440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725" b="0">
                <a:solidFill>
                  <a:srgbClr val="AAA7AF"/>
                </a:solidFill>
                <a:latin typeface="Inter"/>
                <a:ea typeface="Inter"/>
                <a:cs typeface="Inter"/>
              </a:defRPr>
            </a:pPr>
            <a:r>
              <a:rPr sz="1725" b="0">
                <a:solidFill>
                  <a:srgbClr val="AAA7AF"/>
                </a:solidFill>
                <a:latin typeface="Inter"/>
                <a:ea typeface="Inter"/>
                <a:cs typeface="Inter"/>
              </a:rPr>
              <a:t>95 tests</a:t>
            </a:r>
          </a:p>
        </p:txBody>
      </p:sp>
      <p:sp>
        <p:nvSpPr>
          <p:cNvPr id="50" name="contracts-description">
            <a:extLst xmlns:a="http://schemas.openxmlformats.org/drawingml/2006/main">
              <a:ext uri="{FF2B5EF4-FFF2-40B4-BE49-F238E27FC236}">
                <a16:creationId xmlns:a16="http://schemas.microsoft.com/office/drawing/2014/main" id="{4855E0E7-AF3C-4587-B022-5B2305306F09}"/>
              </a:ext>
            </a:extLst>
          </p:cNvPr>
          <p:cNvSpPr>
            <a:spLocks xmlns:a="http://schemas.openxmlformats.org/drawingml/2006/main" noGrp="1"/>
          </p:cNvSpPr>
          <p:nvPr/>
        </p:nvSpPr>
        <p:spPr>
          <a:xfrm xmlns:a="http://schemas.openxmlformats.org/drawingml/2006/main">
            <a:off x="695325" y="2305050"/>
            <a:ext cx="1662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400">
                <a:solidFill>
                  <a:srgbClr val="D2D0D6"/>
                </a:solidFill>
                <a:latin typeface="Inter"/>
                <a:ea typeface="Inter"/>
                <a:cs typeface="Inter"/>
              </a:defRPr>
            </a:defPPr>
          </a:lstStyle>
          <a:p xmlns:a="http://schemas.openxmlformats.org/drawingml/2006/main">
            <a:pPr algn="l">
              <a:defRPr sz="2400">
                <a:solidFill>
                  <a:srgbClr val="D2D0D6"/>
                </a:solidFill>
                <a:latin typeface="Inter"/>
                <a:ea typeface="Inter"/>
                <a:cs typeface="Inter"/>
              </a:defRPr>
            </a:pPr>
            <a:r>
              <a:rPr sz="2400">
                <a:solidFill>
                  <a:srgbClr val="D2D0D6"/>
                </a:solidFill>
                <a:latin typeface="Inter"/>
                <a:ea typeface="Inter"/>
                <a:cs typeface="Inter"/>
              </a:rPr>
              <a:t>The shared foundation for events, IDs, consent and scoring</a:t>
            </a:r>
          </a:p>
        </p:txBody>
      </p:sp>
      <p:graphicFrame>
        <p:nvGraphicFramePr>
          <p:cNvPr id="51" name="">
            <a:extLst xmlns:a="http://schemas.openxmlformats.org/drawingml/2006/main">
              <a:ext uri="{FF2B5EF4-FFF2-40B4-BE49-F238E27FC236}">
                <a16:creationId xmlns:a16="http://schemas.microsoft.com/office/drawing/2014/main" id="{EF3E51B2-4B72-4267-A448-38112B8F7593}"/>
              </a:ext>
            </a:extLst>
          </p:cNvPr>
          <p:cNvGraphicFramePr/>
          <p:nvPr/>
        </p:nvGraphicFramePr>
        <p:xfrm>
          <a:off xmlns:a="http://schemas.openxmlformats.org/drawingml/2006/main" x="666750" y="2914650"/>
          <a:ext xmlns:a="http://schemas.openxmlformats.org/drawingml/2006/main" cx="16954500" cy="6172200"/>
        </p:xfrm>
        <a:graphic xmlns:a="http://schemas.openxmlformats.org/drawingml/2006/main">
          <a:graphicData uri="http://schemas.openxmlformats.org/drawingml/2006/table">
            <a:tbl>
              <a:tblPr/>
              <a:tblGrid>
                <a:gridCol w="2457450"/>
                <a:gridCol w="14497050"/>
              </a:tblGrid>
              <a:tr h="1600200">
                <a:tc>
                  <a:txBody>
                    <a:bodyPr wrap="square">
                      <a:noAutofit/>
                    </a:bodyPr>
                    <a:lstStyle/>
                    <a:p>
                      <a:pPr algn="l"/>
                      <a:r>
                        <a:rPr sz="2250" b="1">
                          <a:solidFill>
                            <a:srgbClr val="FFB8E9"/>
                          </a:solidFill>
                          <a:latin typeface="Bricolage Grotesque"/>
                          <a:ea typeface="Bricolage Grotesque"/>
                          <a:cs typeface="Bricolage Grotesque"/>
                        </a:rPr>
                        <a:t>Canonical events</a:t>
                      </a:r>
                    </a:p>
                  </a:txBody>
                  <a:tcPr marL="171450" marR="171450" marT="114300" marB="114300" anchor="ctr">
                    <a:solidFill>
                      <a:srgbClr val="19191C"/>
                    </a:solidFill>
                  </a:tcPr>
                </a:tc>
                <a:tc>
                  <a:txBody>
                    <a:bodyPr wrap="square">
                      <a:noAutofit/>
                    </a:bodyPr>
                    <a:lstStyle/>
                    <a:p>
                      <a:pPr algn="l"/>
                      <a:r>
                        <a:rPr sz="2250" b="0">
                          <a:solidFill>
                            <a:srgbClr val="D2D0D6"/>
                          </a:solidFill>
                          <a:latin typeface="Inter"/>
                          <a:ea typeface="Inter"/>
                          <a:cs typeface="Inter"/>
                        </a:rPr>
                        <a:t>12 canonical events: signup, activation_first_generation, checkout_started, purchase_first, purchase_renewal, purchase_upgrade, purchase_add_on, purchase_one_time_pack, refund, chargeback, enterprise_lead and lead_stage_change. JSON Schema, TypeScript types and zod validators include a compile-time drift guard.</a:t>
                      </a:r>
                    </a:p>
                  </a:txBody>
                  <a:tcPr marL="171450" marR="171450" marT="114300" marB="114300" anchor="ctr">
                    <a:solidFill>
                      <a:srgbClr val="19191C"/>
                    </a:solidFill>
                  </a:tcPr>
                </a:tc>
              </a:tr>
              <a:tr h="914400">
                <a:tc>
                  <a:txBody>
                    <a:bodyPr wrap="square">
                      <a:noAutofit/>
                    </a:bodyPr>
                    <a:lstStyle/>
                    <a:p>
                      <a:pPr algn="l"/>
                      <a:r>
                        <a:rPr sz="2250" b="1">
                          <a:solidFill>
                            <a:srgbClr val="FFB8E9"/>
                          </a:solidFill>
                          <a:latin typeface="Bricolage Grotesque"/>
                          <a:ea typeface="Bricolage Grotesque"/>
                          <a:cs typeface="Bricolage Grotesque"/>
                        </a:rPr>
                        <a:t>IDs + hashing</a:t>
                      </a:r>
                    </a:p>
                  </a:txBody>
                  <a:tcPr marL="171450" marR="171450" marT="114300" marB="114300" anchor="ctr">
                    <a:solidFill>
                      <a:srgbClr val="151518"/>
                    </a:solidFill>
                  </a:tcPr>
                </a:tc>
                <a:tc>
                  <a:txBody>
                    <a:bodyPr wrap="square">
                      <a:noAutofit/>
                    </a:bodyPr>
                    <a:lstStyle/>
                    <a:p>
                      <a:pPr algn="l"/>
                      <a:r>
                        <a:rPr sz="2250" b="0">
                          <a:solidFill>
                            <a:srgbClr val="D2D0D6"/>
                          </a:solidFill>
                          <a:latin typeface="Inter"/>
                          <a:ea typeface="Inter"/>
                          <a:cs typeface="Inter"/>
                        </a:rPr>
                        <a:t>Reuse the browser's exact IDs: reg_&lt;uid&gt;, purchase_&lt;invoiceId&gt;, sub_&lt;invoiceId&gt;, and Reddit's SHA-256 of the ID. Per-platform hashing verified on 3,305 cases.</a:t>
                      </a:r>
                    </a:p>
                  </a:txBody>
                  <a:tcPr marL="171450" marR="171450" marT="114300" marB="114300" anchor="ctr">
                    <a:solidFill>
                      <a:srgbClr val="151518"/>
                    </a:solidFill>
                  </a:tcPr>
                </a:tc>
              </a:tr>
              <a:tr h="914400">
                <a:tc>
                  <a:txBody>
                    <a:bodyPr wrap="square">
                      <a:noAutofit/>
                    </a:bodyPr>
                    <a:lstStyle/>
                    <a:p>
                      <a:pPr algn="l"/>
                      <a:r>
                        <a:rPr sz="2250" b="1">
                          <a:solidFill>
                            <a:srgbClr val="FFB8E9"/>
                          </a:solidFill>
                          <a:latin typeface="Bricolage Grotesque"/>
                          <a:ea typeface="Bricolage Grotesque"/>
                          <a:cs typeface="Bricolage Grotesque"/>
                        </a:rPr>
                        <a:t>Platform mapping</a:t>
                      </a:r>
                    </a:p>
                  </a:txBody>
                  <a:tcPr marL="171450" marR="171450" marT="114300" marB="114300" anchor="ctr">
                    <a:solidFill>
                      <a:srgbClr val="19191C"/>
                    </a:solidFill>
                  </a:tcPr>
                </a:tc>
                <a:tc>
                  <a:txBody>
                    <a:bodyPr wrap="square">
                      <a:noAutofit/>
                    </a:bodyPr>
                    <a:lstStyle/>
                    <a:p>
                      <a:pPr algn="l"/>
                      <a:r>
                        <a:rPr sz="2250" b="0">
                          <a:solidFill>
                            <a:srgbClr val="D2D0D6"/>
                          </a:solidFill>
                          <a:latin typeface="Inter"/>
                          <a:ea typeface="Inter"/>
                          <a:cs typeface="Inter"/>
                        </a:rPr>
                        <a:t>An 84-row event mapping per platform with requires_web_fix flags.</a:t>
                      </a:r>
                    </a:p>
                  </a:txBody>
                  <a:tcPr marL="171450" marR="171450" marT="114300" marB="114300" anchor="ctr">
                    <a:solidFill>
                      <a:srgbClr val="19191C"/>
                    </a:solidFill>
                  </a:tcPr>
                </a:tc>
              </a:tr>
              <a:tr h="914400">
                <a:tc>
                  <a:txBody>
                    <a:bodyPr wrap="square">
                      <a:noAutofit/>
                    </a:bodyPr>
                    <a:lstStyle/>
                    <a:p>
                      <a:pPr algn="l"/>
                      <a:r>
                        <a:rPr sz="2250" b="1">
                          <a:solidFill>
                            <a:srgbClr val="FFB8E9"/>
                          </a:solidFill>
                          <a:latin typeface="Bricolage Grotesque"/>
                          <a:ea typeface="Bricolage Grotesque"/>
                          <a:cs typeface="Bricolage Grotesque"/>
                        </a:rPr>
                        <a:t>Consent + scoring</a:t>
                      </a:r>
                    </a:p>
                  </a:txBody>
                  <a:tcPr marL="171450" marR="171450" marT="114300" marB="114300" anchor="ctr">
                    <a:solidFill>
                      <a:srgbClr val="151518"/>
                    </a:solidFill>
                  </a:tcPr>
                </a:tc>
                <a:tc>
                  <a:txBody>
                    <a:bodyPr wrap="square">
                      <a:noAutofit/>
                    </a:bodyPr>
                    <a:lstStyle/>
                    <a:p>
                      <a:pPr algn="l"/>
                      <a:r>
                        <a:rPr sz="2250" b="0">
                          <a:solidFill>
                            <a:srgbClr val="D2D0D6"/>
                          </a:solidFill>
                          <a:latin typeface="Inter"/>
                          <a:ea typeface="Inter"/>
                          <a:cs typeface="Inter"/>
                        </a:rPr>
                        <a:t>The consent region list and GPC/opt-out fields. The PurchaseValueScore contract.</a:t>
                      </a:r>
                    </a:p>
                  </a:txBody>
                  <a:tcPr marL="171450" marR="171450" marT="114300" marB="114300" anchor="ctr">
                    <a:solidFill>
                      <a:srgbClr val="151518"/>
                    </a:solidFill>
                  </a:tcPr>
                </a:tc>
              </a:tr>
              <a:tr h="914400">
                <a:tc>
                  <a:txBody>
                    <a:bodyPr wrap="square">
                      <a:noAutofit/>
                    </a:bodyPr>
                    <a:lstStyle/>
                    <a:p>
                      <a:pPr algn="l"/>
                      <a:r>
                        <a:rPr sz="2250" b="1">
                          <a:solidFill>
                            <a:srgbClr val="FFB8E9"/>
                          </a:solidFill>
                          <a:latin typeface="Bricolage Grotesque"/>
                          <a:ea typeface="Bricolage Grotesque"/>
                          <a:cs typeface="Bricolage Grotesque"/>
                        </a:rPr>
                        <a:t>Source schemas</a:t>
                      </a:r>
                    </a:p>
                  </a:txBody>
                  <a:tcPr marL="171450" marR="171450" marT="114300" marB="114300" anchor="ctr">
                    <a:solidFill>
                      <a:srgbClr val="19191C"/>
                    </a:solidFill>
                  </a:tcPr>
                </a:tc>
                <a:tc>
                  <a:txBody>
                    <a:bodyPr wrap="square">
                      <a:noAutofit/>
                    </a:bodyPr>
                    <a:lstStyle/>
                    <a:p>
                      <a:pPr algn="l"/>
                      <a:r>
                        <a:rPr sz="2250" b="0">
                          <a:solidFill>
                            <a:srgbClr val="D2D0D6"/>
                          </a:solidFill>
                          <a:latin typeface="Inter"/>
                          <a:ea typeface="Inter"/>
                          <a:cs typeface="Inter"/>
                        </a:rPr>
                        <a:t>Source schemas shaped like their real Stripe, credit-ledger and Amplitude data.</a:t>
                      </a:r>
                    </a:p>
                  </a:txBody>
                  <a:tcPr marL="171450" marR="171450" marT="114300" marB="114300" anchor="ctr">
                    <a:solidFill>
                      <a:srgbClr val="19191C"/>
                    </a:solidFill>
                  </a:tcPr>
                </a:tc>
              </a:tr>
              <a:tr h="914400">
                <a:tc>
                  <a:txBody>
                    <a:bodyPr wrap="square">
                      <a:noAutofit/>
                    </a:bodyPr>
                    <a:lstStyle/>
                    <a:p>
                      <a:pPr algn="l"/>
                      <a:r>
                        <a:rPr sz="2250" b="1">
                          <a:solidFill>
                            <a:srgbClr val="FFB8E9"/>
                          </a:solidFill>
                          <a:latin typeface="Bricolage Grotesque"/>
                          <a:ea typeface="Bricolage Grotesque"/>
                          <a:cs typeface="Bricolage Grotesque"/>
                        </a:rPr>
                        <a:t>Fixtures + costs</a:t>
                      </a:r>
                    </a:p>
                  </a:txBody>
                  <a:tcPr marL="171450" marR="171450" marT="114300" marB="114300" anchor="ctr">
                    <a:solidFill>
                      <a:srgbClr val="151518"/>
                    </a:solidFill>
                  </a:tcPr>
                </a:tc>
                <a:tc>
                  <a:txBody>
                    <a:bodyPr wrap="square">
                      <a:noAutofit/>
                    </a:bodyPr>
                    <a:lstStyle/>
                    <a:p>
                      <a:pPr algn="l"/>
                      <a:r>
                        <a:rPr sz="2250" b="0">
                          <a:solidFill>
                            <a:srgbClr val="D2D0D6"/>
                          </a:solidFill>
                          <a:latin typeface="Inter"/>
                          <a:ea typeface="Inter"/>
                          <a:cs typeface="Inter"/>
                        </a:rPr>
                        <a:t>Synthetic fixtures, 109 model costs at list price, and a deterministic 2,000-user cohort generator with labelled illustrative parameters.</a:t>
                      </a:r>
                    </a:p>
                  </a:txBody>
                  <a:tcPr marL="171450" marR="171450" marT="114300" marB="114300" anchor="ctr">
                    <a:solidFill>
                      <a:srgbClr val="151518"/>
                    </a:solidFill>
                  </a:tcPr>
                </a:tc>
              </a:tr>
            </a:tbl>
          </a:graphicData>
        </a:graphic>
      </p:graphicFrame>
    </p:spTree>
    <p:extLst>
      <p:ext uri="{BB962C8B-B14F-4D97-AF65-F5344CB8AC3E}">
        <p14:creationId xmlns:p14="http://schemas.microsoft.com/office/powerpoint/2010/main" val="1685747221"/>
      </p:ext>
    </p:extLst>
  </p:cSld>
</p:sld>
</file>

<file path=ppt/slides/slide6.xml><?xml version="1.0" encoding="utf-8"?>
<p:sld xmlns:p="http://schemas.openxmlformats.org/presentationml/2006/main">
  <p:cSld>
    <p:bg>
      <p:bgPr>
        <a:gradFill xmlns:a="http://schemas.openxmlformats.org/drawingml/2006/main">
          <a:gsLst>
            <a:gs pos="0">
              <a:srgbClr val="100D11"/>
            </a:gs>
            <a:gs pos="100000">
              <a:srgbClr val="09090B"/>
            </a:gs>
          </a:gsLst>
          <a:lin ang="2700000"/>
        </a:gradFill>
      </p:bgPr>
    </p:bg>
    <p:spTree>
      <p:nvGrpSpPr>
        <p:cNvPr id="1" name=""/>
        <p:cNvGrpSpPr/>
        <p:nvPr/>
      </p:nvGrpSpPr>
      <p:grpSpPr>
        <a:xfrm xmlns:a="http://schemas.openxmlformats.org/drawingml/2006/main"/>
      </p:grpSpPr>
      <p:pic>
        <p:nvPicPr>
          <p:cNvPr id="74" name="">
            <a:extLst xmlns:a="http://schemas.openxmlformats.org/drawingml/2006/main">
              <a:ext uri="{FF2B5EF4-FFF2-40B4-BE49-F238E27FC236}">
                <a16:creationId xmlns:a16="http://schemas.microsoft.com/office/drawing/2014/main" id="{7987B486-BBD7-4B7D-B9CE-7A626D6272BD}"/>
              </a:ext>
            </a:extLst>
          </p:cNvPr>
          <p:cNvPicPr>
            <a:picLocks xmlns:a="http://schemas.openxmlformats.org/drawingml/2006/main" noChangeAspect="1"/>
          </p:cNvPicPr>
          <p:nvPr/>
        </p:nvPicPr>
        <p:blipFill>
          <a:blip xmlns:r="http://schemas.openxmlformats.org/officeDocument/2006/relationships" xmlns:a="http://schemas.openxmlformats.org/drawingml/2006/main" r:embed="R407346b46bb54754">
            <a:extLst>
              <a:ext uri="{96DAC541-7B7A-43D3-8B79-37D633B846F1}">
                <asvg:svgBlip xmlns:asvg="http://schemas.microsoft.com/office/drawing/2016/SVG/main" r:embed="R6cfb9f3ea2ae41be"/>
              </a:ext>
            </a:extLst>
          </a:blip>
          <a:stretch xmlns:a="http://schemas.openxmlformats.org/drawingml/2006/main"/>
        </p:blipFill>
        <p:spPr>
          <a:xfrm xmlns:a="http://schemas.openxmlformats.org/drawingml/2006/main">
            <a:off x="666750" y="428625"/>
            <a:ext cx="2152650" cy="361950"/>
          </a:xfrm>
          <a:prstGeom xmlns:a="http://schemas.openxmlformats.org/drawingml/2006/main" prst="rect">
            <a:avLst/>
          </a:prstGeom>
        </p:spPr>
      </p:pic>
      <p:sp>
        <p:nvSpPr>
          <p:cNvPr id="2" name="text-88">
            <a:extLst xmlns:a="http://schemas.openxmlformats.org/drawingml/2006/main">
              <a:ext uri="{FF2B5EF4-FFF2-40B4-BE49-F238E27FC236}">
                <a16:creationId xmlns:a16="http://schemas.microsoft.com/office/drawing/2014/main" id="{7A72D87C-EF31-4928-9F51-BBC87AF714E8}"/>
              </a:ext>
            </a:extLst>
          </p:cNvPr>
          <p:cNvSpPr>
            <a:spLocks xmlns:a="http://schemas.openxmlformats.org/drawingml/2006/main" noGrp="1"/>
          </p:cNvSpPr>
          <p:nvPr/>
        </p:nvSpPr>
        <p:spPr>
          <a:xfrm xmlns:a="http://schemas.openxmlformats.org/drawingml/2006/main">
            <a:off x="3095625" y="42862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AAA7AF"/>
                </a:solidFill>
                <a:latin typeface="Inter"/>
                <a:ea typeface="Inter"/>
                <a:cs typeface="Inter"/>
              </a:defRPr>
            </a:pPr>
            <a:r>
              <a:rPr sz="1950" b="0">
                <a:solidFill>
                  <a:srgbClr val="AAA7AF"/>
                </a:solidFill>
                <a:latin typeface="Inter"/>
                <a:ea typeface="Inter"/>
                <a:cs typeface="Inter"/>
              </a:rPr>
              <a:t>What we made</a:t>
            </a:r>
          </a:p>
        </p:txBody>
      </p:sp>
      <p:sp>
        <p:nvSpPr>
          <p:cNvPr id="3" name="">
            <a:extLst xmlns:a="http://schemas.openxmlformats.org/drawingml/2006/main">
              <a:ext uri="{FF2B5EF4-FFF2-40B4-BE49-F238E27FC236}">
                <a16:creationId xmlns:a16="http://schemas.microsoft.com/office/drawing/2014/main" id="{44E6F369-2DB1-4FAB-B07B-A2481B141268}"/>
              </a:ext>
            </a:extLst>
          </p:cNvPr>
          <p:cNvSpPr>
            <a:spLocks xmlns:a="http://schemas.openxmlformats.org/drawingml/2006/main" noGrp="1"/>
          </p:cNvSpPr>
          <p:nvPr/>
        </p:nvSpPr>
        <p:spPr>
          <a:xfrm xmlns:a="http://schemas.openxmlformats.org/drawingml/2006/main">
            <a:off x="16363950" y="381000"/>
            <a:ext cx="1257300" cy="457200"/>
          </a:xfrm>
          <a:prstGeom xmlns:a="http://schemas.openxmlformats.org/drawingml/2006/main" prst="roundRect">
            <a:avLst>
              <a:gd name="adj" fmla="val 50000"/>
            </a:avLst>
          </a:prstGeom>
          <a:gradFill xmlns:a="http://schemas.openxmlformats.org/drawingml/2006/main">
            <a:gsLst>
              <a:gs pos="0">
                <a:srgbClr val="FFB8E9"/>
              </a:gs>
              <a:gs pos="100000">
                <a:srgbClr val="FF00BC"/>
              </a:gs>
            </a:gsLst>
            <a:lin ang="0"/>
          </a:gradFill>
          <a:ln xmlns:a="http://schemas.openxmlformats.org/drawingml/2006/main" w="0">
            <a:noFill/>
          </a:ln>
        </p:spPr>
      </p:sp>
      <p:sp>
        <p:nvSpPr>
          <p:cNvPr id="4" name="text-89">
            <a:extLst xmlns:a="http://schemas.openxmlformats.org/drawingml/2006/main">
              <a:ext uri="{FF2B5EF4-FFF2-40B4-BE49-F238E27FC236}">
                <a16:creationId xmlns:a16="http://schemas.microsoft.com/office/drawing/2014/main" id="{D8D31E34-F313-4A68-A98B-431706D6512E}"/>
              </a:ext>
            </a:extLst>
          </p:cNvPr>
          <p:cNvSpPr>
            <a:spLocks xmlns:a="http://schemas.openxmlformats.org/drawingml/2006/main" noGrp="1"/>
          </p:cNvSpPr>
          <p:nvPr/>
        </p:nvSpPr>
        <p:spPr>
          <a:xfrm xmlns:a="http://schemas.openxmlformats.org/drawingml/2006/main">
            <a:off x="16535400" y="457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EBEBEB"/>
                </a:solidFill>
                <a:latin typeface="Inter"/>
                <a:ea typeface="Inter"/>
                <a:cs typeface="Inter"/>
              </a:defRPr>
            </a:pPr>
            <a:r>
              <a:rPr sz="1800" b="1">
                <a:solidFill>
                  <a:srgbClr val="EBEBEB"/>
                </a:solidFill>
                <a:latin typeface="Inter"/>
                <a:ea typeface="Inter"/>
                <a:cs typeface="Inter"/>
              </a:rPr>
              <a:t>06 / 10</a:t>
            </a:r>
          </a:p>
        </p:txBody>
      </p:sp>
      <p:sp>
        <p:nvSpPr>
          <p:cNvPr id="5" name="">
            <a:extLst xmlns:a="http://schemas.openxmlformats.org/drawingml/2006/main">
              <a:ext uri="{FF2B5EF4-FFF2-40B4-BE49-F238E27FC236}">
                <a16:creationId xmlns:a16="http://schemas.microsoft.com/office/drawing/2014/main" id="{0513664E-FB8F-4F22-BEC4-D8EAB070D3D5}"/>
              </a:ext>
            </a:extLst>
          </p:cNvPr>
          <p:cNvSpPr>
            <a:spLocks xmlns:a="http://schemas.openxmlformats.org/drawingml/2006/main" noGrp="1"/>
          </p:cNvSpPr>
          <p:nvPr/>
        </p:nvSpPr>
        <p:spPr>
          <a:xfrm xmlns:a="http://schemas.openxmlformats.org/drawingml/2006/main">
            <a:off x="666750" y="1000125"/>
            <a:ext cx="16954500" cy="0"/>
          </a:xfrm>
          <a:prstGeom xmlns:a="http://schemas.openxmlformats.org/drawingml/2006/main" prst="line">
            <a:avLst/>
          </a:prstGeom>
          <a:noFill xmlns:a="http://schemas.openxmlformats.org/drawingml/2006/main"/>
          <a:ln xmlns:a="http://schemas.openxmlformats.org/drawingml/2006/main" w="9525">
            <a:solidFill>
              <a:srgbClr val="29262D"/>
            </a:solidFill>
          </a:ln>
        </p:spPr>
      </p:sp>
      <p:sp>
        <p:nvSpPr>
          <p:cNvPr id="6" name="text-90">
            <a:extLst xmlns:a="http://schemas.openxmlformats.org/drawingml/2006/main">
              <a:ext uri="{FF2B5EF4-FFF2-40B4-BE49-F238E27FC236}">
                <a16:creationId xmlns:a16="http://schemas.microsoft.com/office/drawing/2014/main" id="{87381CF8-90C9-489E-A6D4-528F51648067}"/>
              </a:ext>
            </a:extLst>
          </p:cNvPr>
          <p:cNvSpPr>
            <a:spLocks xmlns:a="http://schemas.openxmlformats.org/drawingml/2006/main" noGrp="1"/>
          </p:cNvSpPr>
          <p:nvPr/>
        </p:nvSpPr>
        <p:spPr>
          <a:xfrm xmlns:a="http://schemas.openxmlformats.org/drawingml/2006/main">
            <a:off x="666750" y="1323975"/>
            <a:ext cx="1381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EBEBEB"/>
                </a:solidFill>
                <a:latin typeface="Bricolage Grotesque"/>
                <a:ea typeface="Bricolage Grotesque"/>
                <a:cs typeface="Bricolage Grotesque"/>
              </a:defRPr>
            </a:pPr>
            <a:r>
              <a:rPr sz="5700" b="1">
                <a:solidFill>
                  <a:srgbClr val="EBEBEB"/>
                </a:solidFill>
                <a:latin typeface="Bricolage Grotesque"/>
                <a:ea typeface="Bricolage Grotesque"/>
                <a:cs typeface="Bricolage Grotesque"/>
              </a:rPr>
              <a:t>Conversion service</a:t>
            </a:r>
          </a:p>
        </p:txBody>
      </p:sp>
      <p:sp>
        <p:nvSpPr>
          <p:cNvPr id="8" name="text-92">
            <a:extLst xmlns:a="http://schemas.openxmlformats.org/drawingml/2006/main">
              <a:ext uri="{FF2B5EF4-FFF2-40B4-BE49-F238E27FC236}">
                <a16:creationId xmlns:a16="http://schemas.microsoft.com/office/drawing/2014/main" id="{431C6F3D-5F93-4830-97E5-5E1BD1233E7A}"/>
              </a:ext>
            </a:extLst>
          </p:cNvPr>
          <p:cNvSpPr>
            <a:spLocks xmlns:a="http://schemas.openxmlformats.org/drawingml/2006/main" noGrp="1"/>
          </p:cNvSpPr>
          <p:nvPr/>
        </p:nvSpPr>
        <p:spPr>
          <a:xfrm xmlns:a="http://schemas.openxmlformats.org/drawingml/2006/main">
            <a:off x="685800" y="9744075"/>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AAA7AF"/>
                </a:solidFill>
                <a:latin typeface="Geist Mono"/>
                <a:ea typeface="Geist Mono"/>
                <a:cs typeface="Geist Mono"/>
              </a:defRPr>
            </a:pPr>
            <a:r>
              <a:rPr sz="1650" b="0">
                <a:solidFill>
                  <a:srgbClr val="AAA7AF"/>
                </a:solidFill>
                <a:latin typeface="Geist Mono"/>
                <a:ea typeface="Geist Mono"/>
                <a:cs typeface="Geist Mono"/>
              </a:rPr>
              <a:t>packages/conversion-service</a:t>
            </a:r>
          </a:p>
        </p:txBody>
      </p:sp>
      <p:sp>
        <p:nvSpPr>
          <p:cNvPr id="9" name="text-93">
            <a:extLst xmlns:a="http://schemas.openxmlformats.org/drawingml/2006/main">
              <a:ext uri="{FF2B5EF4-FFF2-40B4-BE49-F238E27FC236}">
                <a16:creationId xmlns:a16="http://schemas.microsoft.com/office/drawing/2014/main" id="{6D55CF9A-55DD-424F-8075-DB3FC64B2EFE}"/>
              </a:ext>
            </a:extLst>
          </p:cNvPr>
          <p:cNvSpPr>
            <a:spLocks xmlns:a="http://schemas.openxmlformats.org/drawingml/2006/main" noGrp="1"/>
          </p:cNvSpPr>
          <p:nvPr/>
        </p:nvSpPr>
        <p:spPr>
          <a:xfrm xmlns:a="http://schemas.openxmlformats.org/drawingml/2006/main">
            <a:off x="13620750" y="97440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725" b="0">
                <a:solidFill>
                  <a:srgbClr val="AAA7AF"/>
                </a:solidFill>
                <a:latin typeface="Inter"/>
                <a:ea typeface="Inter"/>
                <a:cs typeface="Inter"/>
              </a:defRPr>
            </a:pPr>
            <a:r>
              <a:rPr sz="1725" b="0">
                <a:solidFill>
                  <a:srgbClr val="AAA7AF"/>
                </a:solidFill>
                <a:latin typeface="Inter"/>
                <a:ea typeface="Inter"/>
                <a:cs typeface="Inter"/>
              </a:rPr>
              <a:t>286 tests</a:t>
            </a:r>
          </a:p>
        </p:txBody>
      </p:sp>
      <p:sp>
        <p:nvSpPr>
          <p:cNvPr id="75" name="conversion-description">
            <a:extLst xmlns:a="http://schemas.openxmlformats.org/drawingml/2006/main">
              <a:ext uri="{FF2B5EF4-FFF2-40B4-BE49-F238E27FC236}">
                <a16:creationId xmlns:a16="http://schemas.microsoft.com/office/drawing/2014/main" id="{B92D86F3-7DEA-438F-9616-E403EAF0C7CF}"/>
              </a:ext>
            </a:extLst>
          </p:cNvPr>
          <p:cNvSpPr>
            <a:spLocks xmlns:a="http://schemas.openxmlformats.org/drawingml/2006/main" noGrp="1"/>
          </p:cNvSpPr>
          <p:nvPr/>
        </p:nvSpPr>
        <p:spPr>
          <a:xfrm xmlns:a="http://schemas.openxmlformats.org/drawingml/2006/main">
            <a:off x="695325" y="2305050"/>
            <a:ext cx="1662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400">
                <a:solidFill>
                  <a:srgbClr val="D2D0D6"/>
                </a:solidFill>
                <a:latin typeface="Inter"/>
                <a:ea typeface="Inter"/>
                <a:cs typeface="Inter"/>
              </a:defRPr>
            </a:defPPr>
          </a:lstStyle>
          <a:p xmlns:a="http://schemas.openxmlformats.org/drawingml/2006/main">
            <a:pPr algn="l">
              <a:defRPr sz="2400">
                <a:solidFill>
                  <a:srgbClr val="D2D0D6"/>
                </a:solidFill>
                <a:latin typeface="Inter"/>
                <a:ea typeface="Inter"/>
                <a:cs typeface="Inter"/>
              </a:defRPr>
            </a:pPr>
            <a:r>
              <a:rPr sz="2400">
                <a:solidFill>
                  <a:srgbClr val="D2D0D6"/>
                </a:solidFill>
                <a:latin typeface="Inter"/>
                <a:ea typeface="Inter"/>
                <a:cs typeface="Inter"/>
              </a:rPr>
              <a:t>A Cloud Run service built with node:http</a:t>
            </a:r>
          </a:p>
        </p:txBody>
      </p:sp>
      <p:graphicFrame>
        <p:nvGraphicFramePr>
          <p:cNvPr id="76" name="">
            <a:extLst xmlns:a="http://schemas.openxmlformats.org/drawingml/2006/main">
              <a:ext uri="{FF2B5EF4-FFF2-40B4-BE49-F238E27FC236}">
                <a16:creationId xmlns:a16="http://schemas.microsoft.com/office/drawing/2014/main" id="{09CE588F-A040-4DE5-B1BD-DFC1550481F4}"/>
              </a:ext>
            </a:extLst>
          </p:cNvPr>
          <p:cNvGraphicFramePr/>
          <p:nvPr/>
        </p:nvGraphicFramePr>
        <p:xfrm>
          <a:off xmlns:a="http://schemas.openxmlformats.org/drawingml/2006/main" x="666750" y="2914650"/>
          <a:ext xmlns:a="http://schemas.openxmlformats.org/drawingml/2006/main" cx="16954500" cy="6391275"/>
        </p:xfrm>
        <a:graphic xmlns:a="http://schemas.openxmlformats.org/drawingml/2006/main">
          <a:graphicData uri="http://schemas.openxmlformats.org/drawingml/2006/table">
            <a:tbl>
              <a:tblPr/>
              <a:tblGrid>
                <a:gridCol w="2457450"/>
                <a:gridCol w="14497050"/>
              </a:tblGrid>
              <a:tr h="1162050">
                <a:tc>
                  <a:txBody>
                    <a:bodyPr wrap="square">
                      <a:noAutofit/>
                    </a:bodyPr>
                    <a:lstStyle/>
                    <a:p>
                      <a:pPr algn="l"/>
                      <a:r>
                        <a:rPr sz="2250" b="1">
                          <a:solidFill>
                            <a:srgbClr val="FFB8E9"/>
                          </a:solidFill>
                          <a:latin typeface="Bricolage Grotesque"/>
                          <a:ea typeface="Bricolage Grotesque"/>
                          <a:cs typeface="Bricolage Grotesque"/>
                        </a:rPr>
                        <a:t>Inputs</a:t>
                      </a:r>
                    </a:p>
                  </a:txBody>
                  <a:tcPr marL="171450" marR="171450" marT="114300" marB="114300" anchor="ctr">
                    <a:solidFill>
                      <a:srgbClr val="19191C"/>
                    </a:solidFill>
                  </a:tcPr>
                </a:tc>
                <a:tc>
                  <a:txBody>
                    <a:bodyPr wrap="square">
                      <a:noAutofit/>
                    </a:bodyPr>
                    <a:lstStyle/>
                    <a:p>
                      <a:pPr algn="l"/>
                      <a:r>
                        <a:rPr sz="2025" b="0">
                          <a:solidFill>
                            <a:srgbClr val="D2D0D6"/>
                          </a:solidFill>
                          <a:latin typeface="Inter"/>
                          <a:ea typeface="Inter"/>
                          <a:cs typeface="Inter"/>
                        </a:rPr>
                        <a:t>Stripe webhooks with offline signature verification: checkout, invoice paid for create/cycle/update, subscription updated/deleted, refunds and disputes. POST /events handles signup, activation, checkout started, enterprise lead and lead stage. Pub/Sub is an alternative.</a:t>
                      </a:r>
                    </a:p>
                  </a:txBody>
                  <a:tcPr marL="171450" marR="171450" marT="114300" marB="114300" anchor="ctr">
                    <a:solidFill>
                      <a:srgbClr val="19191C"/>
                    </a:solidFill>
                  </a:tcPr>
                </a:tc>
              </a:tr>
              <a:tr h="1162050">
                <a:tc>
                  <a:txBody>
                    <a:bodyPr wrap="square">
                      <a:noAutofit/>
                    </a:bodyPr>
                    <a:lstStyle/>
                    <a:p>
                      <a:pPr algn="l"/>
                      <a:r>
                        <a:rPr sz="2250" b="1">
                          <a:solidFill>
                            <a:srgbClr val="FFB8E9"/>
                          </a:solidFill>
                          <a:latin typeface="Bricolage Grotesque"/>
                          <a:ea typeface="Bricolage Grotesque"/>
                          <a:cs typeface="Bricolage Grotesque"/>
                        </a:rPr>
                        <a:t>Pipeline</a:t>
                      </a:r>
                    </a:p>
                  </a:txBody>
                  <a:tcPr marL="171450" marR="171450" marT="114300" marB="114300" anchor="ctr">
                    <a:solidFill>
                      <a:srgbClr val="151518"/>
                    </a:solidFill>
                  </a:tcPr>
                </a:tc>
                <a:tc>
                  <a:txBody>
                    <a:bodyPr wrap="square">
                      <a:noAutofit/>
                    </a:bodyPr>
                    <a:lstStyle/>
                    <a:p>
                      <a:pPr algn="l"/>
                      <a:r>
                        <a:rPr sz="2025" b="0">
                          <a:solidFill>
                            <a:srgbClr val="D2D0D6"/>
                          </a:solidFill>
                          <a:latin typeface="Inter"/>
                          <a:ea typeface="Inter"/>
                          <a:cs typeface="Inter"/>
                        </a:rPr>
                        <a:t>Normalise events, write the BigQuery ledger, resolve value and click IDs (building fbc from stored fbclid), then re-check consent at send time. An idempotent outbox per (platform, event ID) has backoff, dead-letter, per-document isolation, lease renewal and parking of out-of-order Stripe events.</a:t>
                      </a:r>
                    </a:p>
                  </a:txBody>
                  <a:tcPr marL="171450" marR="171450" marT="114300" marB="114300" anchor="ctr">
                    <a:solidFill>
                      <a:srgbClr val="151518"/>
                    </a:solidFill>
                  </a:tcPr>
                </a:tc>
              </a:tr>
              <a:tr h="1162050">
                <a:tc>
                  <a:txBody>
                    <a:bodyPr wrap="square">
                      <a:noAutofit/>
                    </a:bodyPr>
                    <a:lstStyle/>
                    <a:p>
                      <a:pPr algn="l"/>
                      <a:r>
                        <a:rPr sz="2250" b="1">
                          <a:solidFill>
                            <a:srgbClr val="FFB8E9"/>
                          </a:solidFill>
                          <a:latin typeface="Bricolage Grotesque"/>
                          <a:ea typeface="Bricolage Grotesque"/>
                          <a:cs typeface="Bricolage Grotesque"/>
                        </a:rPr>
                        <a:t>Senders</a:t>
                      </a:r>
                    </a:p>
                  </a:txBody>
                  <a:tcPr marL="171450" marR="171450" marT="114300" marB="114300" anchor="ctr">
                    <a:solidFill>
                      <a:srgbClr val="19191C"/>
                    </a:solidFill>
                  </a:tcPr>
                </a:tc>
                <a:tc>
                  <a:txBody>
                    <a:bodyPr wrap="square">
                      <a:noAutofit/>
                    </a:bodyPr>
                    <a:lstStyle/>
                    <a:p>
                      <a:pPr algn="l"/>
                      <a:r>
                        <a:rPr sz="2025" b="0">
                          <a:solidFill>
                            <a:srgbClr val="D2D0D6"/>
                          </a:solidFill>
                          <a:latin typeface="Inter"/>
                          <a:ea typeface="Inter"/>
                          <a:cs typeface="Inter"/>
                        </a:rPr>
                        <a:t>Google Data Manager API uses the tag's transactionId. Meta CAPI uses the same event IDs, external_id lower-cased like the browser, system_generated for renewals and a 7-day guard. Senders also cover TikTok, Reddit, LinkedIn, X and Microsoft.</a:t>
                      </a:r>
                    </a:p>
                  </a:txBody>
                  <a:tcPr marL="171450" marR="171450" marT="114300" marB="114300" anchor="ctr">
                    <a:solidFill>
                      <a:srgbClr val="19191C"/>
                    </a:solidFill>
                  </a:tcPr>
                </a:tc>
              </a:tr>
              <a:tr h="571500">
                <a:tc>
                  <a:txBody>
                    <a:bodyPr wrap="square">
                      <a:noAutofit/>
                    </a:bodyPr>
                    <a:lstStyle/>
                    <a:p>
                      <a:pPr algn="l"/>
                      <a:r>
                        <a:rPr sz="2250" b="1">
                          <a:solidFill>
                            <a:srgbClr val="FFB8E9"/>
                          </a:solidFill>
                          <a:latin typeface="Bricolage Grotesque"/>
                          <a:ea typeface="Bricolage Grotesque"/>
                          <a:cs typeface="Bricolage Grotesque"/>
                        </a:rPr>
                        <a:t>Refunds</a:t>
                      </a:r>
                    </a:p>
                  </a:txBody>
                  <a:tcPr marL="171450" marR="171450" marT="114300" marB="114300" anchor="ctr">
                    <a:solidFill>
                      <a:srgbClr val="151518"/>
                    </a:solidFill>
                  </a:tcPr>
                </a:tc>
                <a:tc>
                  <a:txBody>
                    <a:bodyPr wrap="square">
                      <a:noAutofit/>
                    </a:bodyPr>
                    <a:lstStyle/>
                    <a:p>
                      <a:pPr algn="l"/>
                      <a:r>
                        <a:rPr sz="2025" b="0">
                          <a:solidFill>
                            <a:srgbClr val="D2D0D6"/>
                          </a:solidFill>
                          <a:latin typeface="Inter"/>
                          <a:ea typeface="Inter"/>
                          <a:cs typeface="Inter"/>
                        </a:rPr>
                        <a:t>Google restated with a phantom-conversion guard. Microsoft restated or retracted. The rest skipped and logged.</a:t>
                      </a:r>
                    </a:p>
                  </a:txBody>
                  <a:tcPr marL="171450" marR="171450" marT="114300" marB="114300" anchor="ctr">
                    <a:solidFill>
                      <a:srgbClr val="151518"/>
                    </a:solidFill>
                  </a:tcPr>
                </a:tc>
              </a:tr>
              <a:tr h="847725">
                <a:tc>
                  <a:txBody>
                    <a:bodyPr wrap="square">
                      <a:noAutofit/>
                    </a:bodyPr>
                    <a:lstStyle/>
                    <a:p>
                      <a:pPr algn="l"/>
                      <a:r>
                        <a:rPr sz="2250" b="1">
                          <a:solidFill>
                            <a:srgbClr val="FFB8E9"/>
                          </a:solidFill>
                          <a:latin typeface="Bricolage Grotesque"/>
                          <a:ea typeface="Bricolage Grotesque"/>
                          <a:cs typeface="Bricolage Grotesque"/>
                        </a:rPr>
                        <a:t>Value + Meta</a:t>
                      </a:r>
                    </a:p>
                  </a:txBody>
                  <a:tcPr marL="171450" marR="171450" marT="114300" marB="114300" anchor="ctr">
                    <a:solidFill>
                      <a:srgbClr val="19191C"/>
                    </a:solidFill>
                  </a:tcPr>
                </a:tc>
                <a:tc>
                  <a:txBody>
                    <a:bodyPr wrap="square">
                      <a:noAutofit/>
                    </a:bodyPr>
                    <a:lstStyle/>
                    <a:p>
                      <a:pPr algn="l"/>
                      <a:r>
                        <a:rPr sz="2025" b="0">
                          <a:solidFill>
                            <a:srgbClr val="D2D0D6"/>
                          </a:solidFill>
                          <a:latin typeface="Inter"/>
                          <a:ea typeface="Inter"/>
                          <a:cs typeface="Inter"/>
                        </a:rPr>
                        <a:t>Use the purchase-time profit score, else cash tagged cash_fallback. Record floors. A value-health command checks Meta's thresholds. GET /value lets their invoice lookup return profitValueMajor so the pixel sends the same number.</a:t>
                      </a:r>
                    </a:p>
                  </a:txBody>
                  <a:tcPr marL="171450" marR="171450" marT="114300" marB="114300" anchor="ctr">
                    <a:solidFill>
                      <a:srgbClr val="19191C"/>
                    </a:solidFill>
                  </a:tcPr>
                </a:tc>
              </a:tr>
              <a:tr h="914400">
                <a:tc>
                  <a:txBody>
                    <a:bodyPr wrap="square">
                      <a:noAutofit/>
                    </a:bodyPr>
                    <a:lstStyle/>
                    <a:p>
                      <a:pPr algn="l"/>
                      <a:r>
                        <a:rPr sz="2250" b="1">
                          <a:solidFill>
                            <a:srgbClr val="FFB8E9"/>
                          </a:solidFill>
                          <a:latin typeface="Bricolage Grotesque"/>
                          <a:ea typeface="Bricolage Grotesque"/>
                          <a:cs typeface="Bricolage Grotesque"/>
                        </a:rPr>
                        <a:t>Retention + mode</a:t>
                      </a:r>
                    </a:p>
                  </a:txBody>
                  <a:tcPr marL="171450" marR="171450" marT="114300" marB="114300" anchor="ctr">
                    <a:solidFill>
                      <a:srgbClr val="151518"/>
                    </a:solidFill>
                  </a:tcPr>
                </a:tc>
                <a:tc>
                  <a:txBody>
                    <a:bodyPr wrap="square">
                      <a:noAutofit/>
                    </a:bodyPr>
                    <a:lstStyle/>
                    <a:p>
                      <a:pPr algn="l"/>
                      <a:r>
                        <a:rPr sz="2025" b="0">
                          <a:solidFill>
                            <a:srgbClr val="D2D0D6"/>
                          </a:solidFill>
                          <a:latin typeface="Inter"/>
                          <a:ea typeface="Inter"/>
                          <a:cs typeface="Inter"/>
                        </a:rPr>
                        <a:t>Retention TTLs and POST /tasks/erase. Dry-run by default. Live mode refuses in-memory stores and example secrets.</a:t>
                      </a:r>
                    </a:p>
                  </a:txBody>
                  <a:tcPr marL="171450" marR="171450" marT="114300" marB="114300" anchor="ctr">
                    <a:solidFill>
                      <a:srgbClr val="151518"/>
                    </a:solidFill>
                  </a:tcPr>
                </a:tc>
              </a:tr>
              <a:tr h="571500">
                <a:tc>
                  <a:txBody>
                    <a:bodyPr wrap="square">
                      <a:noAutofit/>
                    </a:bodyPr>
                    <a:lstStyle/>
                    <a:p>
                      <a:pPr algn="l"/>
                      <a:r>
                        <a:rPr sz="2250" b="1">
                          <a:solidFill>
                            <a:srgbClr val="FFB8E9"/>
                          </a:solidFill>
                          <a:latin typeface="Bricolage Grotesque"/>
                          <a:ea typeface="Bricolage Grotesque"/>
                          <a:cs typeface="Bricolage Grotesque"/>
                        </a:rPr>
                        <a:t>Offline test</a:t>
                      </a:r>
                    </a:p>
                  </a:txBody>
                  <a:tcPr marL="171450" marR="171450" marT="114300" marB="114300" anchor="ctr">
                    <a:solidFill>
                      <a:srgbClr val="19191C"/>
                    </a:solidFill>
                  </a:tcPr>
                </a:tc>
                <a:tc>
                  <a:txBody>
                    <a:bodyPr wrap="square">
                      <a:noAutofit/>
                    </a:bodyPr>
                    <a:lstStyle/>
                    <a:p>
                      <a:pPr algn="l"/>
                      <a:r>
                        <a:rPr sz="2025" b="0">
                          <a:solidFill>
                            <a:srgbClr val="D2D0D6"/>
                          </a:solidFill>
                          <a:latin typeface="Inter"/>
                          <a:ea typeface="Inter"/>
                          <a:cs typeface="Inter"/>
                        </a:rPr>
                        <a:t>The end-to-end test replays 27 Stripe and 10 app events with zero network calls.</a:t>
                      </a:r>
                    </a:p>
                  </a:txBody>
                  <a:tcPr marL="171450" marR="171450" marT="114300" marB="114300" anchor="ctr">
                    <a:solidFill>
                      <a:srgbClr val="19191C"/>
                    </a:solidFill>
                  </a:tcPr>
                </a:tc>
              </a:tr>
            </a:tbl>
          </a:graphicData>
        </a:graphic>
      </p:graphicFrame>
    </p:spTree>
    <p:extLst>
      <p:ext uri="{BB962C8B-B14F-4D97-AF65-F5344CB8AC3E}">
        <p14:creationId xmlns:p14="http://schemas.microsoft.com/office/powerpoint/2010/main" val="1253485579"/>
      </p:ext>
    </p:extLst>
  </p:cSld>
</p:sld>
</file>

<file path=ppt/slides/slide7.xml><?xml version="1.0" encoding="utf-8"?>
<p:sld xmlns:p="http://schemas.openxmlformats.org/presentationml/2006/main">
  <p:cSld>
    <p:bg>
      <p:bgPr>
        <a:gradFill xmlns:a="http://schemas.openxmlformats.org/drawingml/2006/main">
          <a:gsLst>
            <a:gs pos="0">
              <a:srgbClr val="100D11"/>
            </a:gs>
            <a:gs pos="100000">
              <a:srgbClr val="09090B"/>
            </a:gs>
          </a:gsLst>
          <a:lin ang="2700000"/>
        </a:gradFill>
      </p:bgPr>
    </p:bg>
    <p:spTree>
      <p:nvGrpSpPr>
        <p:cNvPr id="1" name=""/>
        <p:cNvGrpSpPr/>
        <p:nvPr/>
      </p:nvGrpSpPr>
      <p:grpSpPr>
        <a:xfrm xmlns:a="http://schemas.openxmlformats.org/drawingml/2006/main"/>
      </p:grpSpPr>
      <p:pic>
        <p:nvPicPr>
          <p:cNvPr id="43" name="">
            <a:extLst xmlns:a="http://schemas.openxmlformats.org/drawingml/2006/main">
              <a:ext uri="{FF2B5EF4-FFF2-40B4-BE49-F238E27FC236}">
                <a16:creationId xmlns:a16="http://schemas.microsoft.com/office/drawing/2014/main" id="{FC972143-DF98-41EB-ADD4-CF038AE27277}"/>
              </a:ext>
            </a:extLst>
          </p:cNvPr>
          <p:cNvPicPr>
            <a:picLocks xmlns:a="http://schemas.openxmlformats.org/drawingml/2006/main" noChangeAspect="1"/>
          </p:cNvPicPr>
          <p:nvPr/>
        </p:nvPicPr>
        <p:blipFill>
          <a:blip xmlns:r="http://schemas.openxmlformats.org/officeDocument/2006/relationships" xmlns:a="http://schemas.openxmlformats.org/drawingml/2006/main" r:embed="R792e2dcb21144f44">
            <a:extLst>
              <a:ext uri="{96DAC541-7B7A-43D3-8B79-37D633B846F1}">
                <asvg:svgBlip xmlns:asvg="http://schemas.microsoft.com/office/drawing/2016/SVG/main" r:embed="R3b7dbc853336456f"/>
              </a:ext>
            </a:extLst>
          </a:blip>
          <a:stretch xmlns:a="http://schemas.openxmlformats.org/drawingml/2006/main"/>
        </p:blipFill>
        <p:spPr>
          <a:xfrm xmlns:a="http://schemas.openxmlformats.org/drawingml/2006/main">
            <a:off x="666750" y="428625"/>
            <a:ext cx="2152650" cy="361950"/>
          </a:xfrm>
          <a:prstGeom xmlns:a="http://schemas.openxmlformats.org/drawingml/2006/main" prst="rect">
            <a:avLst/>
          </a:prstGeom>
        </p:spPr>
      </p:pic>
      <p:sp>
        <p:nvSpPr>
          <p:cNvPr id="2" name="text-112">
            <a:extLst xmlns:a="http://schemas.openxmlformats.org/drawingml/2006/main">
              <a:ext uri="{FF2B5EF4-FFF2-40B4-BE49-F238E27FC236}">
                <a16:creationId xmlns:a16="http://schemas.microsoft.com/office/drawing/2014/main" id="{67D467F6-5FE2-4514-9794-95152C4C3600}"/>
              </a:ext>
            </a:extLst>
          </p:cNvPr>
          <p:cNvSpPr>
            <a:spLocks xmlns:a="http://schemas.openxmlformats.org/drawingml/2006/main" noGrp="1"/>
          </p:cNvSpPr>
          <p:nvPr/>
        </p:nvSpPr>
        <p:spPr>
          <a:xfrm xmlns:a="http://schemas.openxmlformats.org/drawingml/2006/main">
            <a:off x="3095625" y="42862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AAA7AF"/>
                </a:solidFill>
                <a:latin typeface="Inter"/>
                <a:ea typeface="Inter"/>
                <a:cs typeface="Inter"/>
              </a:defRPr>
            </a:pPr>
            <a:r>
              <a:rPr sz="1950" b="0">
                <a:solidFill>
                  <a:srgbClr val="AAA7AF"/>
                </a:solidFill>
                <a:latin typeface="Inter"/>
                <a:ea typeface="Inter"/>
                <a:cs typeface="Inter"/>
              </a:rPr>
              <a:t>What we made</a:t>
            </a:r>
          </a:p>
        </p:txBody>
      </p:sp>
      <p:sp>
        <p:nvSpPr>
          <p:cNvPr id="3" name="">
            <a:extLst xmlns:a="http://schemas.openxmlformats.org/drawingml/2006/main">
              <a:ext uri="{FF2B5EF4-FFF2-40B4-BE49-F238E27FC236}">
                <a16:creationId xmlns:a16="http://schemas.microsoft.com/office/drawing/2014/main" id="{F7CA8421-36AE-4FD7-8295-2F553C8CB8B6}"/>
              </a:ext>
            </a:extLst>
          </p:cNvPr>
          <p:cNvSpPr>
            <a:spLocks xmlns:a="http://schemas.openxmlformats.org/drawingml/2006/main" noGrp="1"/>
          </p:cNvSpPr>
          <p:nvPr/>
        </p:nvSpPr>
        <p:spPr>
          <a:xfrm xmlns:a="http://schemas.openxmlformats.org/drawingml/2006/main">
            <a:off x="16363950" y="381000"/>
            <a:ext cx="1257300" cy="457200"/>
          </a:xfrm>
          <a:prstGeom xmlns:a="http://schemas.openxmlformats.org/drawingml/2006/main" prst="roundRect">
            <a:avLst>
              <a:gd name="adj" fmla="val 50000"/>
            </a:avLst>
          </a:prstGeom>
          <a:gradFill xmlns:a="http://schemas.openxmlformats.org/drawingml/2006/main">
            <a:gsLst>
              <a:gs pos="0">
                <a:srgbClr val="FFB8E9"/>
              </a:gs>
              <a:gs pos="100000">
                <a:srgbClr val="FF00BC"/>
              </a:gs>
            </a:gsLst>
            <a:lin ang="0"/>
          </a:gradFill>
          <a:ln xmlns:a="http://schemas.openxmlformats.org/drawingml/2006/main" w="0">
            <a:noFill/>
          </a:ln>
        </p:spPr>
      </p:sp>
      <p:sp>
        <p:nvSpPr>
          <p:cNvPr id="4" name="text-113">
            <a:extLst xmlns:a="http://schemas.openxmlformats.org/drawingml/2006/main">
              <a:ext uri="{FF2B5EF4-FFF2-40B4-BE49-F238E27FC236}">
                <a16:creationId xmlns:a16="http://schemas.microsoft.com/office/drawing/2014/main" id="{B9A786DB-44E8-4208-8092-04B45E6FF52B}"/>
              </a:ext>
            </a:extLst>
          </p:cNvPr>
          <p:cNvSpPr>
            <a:spLocks xmlns:a="http://schemas.openxmlformats.org/drawingml/2006/main" noGrp="1"/>
          </p:cNvSpPr>
          <p:nvPr/>
        </p:nvSpPr>
        <p:spPr>
          <a:xfrm xmlns:a="http://schemas.openxmlformats.org/drawingml/2006/main">
            <a:off x="16535400" y="457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EBEBEB"/>
                </a:solidFill>
                <a:latin typeface="Inter"/>
                <a:ea typeface="Inter"/>
                <a:cs typeface="Inter"/>
              </a:defRPr>
            </a:pPr>
            <a:r>
              <a:rPr sz="1800" b="1">
                <a:solidFill>
                  <a:srgbClr val="EBEBEB"/>
                </a:solidFill>
                <a:latin typeface="Inter"/>
                <a:ea typeface="Inter"/>
                <a:cs typeface="Inter"/>
              </a:rPr>
              <a:t>07 / 10</a:t>
            </a:r>
          </a:p>
        </p:txBody>
      </p:sp>
      <p:sp>
        <p:nvSpPr>
          <p:cNvPr id="5" name="">
            <a:extLst xmlns:a="http://schemas.openxmlformats.org/drawingml/2006/main">
              <a:ext uri="{FF2B5EF4-FFF2-40B4-BE49-F238E27FC236}">
                <a16:creationId xmlns:a16="http://schemas.microsoft.com/office/drawing/2014/main" id="{AAE4364B-97E2-4D2E-B956-06913A871129}"/>
              </a:ext>
            </a:extLst>
          </p:cNvPr>
          <p:cNvSpPr>
            <a:spLocks xmlns:a="http://schemas.openxmlformats.org/drawingml/2006/main" noGrp="1"/>
          </p:cNvSpPr>
          <p:nvPr/>
        </p:nvSpPr>
        <p:spPr>
          <a:xfrm xmlns:a="http://schemas.openxmlformats.org/drawingml/2006/main">
            <a:off x="666750" y="1000125"/>
            <a:ext cx="16954500" cy="0"/>
          </a:xfrm>
          <a:prstGeom xmlns:a="http://schemas.openxmlformats.org/drawingml/2006/main" prst="line">
            <a:avLst/>
          </a:prstGeom>
          <a:noFill xmlns:a="http://schemas.openxmlformats.org/drawingml/2006/main"/>
          <a:ln xmlns:a="http://schemas.openxmlformats.org/drawingml/2006/main" w="9525">
            <a:solidFill>
              <a:srgbClr val="29262D"/>
            </a:solidFill>
          </a:ln>
        </p:spPr>
      </p:sp>
      <p:sp>
        <p:nvSpPr>
          <p:cNvPr id="6" name="text-114">
            <a:extLst xmlns:a="http://schemas.openxmlformats.org/drawingml/2006/main">
              <a:ext uri="{FF2B5EF4-FFF2-40B4-BE49-F238E27FC236}">
                <a16:creationId xmlns:a16="http://schemas.microsoft.com/office/drawing/2014/main" id="{0FBEEB54-42A0-44F8-A3FE-A8646348539C}"/>
              </a:ext>
            </a:extLst>
          </p:cNvPr>
          <p:cNvSpPr>
            <a:spLocks xmlns:a="http://schemas.openxmlformats.org/drawingml/2006/main" noGrp="1"/>
          </p:cNvSpPr>
          <p:nvPr/>
        </p:nvSpPr>
        <p:spPr>
          <a:xfrm xmlns:a="http://schemas.openxmlformats.org/drawingml/2006/main">
            <a:off x="666750" y="1323975"/>
            <a:ext cx="1381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EBEBEB"/>
                </a:solidFill>
                <a:latin typeface="Bricolage Grotesque"/>
                <a:ea typeface="Bricolage Grotesque"/>
                <a:cs typeface="Bricolage Grotesque"/>
              </a:defRPr>
            </a:pPr>
            <a:r>
              <a:rPr sz="5700" b="1">
                <a:gradFill>
                  <a:gsLst>
                    <a:gs pos="0">
                      <a:srgbClr val="FFB8E9"/>
                    </a:gs>
                    <a:gs pos="100000">
                      <a:srgbClr val="FF00BC"/>
                    </a:gs>
                  </a:gsLst>
                  <a:lin ang="0"/>
                </a:gradFill>
                <a:latin typeface="Bricolage Grotesque"/>
                <a:ea typeface="Bricolage Grotesque"/>
                <a:cs typeface="Bricolage Grotesque"/>
              </a:rPr>
              <a:t>The fish tank</a:t>
            </a:r>
          </a:p>
        </p:txBody>
      </p:sp>
      <p:sp>
        <p:nvSpPr>
          <p:cNvPr id="8" name="text-116">
            <a:extLst xmlns:a="http://schemas.openxmlformats.org/drawingml/2006/main">
              <a:ext uri="{FF2B5EF4-FFF2-40B4-BE49-F238E27FC236}">
                <a16:creationId xmlns:a16="http://schemas.microsoft.com/office/drawing/2014/main" id="{EE8EACBC-2D32-49AB-A392-BB7515011D4E}"/>
              </a:ext>
            </a:extLst>
          </p:cNvPr>
          <p:cNvSpPr>
            <a:spLocks xmlns:a="http://schemas.openxmlformats.org/drawingml/2006/main" noGrp="1"/>
          </p:cNvSpPr>
          <p:nvPr/>
        </p:nvSpPr>
        <p:spPr>
          <a:xfrm xmlns:a="http://schemas.openxmlformats.org/drawingml/2006/main">
            <a:off x="685800" y="9744075"/>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AAA7AF"/>
                </a:solidFill>
                <a:latin typeface="Geist Mono"/>
                <a:ea typeface="Geist Mono"/>
                <a:cs typeface="Geist Mono"/>
              </a:defRPr>
            </a:pPr>
            <a:r>
              <a:rPr sz="1650" b="0">
                <a:solidFill>
                  <a:srgbClr val="AAA7AF"/>
                </a:solidFill>
                <a:latin typeface="Geist Mono"/>
                <a:ea typeface="Geist Mono"/>
                <a:cs typeface="Geist Mono"/>
              </a:rPr>
              <a:t>packages/warehouse</a:t>
            </a:r>
          </a:p>
        </p:txBody>
      </p:sp>
      <p:sp>
        <p:nvSpPr>
          <p:cNvPr id="9" name="text-117">
            <a:extLst xmlns:a="http://schemas.openxmlformats.org/drawingml/2006/main">
              <a:ext uri="{FF2B5EF4-FFF2-40B4-BE49-F238E27FC236}">
                <a16:creationId xmlns:a16="http://schemas.microsoft.com/office/drawing/2014/main" id="{7745A60D-2DF6-4E0A-8884-A97FFFA5042B}"/>
              </a:ext>
            </a:extLst>
          </p:cNvPr>
          <p:cNvSpPr>
            <a:spLocks xmlns:a="http://schemas.openxmlformats.org/drawingml/2006/main" noGrp="1"/>
          </p:cNvSpPr>
          <p:nvPr/>
        </p:nvSpPr>
        <p:spPr>
          <a:xfrm xmlns:a="http://schemas.openxmlformats.org/drawingml/2006/main">
            <a:off x="13620750" y="97440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725" b="0">
                <a:solidFill>
                  <a:srgbClr val="AAA7AF"/>
                </a:solidFill>
                <a:latin typeface="Inter"/>
                <a:ea typeface="Inter"/>
                <a:cs typeface="Inter"/>
              </a:defRPr>
            </a:pPr>
            <a:r>
              <a:rPr sz="1725" b="0">
                <a:solidFill>
                  <a:srgbClr val="AAA7AF"/>
                </a:solidFill>
                <a:latin typeface="Inter"/>
                <a:ea typeface="Inter"/>
                <a:cs typeface="Inter"/>
              </a:rPr>
              <a:t>505 dbt checks + 107 tests</a:t>
            </a:r>
          </a:p>
        </p:txBody>
      </p:sp>
      <p:sp>
        <p:nvSpPr>
          <p:cNvPr id="44" name="warehouse-description">
            <a:extLst xmlns:a="http://schemas.openxmlformats.org/drawingml/2006/main">
              <a:ext uri="{FF2B5EF4-FFF2-40B4-BE49-F238E27FC236}">
                <a16:creationId xmlns:a16="http://schemas.microsoft.com/office/drawing/2014/main" id="{4CEC133C-111F-4214-9D6A-199937CC64A4}"/>
              </a:ext>
            </a:extLst>
          </p:cNvPr>
          <p:cNvSpPr>
            <a:spLocks xmlns:a="http://schemas.openxmlformats.org/drawingml/2006/main" noGrp="1"/>
          </p:cNvSpPr>
          <p:nvPr/>
        </p:nvSpPr>
        <p:spPr>
          <a:xfrm xmlns:a="http://schemas.openxmlformats.org/drawingml/2006/main">
            <a:off x="695325" y="2305050"/>
            <a:ext cx="1662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400">
                <a:solidFill>
                  <a:srgbClr val="D2D0D6"/>
                </a:solidFill>
                <a:latin typeface="Inter"/>
                <a:ea typeface="Inter"/>
                <a:cs typeface="Inter"/>
              </a:defRPr>
            </a:defPPr>
          </a:lstStyle>
          <a:p xmlns:a="http://schemas.openxmlformats.org/drawingml/2006/main">
            <a:pPr algn="l">
              <a:defRPr sz="2400">
                <a:solidFill>
                  <a:srgbClr val="D2D0D6"/>
                </a:solidFill>
                <a:latin typeface="Inter"/>
                <a:ea typeface="Inter"/>
                <a:cs typeface="Inter"/>
              </a:defRPr>
            </a:pPr>
            <a:r>
              <a:rPr sz="2400">
                <a:solidFill>
                  <a:srgbClr val="D2D0D6"/>
                </a:solidFill>
                <a:latin typeface="Inter"/>
                <a:ea typeface="Inter"/>
                <a:cs typeface="Inter"/>
              </a:rPr>
              <a:t>43 dbt models compiling for both BigQuery and DuckDB</a:t>
            </a:r>
          </a:p>
        </p:txBody>
      </p:sp>
      <p:graphicFrame>
        <p:nvGraphicFramePr>
          <p:cNvPr id="45" name="">
            <a:extLst xmlns:a="http://schemas.openxmlformats.org/drawingml/2006/main">
              <a:ext uri="{FF2B5EF4-FFF2-40B4-BE49-F238E27FC236}">
                <a16:creationId xmlns:a16="http://schemas.microsoft.com/office/drawing/2014/main" id="{E5545CE9-D0EA-423F-87C0-81EC1B70FE61}"/>
              </a:ext>
            </a:extLst>
          </p:cNvPr>
          <p:cNvGraphicFramePr/>
          <p:nvPr/>
        </p:nvGraphicFramePr>
        <p:xfrm>
          <a:off xmlns:a="http://schemas.openxmlformats.org/drawingml/2006/main" x="666750" y="2914650"/>
          <a:ext xmlns:a="http://schemas.openxmlformats.org/drawingml/2006/main" cx="16954500" cy="6648450"/>
        </p:xfrm>
        <a:graphic xmlns:a="http://schemas.openxmlformats.org/drawingml/2006/main">
          <a:graphicData uri="http://schemas.openxmlformats.org/drawingml/2006/table">
            <a:tbl>
              <a:tblPr/>
              <a:tblGrid>
                <a:gridCol w="2457450"/>
                <a:gridCol w="14497050"/>
              </a:tblGrid>
              <a:tr h="1228725">
                <a:tc>
                  <a:txBody>
                    <a:bodyPr wrap="square">
                      <a:noAutofit/>
                    </a:bodyPr>
                    <a:lstStyle/>
                    <a:p>
                      <a:pPr algn="l"/>
                      <a:r>
                        <a:rPr sz="2250" b="1">
                          <a:solidFill>
                            <a:srgbClr val="FFB8E9"/>
                          </a:solidFill>
                          <a:latin typeface="Bricolage Grotesque"/>
                          <a:ea typeface="Bricolage Grotesque"/>
                          <a:cs typeface="Bricolage Grotesque"/>
                        </a:rPr>
                        <a:t>Core marts</a:t>
                      </a:r>
                    </a:p>
                  </a:txBody>
                  <a:tcPr marL="171450" marR="171450" marT="114300" marB="114300" anchor="ctr">
                    <a:solidFill>
                      <a:srgbClr val="19191C"/>
                    </a:solidFill>
                  </a:tcPr>
                </a:tc>
                <a:tc>
                  <a:txBody>
                    <a:bodyPr wrap="square">
                      <a:noAutofit/>
                    </a:bodyPr>
                    <a:lstStyle/>
                    <a:p>
                      <a:pPr algn="l"/>
                      <a:r>
                        <a:rPr sz="2175" b="0">
                          <a:solidFill>
                            <a:srgbClr val="D2D0D6"/>
                          </a:solidFill>
                          <a:latin typeface="Inter"/>
                          <a:ea typeface="Inter"/>
                          <a:cs typeface="Inter"/>
                        </a:rPr>
                        <a:t>fct_conversion_ledger: one row per event, browser-format IDs, refunds linked via invoice-payment and the purchase's own keys. fct_data_quality_quarantine. fct_generation_cost: ledger × cost seed, discount variable. fct_user_features_24h: time-bounded.</a:t>
                      </a:r>
                    </a:p>
                  </a:txBody>
                  <a:tcPr marL="171450" marR="171450" marT="114300" marB="114300" anchor="ctr">
                    <a:solidFill>
                      <a:srgbClr val="19191C"/>
                    </a:solidFill>
                  </a:tcPr>
                </a:tc>
              </a:tr>
              <a:tr h="1228725">
                <a:tc>
                  <a:txBody>
                    <a:bodyPr wrap="square">
                      <a:noAutofit/>
                    </a:bodyPr>
                    <a:lstStyle/>
                    <a:p>
                      <a:pPr algn="l"/>
                      <a:r>
                        <a:rPr sz="2250" b="1">
                          <a:solidFill>
                            <a:srgbClr val="FFB8E9"/>
                          </a:solidFill>
                          <a:latin typeface="Bricolage Grotesque"/>
                          <a:ea typeface="Bricolage Grotesque"/>
                          <a:cs typeface="Bricolage Grotesque"/>
                        </a:rPr>
                        <a:t>Profit scores</a:t>
                      </a:r>
                    </a:p>
                  </a:txBody>
                  <a:tcPr marL="171450" marR="171450" marT="114300" marB="114300" anchor="ctr">
                    <a:solidFill>
                      <a:srgbClr val="151518"/>
                    </a:solidFill>
                  </a:tcPr>
                </a:tc>
                <a:tc>
                  <a:txBody>
                    <a:bodyPr wrap="square">
                      <a:noAutofit/>
                    </a:bodyPr>
                    <a:lstStyle/>
                    <a:p>
                      <a:pPr algn="l"/>
                      <a:r>
                        <a:rPr sz="2175" b="0">
                          <a:solidFill>
                            <a:srgbClr val="D2D0D6"/>
                          </a:solidFill>
                          <a:latin typeface="Inter"/>
                          <a:ea typeface="Inter"/>
                          <a:cs typeface="Inter"/>
                        </a:rPr>
                        <a:t>fct_predicted_profit_24h: signup+24h unconditional, for experiments only. fct_purchase_value_score: purchase-time conditional, the ad value. Both have append-only logs and fitted-parameter snapshots for reproducibility.</a:t>
                      </a:r>
                    </a:p>
                  </a:txBody>
                  <a:tcPr marL="171450" marR="171450" marT="114300" marB="114300" anchor="ctr">
                    <a:solidFill>
                      <a:srgbClr val="151518"/>
                    </a:solidFill>
                  </a:tcPr>
                </a:tc>
              </a:tr>
              <a:tr h="914400">
                <a:tc>
                  <a:txBody>
                    <a:bodyPr wrap="square">
                      <a:noAutofit/>
                    </a:bodyPr>
                    <a:lstStyle/>
                    <a:p>
                      <a:pPr algn="l"/>
                      <a:r>
                        <a:rPr sz="2250" b="1">
                          <a:solidFill>
                            <a:srgbClr val="FFB8E9"/>
                          </a:solidFill>
                          <a:latin typeface="Bricolage Grotesque"/>
                          <a:ea typeface="Bricolage Grotesque"/>
                          <a:cs typeface="Bricolage Grotesque"/>
                        </a:rPr>
                        <a:t>Experiments + audiences</a:t>
                      </a:r>
                    </a:p>
                  </a:txBody>
                  <a:tcPr marL="171450" marR="171450" marT="114300" marB="114300" anchor="ctr">
                    <a:solidFill>
                      <a:srgbClr val="19191C"/>
                    </a:solidFill>
                  </a:tcPr>
                </a:tc>
                <a:tc>
                  <a:txBody>
                    <a:bodyPr wrap="square">
                      <a:noAutofit/>
                    </a:bodyPr>
                    <a:lstStyle/>
                    <a:p>
                      <a:pPr algn="l"/>
                      <a:r>
                        <a:rPr sz="2175" b="0">
                          <a:solidFill>
                            <a:srgbClr val="D2D0D6"/>
                          </a:solidFill>
                          <a:latin typeface="Inter"/>
                          <a:ea typeface="Inter"/>
                          <a:cs typeface="Inter"/>
                        </a:rPr>
                        <a:t>fct_experiment_profit_by_arm and fct_experiment_profit_by_arm_daily: intention-to-treat, per day × segment × slice, model-error variance, p·V−C decomposition and CUPED covariate. fct_audience_candidates.</a:t>
                      </a:r>
                    </a:p>
                  </a:txBody>
                  <a:tcPr marL="171450" marR="171450" marT="114300" marB="114300" anchor="ctr">
                    <a:solidFill>
                      <a:srgbClr val="19191C"/>
                    </a:solidFill>
                  </a:tcPr>
                </a:tc>
              </a:tr>
              <a:tr h="895350">
                <a:tc>
                  <a:txBody>
                    <a:bodyPr wrap="square">
                      <a:noAutofit/>
                    </a:bodyPr>
                    <a:lstStyle/>
                    <a:p>
                      <a:pPr algn="l"/>
                      <a:r>
                        <a:rPr sz="2250" b="1">
                          <a:solidFill>
                            <a:srgbClr val="FFB8E9"/>
                          </a:solidFill>
                          <a:latin typeface="Bricolage Grotesque"/>
                          <a:ea typeface="Bricolage Grotesque"/>
                          <a:cs typeface="Bricolage Grotesque"/>
                        </a:rPr>
                        <a:t>Reconciliation</a:t>
                      </a:r>
                    </a:p>
                  </a:txBody>
                  <a:tcPr marL="171450" marR="171450" marT="114300" marB="114300" anchor="ctr">
                    <a:solidFill>
                      <a:srgbClr val="151518"/>
                    </a:solidFill>
                  </a:tcPr>
                </a:tc>
                <a:tc>
                  <a:txBody>
                    <a:bodyPr wrap="square">
                      <a:noAutofit/>
                    </a:bodyPr>
                    <a:lstStyle/>
                    <a:p>
                      <a:pPr algn="l"/>
                      <a:r>
                        <a:rPr sz="2175" b="0">
                          <a:solidFill>
                            <a:srgbClr val="D2D0D6"/>
                          </a:solidFill>
                          <a:latin typeface="Inter"/>
                          <a:ea typeface="Inter"/>
                          <a:cs typeface="Inter"/>
                        </a:rPr>
                        <a:t>fct_reconciliation splits every Ads-vs-Stripe gap by cause: window, date basis, time zone, refunds, double counting, LTV inflation, blocked users and fallback.</a:t>
                      </a:r>
                    </a:p>
                  </a:txBody>
                  <a:tcPr marL="171450" marR="171450" marT="114300" marB="114300" anchor="ctr">
                    <a:solidFill>
                      <a:srgbClr val="151518"/>
                    </a:solidFill>
                  </a:tcPr>
                </a:tc>
              </a:tr>
              <a:tr h="895350">
                <a:tc>
                  <a:txBody>
                    <a:bodyPr wrap="square">
                      <a:noAutofit/>
                    </a:bodyPr>
                    <a:lstStyle/>
                    <a:p>
                      <a:pPr algn="l"/>
                      <a:r>
                        <a:rPr sz="2250" b="1">
                          <a:solidFill>
                            <a:srgbClr val="FFB8E9"/>
                          </a:solidFill>
                          <a:latin typeface="Bricolage Grotesque"/>
                          <a:ea typeface="Bricolage Grotesque"/>
                          <a:cs typeface="Bricolage Grotesque"/>
                        </a:rPr>
                        <a:t>Data handling</a:t>
                      </a:r>
                    </a:p>
                  </a:txBody>
                  <a:tcPr marL="171450" marR="171450" marT="114300" marB="114300" anchor="ctr">
                    <a:solidFill>
                      <a:srgbClr val="19191C"/>
                    </a:solidFill>
                  </a:tcPr>
                </a:tc>
                <a:tc>
                  <a:txBody>
                    <a:bodyPr wrap="square">
                      <a:noAutofit/>
                    </a:bodyPr>
                    <a:lstStyle/>
                    <a:p>
                      <a:pPr algn="l"/>
                      <a:r>
                        <a:rPr sz="2175" b="0">
                          <a:solidFill>
                            <a:srgbClr val="D2D0D6"/>
                          </a:solidFill>
                          <a:latin typeface="Inter"/>
                          <a:ea typeface="Inter"/>
                          <a:cs typeface="Inter"/>
                        </a:rPr>
                        <a:t>Currency exponent, FX and tax handling. Subscription status from the invoice line's period. PII whitelisted at staging. Aggregate-only Metabase views.</a:t>
                      </a:r>
                    </a:p>
                  </a:txBody>
                  <a:tcPr marL="171450" marR="171450" marT="114300" marB="114300" anchor="ctr">
                    <a:solidFill>
                      <a:srgbClr val="19191C"/>
                    </a:solidFill>
                  </a:tcPr>
                </a:tc>
              </a:tr>
              <a:tr h="914400">
                <a:tc>
                  <a:txBody>
                    <a:bodyPr wrap="square">
                      <a:noAutofit/>
                    </a:bodyPr>
                    <a:lstStyle/>
                    <a:p>
                      <a:pPr algn="l"/>
                      <a:r>
                        <a:rPr sz="2250" b="1">
                          <a:solidFill>
                            <a:srgbClr val="FFB8E9"/>
                          </a:solidFill>
                          <a:latin typeface="Bricolage Grotesque"/>
                          <a:ea typeface="Bricolage Grotesque"/>
                          <a:cs typeface="Bricolage Grotesque"/>
                        </a:rPr>
                        <a:t>Synthetic backtest</a:t>
                      </a:r>
                    </a:p>
                  </a:txBody>
                  <a:tcPr marL="171450" marR="171450" marT="114300" marB="114300" anchor="ctr">
                    <a:solidFill>
                      <a:srgbClr val="151518"/>
                    </a:solidFill>
                  </a:tcPr>
                </a:tc>
                <a:tc>
                  <a:txBody>
                    <a:bodyPr wrap="square">
                      <a:noAutofit/>
                    </a:bodyPr>
                    <a:lstStyle/>
                    <a:p>
                      <a:pPr algn="l"/>
                      <a:r>
                        <a:rPr sz="2175" b="0">
                          <a:solidFill>
                            <a:srgbClr val="D2D0D6"/>
                          </a:solidFill>
                          <a:latin typeface="Inter"/>
                          <a:ea typeface="Inter"/>
                          <a:cs typeface="Inter"/>
                        </a:rPr>
                        <a:t>Out-of-time backtest on synthetic data: purchase-time score error $10.93 versus $19.96 for first-charge revenue, calibration slope 1.08 and 79% interval coverage. Pipeline proof.</a:t>
                      </a:r>
                    </a:p>
                  </a:txBody>
                  <a:tcPr marL="171450" marR="171450" marT="114300" marB="114300" anchor="ctr">
                    <a:solidFill>
                      <a:srgbClr val="151518"/>
                    </a:solidFill>
                  </a:tcPr>
                </a:tc>
              </a:tr>
              <a:tr h="571500">
                <a:tc>
                  <a:txBody>
                    <a:bodyPr wrap="square">
                      <a:noAutofit/>
                    </a:bodyPr>
                    <a:lstStyle/>
                    <a:p>
                      <a:pPr algn="l"/>
                      <a:r>
                        <a:rPr sz="2250" b="1">
                          <a:solidFill>
                            <a:srgbClr val="FFB8E9"/>
                          </a:solidFill>
                          <a:latin typeface="Bricolage Grotesque"/>
                          <a:ea typeface="Bricolage Grotesque"/>
                          <a:cs typeface="Bricolage Grotesque"/>
                        </a:rPr>
                        <a:t>Sizing + review</a:t>
                      </a:r>
                    </a:p>
                  </a:txBody>
                  <a:tcPr marL="171450" marR="171450" marT="114300" marB="114300" anchor="ctr">
                    <a:solidFill>
                      <a:srgbClr val="19191C"/>
                    </a:solidFill>
                  </a:tcPr>
                </a:tc>
                <a:tc>
                  <a:txBody>
                    <a:bodyPr wrap="square">
                      <a:noAutofit/>
                    </a:bodyPr>
                    <a:lstStyle/>
                    <a:p>
                      <a:pPr algn="l"/>
                      <a:r>
                        <a:rPr sz="2175" b="0">
                          <a:solidFill>
                            <a:srgbClr val="D2D0D6"/>
                          </a:solidFill>
                          <a:latin typeface="Inter"/>
                          <a:ea typeface="Inter"/>
                          <a:cs typeface="Inter"/>
                        </a:rPr>
                        <a:t>Week-1 sizing queries against their real schema. Five Metabase questions. 27 of 29 injected bugs caught.</a:t>
                      </a:r>
                    </a:p>
                  </a:txBody>
                  <a:tcPr marL="171450" marR="171450" marT="114300" marB="114300" anchor="ctr">
                    <a:solidFill>
                      <a:srgbClr val="19191C"/>
                    </a:solidFill>
                  </a:tcPr>
                </a:tc>
              </a:tr>
            </a:tbl>
          </a:graphicData>
        </a:graphic>
      </p:graphicFrame>
    </p:spTree>
    <p:extLst>
      <p:ext uri="{BB962C8B-B14F-4D97-AF65-F5344CB8AC3E}">
        <p14:creationId xmlns:p14="http://schemas.microsoft.com/office/powerpoint/2010/main" val="159940942"/>
      </p:ext>
    </p:extLst>
  </p:cSld>
</p:sld>
</file>

<file path=ppt/slides/slide8.xml><?xml version="1.0" encoding="utf-8"?>
<p:sld xmlns:p="http://schemas.openxmlformats.org/presentationml/2006/main">
  <p:cSld>
    <p:bg>
      <p:bgPr>
        <a:gradFill xmlns:a="http://schemas.openxmlformats.org/drawingml/2006/main">
          <a:gsLst>
            <a:gs pos="0">
              <a:srgbClr val="100D11"/>
            </a:gs>
            <a:gs pos="100000">
              <a:srgbClr val="09090B"/>
            </a:gs>
          </a:gsLst>
          <a:lin ang="2700000"/>
        </a:gradFill>
      </p:bgPr>
    </p:bg>
    <p:spTree>
      <p:nvGrpSpPr>
        <p:cNvPr id="1" name=""/>
        <p:cNvGrpSpPr/>
        <p:nvPr/>
      </p:nvGrpSpPr>
      <p:grpSpPr>
        <a:xfrm xmlns:a="http://schemas.openxmlformats.org/drawingml/2006/main"/>
      </p:grpSpPr>
      <p:pic>
        <p:nvPicPr>
          <p:cNvPr id="41" name="">
            <a:extLst xmlns:a="http://schemas.openxmlformats.org/drawingml/2006/main">
              <a:ext uri="{FF2B5EF4-FFF2-40B4-BE49-F238E27FC236}">
                <a16:creationId xmlns:a16="http://schemas.microsoft.com/office/drawing/2014/main" id="{FCB63B71-5E60-4F45-908E-EB215FC235AA}"/>
              </a:ext>
            </a:extLst>
          </p:cNvPr>
          <p:cNvPicPr>
            <a:picLocks xmlns:a="http://schemas.openxmlformats.org/drawingml/2006/main" noChangeAspect="1"/>
          </p:cNvPicPr>
          <p:nvPr/>
        </p:nvPicPr>
        <p:blipFill>
          <a:blip xmlns:r="http://schemas.openxmlformats.org/officeDocument/2006/relationships" xmlns:a="http://schemas.openxmlformats.org/drawingml/2006/main" r:embed="R3c088a73940f4e0d">
            <a:extLst>
              <a:ext uri="{96DAC541-7B7A-43D3-8B79-37D633B846F1}">
                <asvg:svgBlip xmlns:asvg="http://schemas.microsoft.com/office/drawing/2016/SVG/main" r:embed="R31dec6a1499e441d"/>
              </a:ext>
            </a:extLst>
          </a:blip>
          <a:stretch xmlns:a="http://schemas.openxmlformats.org/drawingml/2006/main"/>
        </p:blipFill>
        <p:spPr>
          <a:xfrm xmlns:a="http://schemas.openxmlformats.org/drawingml/2006/main">
            <a:off x="666750" y="428625"/>
            <a:ext cx="2152650" cy="361950"/>
          </a:xfrm>
          <a:prstGeom xmlns:a="http://schemas.openxmlformats.org/drawingml/2006/main" prst="rect">
            <a:avLst/>
          </a:prstGeom>
        </p:spPr>
      </p:pic>
      <p:sp>
        <p:nvSpPr>
          <p:cNvPr id="2" name="text-131">
            <a:extLst xmlns:a="http://schemas.openxmlformats.org/drawingml/2006/main">
              <a:ext uri="{FF2B5EF4-FFF2-40B4-BE49-F238E27FC236}">
                <a16:creationId xmlns:a16="http://schemas.microsoft.com/office/drawing/2014/main" id="{36461396-AF8C-4CAA-AA96-06D68892E81E}"/>
              </a:ext>
            </a:extLst>
          </p:cNvPr>
          <p:cNvSpPr>
            <a:spLocks xmlns:a="http://schemas.openxmlformats.org/drawingml/2006/main" noGrp="1"/>
          </p:cNvSpPr>
          <p:nvPr/>
        </p:nvSpPr>
        <p:spPr>
          <a:xfrm xmlns:a="http://schemas.openxmlformats.org/drawingml/2006/main">
            <a:off x="3095625" y="42862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AAA7AF"/>
                </a:solidFill>
                <a:latin typeface="Inter"/>
                <a:ea typeface="Inter"/>
                <a:cs typeface="Inter"/>
              </a:defRPr>
            </a:pPr>
            <a:r>
              <a:rPr sz="1950" b="0">
                <a:solidFill>
                  <a:srgbClr val="AAA7AF"/>
                </a:solidFill>
                <a:latin typeface="Inter"/>
                <a:ea typeface="Inter"/>
                <a:cs typeface="Inter"/>
              </a:rPr>
              <a:t>What we made</a:t>
            </a:r>
          </a:p>
        </p:txBody>
      </p:sp>
      <p:sp>
        <p:nvSpPr>
          <p:cNvPr id="3" name="">
            <a:extLst xmlns:a="http://schemas.openxmlformats.org/drawingml/2006/main">
              <a:ext uri="{FF2B5EF4-FFF2-40B4-BE49-F238E27FC236}">
                <a16:creationId xmlns:a16="http://schemas.microsoft.com/office/drawing/2014/main" id="{A12499DC-E8A2-4AAD-8F36-75536FA9D8E3}"/>
              </a:ext>
            </a:extLst>
          </p:cNvPr>
          <p:cNvSpPr>
            <a:spLocks xmlns:a="http://schemas.openxmlformats.org/drawingml/2006/main" noGrp="1"/>
          </p:cNvSpPr>
          <p:nvPr/>
        </p:nvSpPr>
        <p:spPr>
          <a:xfrm xmlns:a="http://schemas.openxmlformats.org/drawingml/2006/main">
            <a:off x="16363950" y="381000"/>
            <a:ext cx="1257300" cy="457200"/>
          </a:xfrm>
          <a:prstGeom xmlns:a="http://schemas.openxmlformats.org/drawingml/2006/main" prst="roundRect">
            <a:avLst>
              <a:gd name="adj" fmla="val 50000"/>
            </a:avLst>
          </a:prstGeom>
          <a:gradFill xmlns:a="http://schemas.openxmlformats.org/drawingml/2006/main">
            <a:gsLst>
              <a:gs pos="0">
                <a:srgbClr val="FFB8E9"/>
              </a:gs>
              <a:gs pos="100000">
                <a:srgbClr val="FF00BC"/>
              </a:gs>
            </a:gsLst>
            <a:lin ang="0"/>
          </a:gradFill>
          <a:ln xmlns:a="http://schemas.openxmlformats.org/drawingml/2006/main" w="0">
            <a:noFill/>
          </a:ln>
        </p:spPr>
      </p:sp>
      <p:sp>
        <p:nvSpPr>
          <p:cNvPr id="4" name="text-132">
            <a:extLst xmlns:a="http://schemas.openxmlformats.org/drawingml/2006/main">
              <a:ext uri="{FF2B5EF4-FFF2-40B4-BE49-F238E27FC236}">
                <a16:creationId xmlns:a16="http://schemas.microsoft.com/office/drawing/2014/main" id="{E0BCD60A-4416-4CC6-B2B0-62B8B8C583F3}"/>
              </a:ext>
            </a:extLst>
          </p:cNvPr>
          <p:cNvSpPr>
            <a:spLocks xmlns:a="http://schemas.openxmlformats.org/drawingml/2006/main" noGrp="1"/>
          </p:cNvSpPr>
          <p:nvPr/>
        </p:nvSpPr>
        <p:spPr>
          <a:xfrm xmlns:a="http://schemas.openxmlformats.org/drawingml/2006/main">
            <a:off x="16535400" y="457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EBEBEB"/>
                </a:solidFill>
                <a:latin typeface="Inter"/>
                <a:ea typeface="Inter"/>
                <a:cs typeface="Inter"/>
              </a:defRPr>
            </a:pPr>
            <a:r>
              <a:rPr sz="1800" b="1">
                <a:solidFill>
                  <a:srgbClr val="EBEBEB"/>
                </a:solidFill>
                <a:latin typeface="Inter"/>
                <a:ea typeface="Inter"/>
                <a:cs typeface="Inter"/>
              </a:rPr>
              <a:t>08 / 10</a:t>
            </a:r>
          </a:p>
        </p:txBody>
      </p:sp>
      <p:sp>
        <p:nvSpPr>
          <p:cNvPr id="5" name="">
            <a:extLst xmlns:a="http://schemas.openxmlformats.org/drawingml/2006/main">
              <a:ext uri="{FF2B5EF4-FFF2-40B4-BE49-F238E27FC236}">
                <a16:creationId xmlns:a16="http://schemas.microsoft.com/office/drawing/2014/main" id="{6E4D9C03-80EE-4400-8391-9CAD7968EB6B}"/>
              </a:ext>
            </a:extLst>
          </p:cNvPr>
          <p:cNvSpPr>
            <a:spLocks xmlns:a="http://schemas.openxmlformats.org/drawingml/2006/main" noGrp="1"/>
          </p:cNvSpPr>
          <p:nvPr/>
        </p:nvSpPr>
        <p:spPr>
          <a:xfrm xmlns:a="http://schemas.openxmlformats.org/drawingml/2006/main">
            <a:off x="666750" y="1000125"/>
            <a:ext cx="16954500" cy="0"/>
          </a:xfrm>
          <a:prstGeom xmlns:a="http://schemas.openxmlformats.org/drawingml/2006/main" prst="line">
            <a:avLst/>
          </a:prstGeom>
          <a:noFill xmlns:a="http://schemas.openxmlformats.org/drawingml/2006/main"/>
          <a:ln xmlns:a="http://schemas.openxmlformats.org/drawingml/2006/main" w="9525">
            <a:solidFill>
              <a:srgbClr val="29262D"/>
            </a:solidFill>
          </a:ln>
        </p:spPr>
      </p:sp>
      <p:sp>
        <p:nvSpPr>
          <p:cNvPr id="6" name="text-133">
            <a:extLst xmlns:a="http://schemas.openxmlformats.org/drawingml/2006/main">
              <a:ext uri="{FF2B5EF4-FFF2-40B4-BE49-F238E27FC236}">
                <a16:creationId xmlns:a16="http://schemas.microsoft.com/office/drawing/2014/main" id="{73BBEC38-929B-42CF-A43F-9A22BC201878}"/>
              </a:ext>
            </a:extLst>
          </p:cNvPr>
          <p:cNvSpPr>
            <a:spLocks xmlns:a="http://schemas.openxmlformats.org/drawingml/2006/main" noGrp="1"/>
          </p:cNvSpPr>
          <p:nvPr/>
        </p:nvSpPr>
        <p:spPr>
          <a:xfrm xmlns:a="http://schemas.openxmlformats.org/drawingml/2006/main">
            <a:off x="666750" y="1323975"/>
            <a:ext cx="1381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EBEBEB"/>
                </a:solidFill>
                <a:latin typeface="Bricolage Grotesque"/>
                <a:ea typeface="Bricolage Grotesque"/>
                <a:cs typeface="Bricolage Grotesque"/>
              </a:defRPr>
            </a:pPr>
            <a:r>
              <a:rPr sz="5700" b="1">
                <a:solidFill>
                  <a:srgbClr val="EBEBEB"/>
                </a:solidFill>
                <a:latin typeface="Bricolage Grotesque"/>
                <a:ea typeface="Bricolage Grotesque"/>
                <a:cs typeface="Bricolage Grotesque"/>
              </a:rPr>
              <a:t>Bandit allocator</a:t>
            </a:r>
          </a:p>
        </p:txBody>
      </p:sp>
      <p:sp>
        <p:nvSpPr>
          <p:cNvPr id="8" name="text-135">
            <a:extLst xmlns:a="http://schemas.openxmlformats.org/drawingml/2006/main">
              <a:ext uri="{FF2B5EF4-FFF2-40B4-BE49-F238E27FC236}">
                <a16:creationId xmlns:a16="http://schemas.microsoft.com/office/drawing/2014/main" id="{321CE08E-6296-452D-BF5C-2F70C525597B}"/>
              </a:ext>
            </a:extLst>
          </p:cNvPr>
          <p:cNvSpPr>
            <a:spLocks xmlns:a="http://schemas.openxmlformats.org/drawingml/2006/main" noGrp="1"/>
          </p:cNvSpPr>
          <p:nvPr/>
        </p:nvSpPr>
        <p:spPr>
          <a:xfrm xmlns:a="http://schemas.openxmlformats.org/drawingml/2006/main">
            <a:off x="685800" y="9744075"/>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AAA7AF"/>
                </a:solidFill>
                <a:latin typeface="Geist Mono"/>
                <a:ea typeface="Geist Mono"/>
                <a:cs typeface="Geist Mono"/>
              </a:defRPr>
            </a:pPr>
            <a:r>
              <a:rPr sz="1650" b="0">
                <a:solidFill>
                  <a:srgbClr val="AAA7AF"/>
                </a:solidFill>
                <a:latin typeface="Geist Mono"/>
                <a:ea typeface="Geist Mono"/>
                <a:cs typeface="Geist Mono"/>
              </a:rPr>
              <a:t>packages/bandit-allocator</a:t>
            </a:r>
          </a:p>
        </p:txBody>
      </p:sp>
      <p:sp>
        <p:nvSpPr>
          <p:cNvPr id="9" name="text-136">
            <a:extLst xmlns:a="http://schemas.openxmlformats.org/drawingml/2006/main">
              <a:ext uri="{FF2B5EF4-FFF2-40B4-BE49-F238E27FC236}">
                <a16:creationId xmlns:a16="http://schemas.microsoft.com/office/drawing/2014/main" id="{C5DC39BD-F43F-4624-BD13-423E9A668B9F}"/>
              </a:ext>
            </a:extLst>
          </p:cNvPr>
          <p:cNvSpPr>
            <a:spLocks xmlns:a="http://schemas.openxmlformats.org/drawingml/2006/main" noGrp="1"/>
          </p:cNvSpPr>
          <p:nvPr/>
        </p:nvSpPr>
        <p:spPr>
          <a:xfrm xmlns:a="http://schemas.openxmlformats.org/drawingml/2006/main">
            <a:off x="13620750" y="97440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725" b="0">
                <a:solidFill>
                  <a:srgbClr val="AAA7AF"/>
                </a:solidFill>
                <a:latin typeface="Inter"/>
                <a:ea typeface="Inter"/>
                <a:cs typeface="Inter"/>
              </a:defRPr>
            </a:pPr>
            <a:r>
              <a:rPr sz="1725" b="0">
                <a:solidFill>
                  <a:srgbClr val="AAA7AF"/>
                </a:solidFill>
                <a:latin typeface="Inter"/>
                <a:ea typeface="Inter"/>
                <a:cs typeface="Inter"/>
              </a:rPr>
              <a:t>163 tests</a:t>
            </a:r>
          </a:p>
        </p:txBody>
      </p:sp>
      <p:sp>
        <p:nvSpPr>
          <p:cNvPr id="42" name="bandit-description">
            <a:extLst xmlns:a="http://schemas.openxmlformats.org/drawingml/2006/main">
              <a:ext uri="{FF2B5EF4-FFF2-40B4-BE49-F238E27FC236}">
                <a16:creationId xmlns:a16="http://schemas.microsoft.com/office/drawing/2014/main" id="{5DCB662A-C114-4208-B778-4C2846653E50}"/>
              </a:ext>
            </a:extLst>
          </p:cNvPr>
          <p:cNvSpPr>
            <a:spLocks xmlns:a="http://schemas.openxmlformats.org/drawingml/2006/main" noGrp="1"/>
          </p:cNvSpPr>
          <p:nvPr/>
        </p:nvSpPr>
        <p:spPr>
          <a:xfrm xmlns:a="http://schemas.openxmlformats.org/drawingml/2006/main">
            <a:off x="695325" y="2305050"/>
            <a:ext cx="1662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400">
                <a:solidFill>
                  <a:srgbClr val="D2D0D6"/>
                </a:solidFill>
                <a:latin typeface="Inter"/>
                <a:ea typeface="Inter"/>
                <a:cs typeface="Inter"/>
              </a:defRPr>
            </a:defPPr>
          </a:lstStyle>
          <a:p xmlns:a="http://schemas.openxmlformats.org/drawingml/2006/main">
            <a:pPr algn="l">
              <a:defRPr sz="2400">
                <a:solidFill>
                  <a:srgbClr val="D2D0D6"/>
                </a:solidFill>
                <a:latin typeface="Inter"/>
                <a:ea typeface="Inter"/>
                <a:cs typeface="Inter"/>
              </a:defRPr>
            </a:pPr>
            <a:r>
              <a:rPr sz="2400">
                <a:solidFill>
                  <a:srgbClr val="D2D0D6"/>
                </a:solidFill>
                <a:latin typeface="Inter"/>
                <a:ea typeface="Inter"/>
                <a:cs typeface="Inter"/>
              </a:rPr>
              <a:t>Replaces hand-tuned default-model flags edited 28 and 27 times</a:t>
            </a:r>
          </a:p>
        </p:txBody>
      </p:sp>
      <p:graphicFrame>
        <p:nvGraphicFramePr>
          <p:cNvPr id="43" name="">
            <a:extLst xmlns:a="http://schemas.openxmlformats.org/drawingml/2006/main">
              <a:ext uri="{FF2B5EF4-FFF2-40B4-BE49-F238E27FC236}">
                <a16:creationId xmlns:a16="http://schemas.microsoft.com/office/drawing/2014/main" id="{3E42B752-558B-472A-BA81-84EF9CD841B7}"/>
              </a:ext>
            </a:extLst>
          </p:cNvPr>
          <p:cNvGraphicFramePr/>
          <p:nvPr/>
        </p:nvGraphicFramePr>
        <p:xfrm>
          <a:off xmlns:a="http://schemas.openxmlformats.org/drawingml/2006/main" x="666750" y="2914650"/>
          <a:ext xmlns:a="http://schemas.openxmlformats.org/drawingml/2006/main" cx="16954500" cy="6172200"/>
        </p:xfrm>
        <a:graphic xmlns:a="http://schemas.openxmlformats.org/drawingml/2006/main">
          <a:graphicData uri="http://schemas.openxmlformats.org/drawingml/2006/table">
            <a:tbl>
              <a:tblPr/>
              <a:tblGrid>
                <a:gridCol w="2457450"/>
                <a:gridCol w="14497050"/>
              </a:tblGrid>
              <a:tr h="1085850">
                <a:tc>
                  <a:txBody>
                    <a:bodyPr wrap="square">
                      <a:noAutofit/>
                    </a:bodyPr>
                    <a:lstStyle/>
                    <a:p>
                      <a:pPr algn="l"/>
                      <a:r>
                        <a:rPr sz="2250" b="1">
                          <a:solidFill>
                            <a:srgbClr val="FFB8E9"/>
                          </a:solidFill>
                          <a:latin typeface="Bricolage Grotesque"/>
                          <a:ea typeface="Bricolage Grotesque"/>
                          <a:cs typeface="Bricolage Grotesque"/>
                        </a:rPr>
                        <a:t>Sampling</a:t>
                      </a:r>
                    </a:p>
                  </a:txBody>
                  <a:tcPr marL="171450" marR="171450" marT="114300" marB="114300" anchor="ctr">
                    <a:solidFill>
                      <a:srgbClr val="19191C"/>
                    </a:solidFill>
                  </a:tcPr>
                </a:tc>
                <a:tc>
                  <a:txBody>
                    <a:bodyPr wrap="square">
                      <a:noAutofit/>
                    </a:bodyPr>
                    <a:lstStyle/>
                    <a:p>
                      <a:pPr algn="l"/>
                      <a:r>
                        <a:rPr sz="2250" b="0">
                          <a:solidFill>
                            <a:srgbClr val="D2D0D6"/>
                          </a:solidFill>
                          <a:latin typeface="Inter"/>
                          <a:ea typeface="Inter"/>
                          <a:cs typeface="Inter"/>
                        </a:rPr>
                        <a:t>Thompson sampling per arm per segment, rewarded on the 24h profit signal decomposed as p·V−C for lower variance.</a:t>
                      </a:r>
                    </a:p>
                  </a:txBody>
                  <a:tcPr marL="171450" marR="171450" marT="114300" marB="114300" anchor="ctr">
                    <a:solidFill>
                      <a:srgbClr val="19191C"/>
                    </a:solidFill>
                  </a:tcPr>
                </a:tc>
              </a:tr>
              <a:tr h="1085850">
                <a:tc>
                  <a:txBody>
                    <a:bodyPr wrap="square">
                      <a:noAutofit/>
                    </a:bodyPr>
                    <a:lstStyle/>
                    <a:p>
                      <a:pPr algn="l"/>
                      <a:r>
                        <a:rPr sz="2250" b="1">
                          <a:solidFill>
                            <a:srgbClr val="FFB8E9"/>
                          </a:solidFill>
                          <a:latin typeface="Bricolage Grotesque"/>
                          <a:ea typeface="Bricolage Grotesque"/>
                          <a:cs typeface="Bricolage Grotesque"/>
                        </a:rPr>
                        <a:t>Traffic guards</a:t>
                      </a:r>
                    </a:p>
                  </a:txBody>
                  <a:tcPr marL="171450" marR="171450" marT="114300" marB="114300" anchor="ctr">
                    <a:solidFill>
                      <a:srgbClr val="151518"/>
                    </a:solidFill>
                  </a:tcPr>
                </a:tc>
                <a:tc>
                  <a:txBody>
                    <a:bodyPr wrap="square">
                      <a:noAutofit/>
                    </a:bodyPr>
                    <a:lstStyle/>
                    <a:p>
                      <a:pPr algn="l"/>
                      <a:r>
                        <a:rPr sz="2250" b="0">
                          <a:solidFill>
                            <a:srgbClr val="D2D0D6"/>
                          </a:solidFill>
                          <a:latin typeface="Inter"/>
                          <a:ea typeface="Inter"/>
                          <a:cs typeface="Inter"/>
                        </a:rPr>
                        <a:t>5% exploration floor, ±10 percentage points/day, a never-touched holdout, and activation/refund/failure guardrails.</a:t>
                      </a:r>
                    </a:p>
                  </a:txBody>
                  <a:tcPr marL="171450" marR="171450" marT="114300" marB="114300" anchor="ctr">
                    <a:solidFill>
                      <a:srgbClr val="151518"/>
                    </a:solidFill>
                  </a:tcPr>
                </a:tc>
              </a:tr>
              <a:tr h="1085850">
                <a:tc>
                  <a:txBody>
                    <a:bodyPr wrap="square">
                      <a:noAutofit/>
                    </a:bodyPr>
                    <a:lstStyle/>
                    <a:p>
                      <a:pPr algn="l"/>
                      <a:r>
                        <a:rPr sz="2250" b="1">
                          <a:solidFill>
                            <a:srgbClr val="FFB8E9"/>
                          </a:solidFill>
                          <a:latin typeface="Bricolage Grotesque"/>
                          <a:ea typeface="Bricolage Grotesque"/>
                          <a:cs typeface="Bricolage Grotesque"/>
                        </a:rPr>
                        <a:t>Statistical guards</a:t>
                      </a:r>
                    </a:p>
                  </a:txBody>
                  <a:tcPr marL="171450" marR="171450" marT="114300" marB="114300" anchor="ctr">
                    <a:solidFill>
                      <a:srgbClr val="19191C"/>
                    </a:solidFill>
                  </a:tcPr>
                </a:tc>
                <a:tc>
                  <a:txBody>
                    <a:bodyPr wrap="square">
                      <a:noAutofit/>
                    </a:bodyPr>
                    <a:lstStyle/>
                    <a:p>
                      <a:pPr algn="l"/>
                      <a:r>
                        <a:rPr sz="2250" b="0">
                          <a:solidFill>
                            <a:srgbClr val="D2D0D6"/>
                          </a:solidFill>
                          <a:latin typeface="Inter"/>
                          <a:ea typeface="Inter"/>
                          <a:cs typeface="Inter"/>
                        </a:rPr>
                        <a:t>A sequentially valid stop-loss. In simulation, false alarms on null arms fell from 65–78% to 0–2%. A fail-closed traffic-split check against logged weights. An MDE-based minimum sample.</a:t>
                      </a:r>
                    </a:p>
                  </a:txBody>
                  <a:tcPr marL="171450" marR="171450" marT="114300" marB="114300" anchor="ctr">
                    <a:solidFill>
                      <a:srgbClr val="19191C"/>
                    </a:solidFill>
                  </a:tcPr>
                </a:tc>
              </a:tr>
              <a:tr h="1085850">
                <a:tc>
                  <a:txBody>
                    <a:bodyPr wrap="square">
                      <a:noAutofit/>
                    </a:bodyPr>
                    <a:lstStyle/>
                    <a:p>
                      <a:pPr algn="l"/>
                      <a:r>
                        <a:rPr sz="2250" b="1">
                          <a:solidFill>
                            <a:srgbClr val="FFB8E9"/>
                          </a:solidFill>
                          <a:latin typeface="Bricolage Grotesque"/>
                          <a:ea typeface="Bricolage Grotesque"/>
                          <a:cs typeface="Bricolage Grotesque"/>
                        </a:rPr>
                        <a:t>Adaptation</a:t>
                      </a:r>
                    </a:p>
                  </a:txBody>
                  <a:tcPr marL="171450" marR="171450" marT="114300" marB="114300" anchor="ctr">
                    <a:solidFill>
                      <a:srgbClr val="151518"/>
                    </a:solidFill>
                  </a:tcPr>
                </a:tc>
                <a:tc>
                  <a:txBody>
                    <a:bodyPr wrap="square">
                      <a:noAutofit/>
                    </a:bodyPr>
                    <a:lstStyle/>
                    <a:p>
                      <a:pPr algn="l"/>
                      <a:r>
                        <a:rPr sz="2250" b="0">
                          <a:solidFill>
                            <a:srgbClr val="D2D0D6"/>
                          </a:solidFill>
                          <a:latin typeface="Inter"/>
                          <a:ea typeface="Inter"/>
                          <a:cs typeface="Inter"/>
                        </a:rPr>
                        <a:t>A 14-day half-life, inverse-propensity weighting, resets on model or promo changes, and warm starts for new arms.</a:t>
                      </a:r>
                    </a:p>
                  </a:txBody>
                  <a:tcPr marL="171450" marR="171450" marT="114300" marB="114300" anchor="ctr">
                    <a:solidFill>
                      <a:srgbClr val="151518"/>
                    </a:solidFill>
                  </a:tcPr>
                </a:tc>
              </a:tr>
              <a:tr h="742950">
                <a:tc>
                  <a:txBody>
                    <a:bodyPr wrap="square">
                      <a:noAutofit/>
                    </a:bodyPr>
                    <a:lstStyle/>
                    <a:p>
                      <a:pPr algn="l"/>
                      <a:r>
                        <a:rPr sz="2250" b="1">
                          <a:solidFill>
                            <a:srgbClr val="FFB8E9"/>
                          </a:solidFill>
                          <a:latin typeface="Bricolage Grotesque"/>
                          <a:ea typeface="Bricolage Grotesque"/>
                          <a:cs typeface="Bricolage Grotesque"/>
                        </a:rPr>
                        <a:t>Output</a:t>
                      </a:r>
                    </a:p>
                  </a:txBody>
                  <a:tcPr marL="171450" marR="171450" marT="114300" marB="114300" anchor="ctr">
                    <a:solidFill>
                      <a:srgbClr val="19191C"/>
                    </a:solidFill>
                  </a:tcPr>
                </a:tc>
                <a:tc>
                  <a:txBody>
                    <a:bodyPr wrap="square">
                      <a:noAutofit/>
                    </a:bodyPr>
                    <a:lstStyle/>
                    <a:p>
                      <a:pPr algn="l"/>
                      <a:r>
                        <a:rPr sz="2250" b="0">
                          <a:solidFill>
                            <a:srgbClr val="D2D0D6"/>
                          </a:solidFill>
                          <a:latin typeface="Inter"/>
                          <a:ea typeface="Inter"/>
                          <a:cs typeface="Inter"/>
                        </a:rPr>
                        <a:t>A LaunchDarkly semantic patch per flag through their approval workflow. No app code change.</a:t>
                      </a:r>
                    </a:p>
                  </a:txBody>
                  <a:tcPr marL="171450" marR="171450" marT="114300" marB="114300" anchor="ctr">
                    <a:solidFill>
                      <a:srgbClr val="19191C"/>
                    </a:solidFill>
                  </a:tcPr>
                </a:tc>
              </a:tr>
              <a:tr h="1085850">
                <a:tc>
                  <a:txBody>
                    <a:bodyPr wrap="square">
                      <a:noAutofit/>
                    </a:bodyPr>
                    <a:lstStyle/>
                    <a:p>
                      <a:pPr algn="l"/>
                      <a:r>
                        <a:rPr sz="2250" b="1">
                          <a:solidFill>
                            <a:srgbClr val="FFB8E9"/>
                          </a:solidFill>
                          <a:latin typeface="Bricolage Grotesque"/>
                          <a:ea typeface="Bricolage Grotesque"/>
                          <a:cs typeface="Bricolage Grotesque"/>
                        </a:rPr>
                        <a:t>Simulation</a:t>
                      </a:r>
                    </a:p>
                  </a:txBody>
                  <a:tcPr marL="171450" marR="171450" marT="114300" marB="114300" anchor="ctr">
                    <a:solidFill>
                      <a:srgbClr val="151518"/>
                    </a:solidFill>
                  </a:tcPr>
                </a:tc>
                <a:tc>
                  <a:txBody>
                    <a:bodyPr wrap="square">
                      <a:noAutofit/>
                    </a:bodyPr>
                    <a:lstStyle/>
                    <a:p>
                      <a:pPr algn="l"/>
                      <a:r>
                        <a:rPr sz="2250" b="0">
                          <a:solidFill>
                            <a:srgbClr val="D2D0D6"/>
                          </a:solidFill>
                          <a:latin typeface="Inter"/>
                          <a:ea typeface="Inter"/>
                          <a:cs typeface="Inter"/>
                        </a:rPr>
                        <a:t>Illustrative simulation with 10 replications: any bandit beats the hand-tuned split. Profit vs conversion is not distinguishable on synthetic data.</a:t>
                      </a:r>
                    </a:p>
                  </a:txBody>
                  <a:tcPr marL="171450" marR="171450" marT="114300" marB="114300" anchor="ctr">
                    <a:solidFill>
                      <a:srgbClr val="151518"/>
                    </a:solidFill>
                  </a:tcPr>
                </a:tc>
              </a:tr>
            </a:tbl>
          </a:graphicData>
        </a:graphic>
      </p:graphicFrame>
    </p:spTree>
    <p:extLst>
      <p:ext uri="{BB962C8B-B14F-4D97-AF65-F5344CB8AC3E}">
        <p14:creationId xmlns:p14="http://schemas.microsoft.com/office/powerpoint/2010/main" val="1898308195"/>
      </p:ext>
    </p:extLst>
  </p:cSld>
</p:sld>
</file>

<file path=ppt/slides/slide9.xml><?xml version="1.0" encoding="utf-8"?>
<p:sld xmlns:p="http://schemas.openxmlformats.org/presentationml/2006/main">
  <p:cSld>
    <p:bg>
      <p:bgPr>
        <a:gradFill xmlns:a="http://schemas.openxmlformats.org/drawingml/2006/main">
          <a:gsLst>
            <a:gs pos="0">
              <a:srgbClr val="100D11"/>
            </a:gs>
            <a:gs pos="100000">
              <a:srgbClr val="09090B"/>
            </a:gs>
          </a:gsLst>
          <a:lin ang="2700000"/>
        </a:gradFill>
      </p:bgPr>
    </p:bg>
    <p:spTree>
      <p:nvGrpSpPr>
        <p:cNvPr id="1" name=""/>
        <p:cNvGrpSpPr/>
        <p:nvPr/>
      </p:nvGrpSpPr>
      <p:grpSpPr>
        <a:xfrm xmlns:a="http://schemas.openxmlformats.org/drawingml/2006/main"/>
      </p:grpSpPr>
      <p:pic>
        <p:nvPicPr>
          <p:cNvPr id="62" name="">
            <a:extLst xmlns:a="http://schemas.openxmlformats.org/drawingml/2006/main">
              <a:ext uri="{FF2B5EF4-FFF2-40B4-BE49-F238E27FC236}">
                <a16:creationId xmlns:a16="http://schemas.microsoft.com/office/drawing/2014/main" id="{916041E8-EA3F-42D4-A80B-B23EEC3E3F6D}"/>
              </a:ext>
            </a:extLst>
          </p:cNvPr>
          <p:cNvPicPr>
            <a:picLocks xmlns:a="http://schemas.openxmlformats.org/drawingml/2006/main" noChangeAspect="1"/>
          </p:cNvPicPr>
          <p:nvPr/>
        </p:nvPicPr>
        <p:blipFill>
          <a:blip xmlns:r="http://schemas.openxmlformats.org/officeDocument/2006/relationships" xmlns:a="http://schemas.openxmlformats.org/drawingml/2006/main" r:embed="Rf594518f25a24aac">
            <a:extLst>
              <a:ext uri="{96DAC541-7B7A-43D3-8B79-37D633B846F1}">
                <asvg:svgBlip xmlns:asvg="http://schemas.microsoft.com/office/drawing/2016/SVG/main" r:embed="Rfda9bc67c6614407"/>
              </a:ext>
            </a:extLst>
          </a:blip>
          <a:stretch xmlns:a="http://schemas.openxmlformats.org/drawingml/2006/main"/>
        </p:blipFill>
        <p:spPr>
          <a:xfrm xmlns:a="http://schemas.openxmlformats.org/drawingml/2006/main">
            <a:off x="666750" y="428625"/>
            <a:ext cx="2152650" cy="361950"/>
          </a:xfrm>
          <a:prstGeom xmlns:a="http://schemas.openxmlformats.org/drawingml/2006/main" prst="rect">
            <a:avLst/>
          </a:prstGeom>
        </p:spPr>
      </p:pic>
      <p:sp>
        <p:nvSpPr>
          <p:cNvPr id="2" name="text-145">
            <a:extLst xmlns:a="http://schemas.openxmlformats.org/drawingml/2006/main">
              <a:ext uri="{FF2B5EF4-FFF2-40B4-BE49-F238E27FC236}">
                <a16:creationId xmlns:a16="http://schemas.microsoft.com/office/drawing/2014/main" id="{21184469-12B1-4959-A907-38E605692A10}"/>
              </a:ext>
            </a:extLst>
          </p:cNvPr>
          <p:cNvSpPr>
            <a:spLocks xmlns:a="http://schemas.openxmlformats.org/drawingml/2006/main" noGrp="1"/>
          </p:cNvSpPr>
          <p:nvPr/>
        </p:nvSpPr>
        <p:spPr>
          <a:xfrm xmlns:a="http://schemas.openxmlformats.org/drawingml/2006/main">
            <a:off x="3095625" y="42862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AAA7AF"/>
                </a:solidFill>
                <a:latin typeface="Inter"/>
                <a:ea typeface="Inter"/>
                <a:cs typeface="Inter"/>
              </a:defRPr>
            </a:pPr>
            <a:r>
              <a:rPr sz="1950" b="0">
                <a:solidFill>
                  <a:srgbClr val="AAA7AF"/>
                </a:solidFill>
                <a:latin typeface="Inter"/>
                <a:ea typeface="Inter"/>
                <a:cs typeface="Inter"/>
              </a:rPr>
              <a:t>What we made</a:t>
            </a:r>
          </a:p>
        </p:txBody>
      </p:sp>
      <p:sp>
        <p:nvSpPr>
          <p:cNvPr id="3" name="">
            <a:extLst xmlns:a="http://schemas.openxmlformats.org/drawingml/2006/main">
              <a:ext uri="{FF2B5EF4-FFF2-40B4-BE49-F238E27FC236}">
                <a16:creationId xmlns:a16="http://schemas.microsoft.com/office/drawing/2014/main" id="{DDBEC7C6-E0AE-41E8-B779-FF33E3BAC331}"/>
              </a:ext>
            </a:extLst>
          </p:cNvPr>
          <p:cNvSpPr>
            <a:spLocks xmlns:a="http://schemas.openxmlformats.org/drawingml/2006/main" noGrp="1"/>
          </p:cNvSpPr>
          <p:nvPr/>
        </p:nvSpPr>
        <p:spPr>
          <a:xfrm xmlns:a="http://schemas.openxmlformats.org/drawingml/2006/main">
            <a:off x="16363950" y="381000"/>
            <a:ext cx="1257300" cy="457200"/>
          </a:xfrm>
          <a:prstGeom xmlns:a="http://schemas.openxmlformats.org/drawingml/2006/main" prst="roundRect">
            <a:avLst>
              <a:gd name="adj" fmla="val 50000"/>
            </a:avLst>
          </a:prstGeom>
          <a:gradFill xmlns:a="http://schemas.openxmlformats.org/drawingml/2006/main">
            <a:gsLst>
              <a:gs pos="0">
                <a:srgbClr val="FFB8E9"/>
              </a:gs>
              <a:gs pos="100000">
                <a:srgbClr val="FF00BC"/>
              </a:gs>
            </a:gsLst>
            <a:lin ang="0"/>
          </a:gradFill>
          <a:ln xmlns:a="http://schemas.openxmlformats.org/drawingml/2006/main" w="0">
            <a:noFill/>
          </a:ln>
        </p:spPr>
      </p:sp>
      <p:sp>
        <p:nvSpPr>
          <p:cNvPr id="4" name="text-146">
            <a:extLst xmlns:a="http://schemas.openxmlformats.org/drawingml/2006/main">
              <a:ext uri="{FF2B5EF4-FFF2-40B4-BE49-F238E27FC236}">
                <a16:creationId xmlns:a16="http://schemas.microsoft.com/office/drawing/2014/main" id="{042C150B-CAF5-47F8-9E24-BF3442C5CC69}"/>
              </a:ext>
            </a:extLst>
          </p:cNvPr>
          <p:cNvSpPr>
            <a:spLocks xmlns:a="http://schemas.openxmlformats.org/drawingml/2006/main" noGrp="1"/>
          </p:cNvSpPr>
          <p:nvPr/>
        </p:nvSpPr>
        <p:spPr>
          <a:xfrm xmlns:a="http://schemas.openxmlformats.org/drawingml/2006/main">
            <a:off x="16535400" y="457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EBEBEB"/>
                </a:solidFill>
                <a:latin typeface="Inter"/>
                <a:ea typeface="Inter"/>
                <a:cs typeface="Inter"/>
              </a:defRPr>
            </a:pPr>
            <a:r>
              <a:rPr sz="1800" b="1">
                <a:solidFill>
                  <a:srgbClr val="EBEBEB"/>
                </a:solidFill>
                <a:latin typeface="Inter"/>
                <a:ea typeface="Inter"/>
                <a:cs typeface="Inter"/>
              </a:rPr>
              <a:t>09 / 10</a:t>
            </a:r>
          </a:p>
        </p:txBody>
      </p:sp>
      <p:sp>
        <p:nvSpPr>
          <p:cNvPr id="5" name="">
            <a:extLst xmlns:a="http://schemas.openxmlformats.org/drawingml/2006/main">
              <a:ext uri="{FF2B5EF4-FFF2-40B4-BE49-F238E27FC236}">
                <a16:creationId xmlns:a16="http://schemas.microsoft.com/office/drawing/2014/main" id="{D72F48AD-CBBB-4C2A-9712-777D6E5A1A41}"/>
              </a:ext>
            </a:extLst>
          </p:cNvPr>
          <p:cNvSpPr>
            <a:spLocks xmlns:a="http://schemas.openxmlformats.org/drawingml/2006/main" noGrp="1"/>
          </p:cNvSpPr>
          <p:nvPr/>
        </p:nvSpPr>
        <p:spPr>
          <a:xfrm xmlns:a="http://schemas.openxmlformats.org/drawingml/2006/main">
            <a:off x="666750" y="1000125"/>
            <a:ext cx="16954500" cy="0"/>
          </a:xfrm>
          <a:prstGeom xmlns:a="http://schemas.openxmlformats.org/drawingml/2006/main" prst="line">
            <a:avLst/>
          </a:prstGeom>
          <a:noFill xmlns:a="http://schemas.openxmlformats.org/drawingml/2006/main"/>
          <a:ln xmlns:a="http://schemas.openxmlformats.org/drawingml/2006/main" w="9525">
            <a:solidFill>
              <a:srgbClr val="29262D"/>
            </a:solidFill>
          </a:ln>
        </p:spPr>
      </p:sp>
      <p:sp>
        <p:nvSpPr>
          <p:cNvPr id="6" name="text-147">
            <a:extLst xmlns:a="http://schemas.openxmlformats.org/drawingml/2006/main">
              <a:ext uri="{FF2B5EF4-FFF2-40B4-BE49-F238E27FC236}">
                <a16:creationId xmlns:a16="http://schemas.microsoft.com/office/drawing/2014/main" id="{15B6D540-415F-44D5-B91B-0FA14B02B4CA}"/>
              </a:ext>
            </a:extLst>
          </p:cNvPr>
          <p:cNvSpPr>
            <a:spLocks xmlns:a="http://schemas.openxmlformats.org/drawingml/2006/main" noGrp="1"/>
          </p:cNvSpPr>
          <p:nvPr/>
        </p:nvSpPr>
        <p:spPr>
          <a:xfrm xmlns:a="http://schemas.openxmlformats.org/drawingml/2006/main">
            <a:off x="666750" y="1323975"/>
            <a:ext cx="1381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EBEBEB"/>
                </a:solidFill>
                <a:latin typeface="Bricolage Grotesque"/>
                <a:ea typeface="Bricolage Grotesque"/>
                <a:cs typeface="Bricolage Grotesque"/>
              </a:defRPr>
            </a:pPr>
            <a:r>
              <a:rPr sz="5700" b="1">
                <a:solidFill>
                  <a:srgbClr val="EBEBEB"/>
                </a:solidFill>
                <a:latin typeface="Bricolage Grotesque"/>
                <a:ea typeface="Bricolage Grotesque"/>
                <a:cs typeface="Bricolage Grotesque"/>
              </a:rPr>
              <a:t>My first 90 days</a:t>
            </a:r>
          </a:p>
        </p:txBody>
      </p:sp>
      <p:sp>
        <p:nvSpPr>
          <p:cNvPr id="63" name="first-90-days-description">
            <a:extLst xmlns:a="http://schemas.openxmlformats.org/drawingml/2006/main">
              <a:ext uri="{FF2B5EF4-FFF2-40B4-BE49-F238E27FC236}">
                <a16:creationId xmlns:a16="http://schemas.microsoft.com/office/drawing/2014/main" id="{F4199757-0594-47A0-8A64-A2FE990D6B75}"/>
              </a:ext>
            </a:extLst>
          </p:cNvPr>
          <p:cNvSpPr>
            <a:spLocks xmlns:a="http://schemas.openxmlformats.org/drawingml/2006/main" noGrp="1"/>
          </p:cNvSpPr>
          <p:nvPr/>
        </p:nvSpPr>
        <p:spPr>
          <a:xfrm xmlns:a="http://schemas.openxmlformats.org/drawingml/2006/main">
            <a:off x="695325" y="2305050"/>
            <a:ext cx="1662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400">
                <a:solidFill>
                  <a:srgbClr val="D2D0D6"/>
                </a:solidFill>
                <a:latin typeface="Inter"/>
                <a:ea typeface="Inter"/>
                <a:cs typeface="Inter"/>
              </a:defRPr>
            </a:defPPr>
          </a:lstStyle>
          <a:p xmlns:a="http://schemas.openxmlformats.org/drawingml/2006/main">
            <a:pPr algn="l">
              <a:defRPr sz="2400">
                <a:solidFill>
                  <a:srgbClr val="D2D0D6"/>
                </a:solidFill>
                <a:latin typeface="Inter"/>
                <a:ea typeface="Inter"/>
                <a:cs typeface="Inter"/>
              </a:defRPr>
            </a:pPr>
            <a:r>
              <a:rPr sz="2400">
                <a:solidFill>
                  <a:srgbClr val="D2D0D6"/>
                </a:solidFill>
                <a:latin typeface="Inter"/>
                <a:ea typeface="Inter"/>
                <a:cs typeface="Inter"/>
              </a:rPr>
              <a:t>What I can confirm from outside and what needs your systems</a:t>
            </a:r>
          </a:p>
        </p:txBody>
      </p:sp>
      <p:graphicFrame>
        <p:nvGraphicFramePr>
          <p:cNvPr id="64" name="">
            <a:extLst xmlns:a="http://schemas.openxmlformats.org/drawingml/2006/main">
              <a:ext uri="{FF2B5EF4-FFF2-40B4-BE49-F238E27FC236}">
                <a16:creationId xmlns:a16="http://schemas.microsoft.com/office/drawing/2014/main" id="{32CD4B25-7F47-433C-929D-F546D70DCF1D}"/>
              </a:ext>
            </a:extLst>
          </p:cNvPr>
          <p:cNvGraphicFramePr/>
          <p:nvPr/>
        </p:nvGraphicFramePr>
        <p:xfrm>
          <a:off xmlns:a="http://schemas.openxmlformats.org/drawingml/2006/main" x="666750" y="2914650"/>
          <a:ext xmlns:a="http://schemas.openxmlformats.org/drawingml/2006/main" cx="16954500" cy="6172200"/>
        </p:xfrm>
        <a:graphic xmlns:a="http://schemas.openxmlformats.org/drawingml/2006/main">
          <a:graphicData uri="http://schemas.openxmlformats.org/drawingml/2006/table">
            <a:tbl>
              <a:tblPr/>
              <a:tblGrid>
                <a:gridCol w="3143250"/>
                <a:gridCol w="13811250"/>
              </a:tblGrid>
              <a:tr h="1028700">
                <a:tc>
                  <a:txBody>
                    <a:bodyPr wrap="square">
                      <a:noAutofit/>
                    </a:bodyPr>
                    <a:lstStyle/>
                    <a:p>
                      <a:pPr algn="l"/>
                      <a:r>
                        <a:rPr sz="2250" b="1">
                          <a:solidFill>
                            <a:srgbClr val="FFB8E9"/>
                          </a:solidFill>
                          <a:latin typeface="Bricolage Grotesque"/>
                          <a:ea typeface="Bricolage Grotesque"/>
                          <a:cs typeface="Bricolage Grotesque"/>
                        </a:rPr>
                        <a:t>Week 1</a:t>
                      </a:r>
                    </a:p>
                  </a:txBody>
                  <a:tcPr marL="171450" marR="171450" marT="114300" marB="114300" anchor="ctr">
                    <a:solidFill>
                      <a:srgbClr val="19191C"/>
                    </a:solidFill>
                  </a:tcPr>
                </a:tc>
                <a:tc>
                  <a:txBody>
                    <a:bodyPr wrap="square">
                      <a:noAutofit/>
                    </a:bodyPr>
                    <a:lstStyle/>
                    <a:p>
                      <a:pPr algn="l"/>
                      <a:r>
                        <a:rPr sz="2250" b="0">
                          <a:solidFill>
                            <a:srgbClr val="D2D0D6"/>
                          </a:solidFill>
                          <a:latin typeface="Inter"/>
                          <a:ea typeface="Inter"/>
                          <a:cs typeface="Inter"/>
                        </a:rPr>
                        <a:t>Verify with your own data and change nothing. Run the sizing queries, confirm the dead signup conversion in Google Ads, and schedule the watcher.</a:t>
                      </a:r>
                    </a:p>
                  </a:txBody>
                  <a:tcPr marL="171450" marR="171450" marT="114300" marB="114300" anchor="ctr">
                    <a:solidFill>
                      <a:srgbClr val="19191C"/>
                    </a:solidFill>
                  </a:tcPr>
                </a:tc>
              </a:tr>
              <a:tr h="1028700">
                <a:tc>
                  <a:txBody>
                    <a:bodyPr wrap="square">
                      <a:noAutofit/>
                    </a:bodyPr>
                    <a:lstStyle/>
                    <a:p>
                      <a:pPr algn="l"/>
                      <a:r>
                        <a:rPr sz="2250" b="1">
                          <a:solidFill>
                            <a:srgbClr val="FFB8E9"/>
                          </a:solidFill>
                          <a:latin typeface="Bricolage Grotesque"/>
                          <a:ea typeface="Bricolage Grotesque"/>
                          <a:cs typeface="Bricolage Grotesque"/>
                        </a:rPr>
                        <a:t>Weeks 2–6</a:t>
                      </a:r>
                    </a:p>
                  </a:txBody>
                  <a:tcPr marL="171450" marR="171450" marT="114300" marB="114300" anchor="ctr">
                    <a:solidFill>
                      <a:srgbClr val="151518"/>
                    </a:solidFill>
                  </a:tcPr>
                </a:tc>
                <a:tc>
                  <a:txBody>
                    <a:bodyPr wrap="square">
                      <a:noAutofit/>
                    </a:bodyPr>
                    <a:lstStyle/>
                    <a:p>
                      <a:pPr algn="l"/>
                      <a:r>
                        <a:rPr sz="2250" b="0">
                          <a:solidFill>
                            <a:srgbClr val="D2D0D6"/>
                          </a:solidFill>
                          <a:latin typeface="Inter"/>
                          <a:ea typeface="Inter"/>
                          <a:cs typeface="Inter"/>
                        </a:rPr>
                        <a:t>Ship the fix pack, the edge module, a consent platform and the form fix. Land the ledger and the reconciliation.</a:t>
                      </a:r>
                    </a:p>
                  </a:txBody>
                  <a:tcPr marL="171450" marR="171450" marT="114300" marB="114300" anchor="ctr">
                    <a:solidFill>
                      <a:srgbClr val="151518"/>
                    </a:solidFill>
                  </a:tcPr>
                </a:tc>
              </a:tr>
              <a:tr h="1028700">
                <a:tc>
                  <a:txBody>
                    <a:bodyPr wrap="square">
                      <a:noAutofit/>
                    </a:bodyPr>
                    <a:lstStyle/>
                    <a:p>
                      <a:pPr algn="l"/>
                      <a:r>
                        <a:rPr sz="2250" b="1">
                          <a:solidFill>
                            <a:srgbClr val="FFB8E9"/>
                          </a:solidFill>
                          <a:latin typeface="Bricolage Grotesque"/>
                          <a:ea typeface="Bricolage Grotesque"/>
                          <a:cs typeface="Bricolage Grotesque"/>
                        </a:rPr>
                        <a:t>Weeks 7–12</a:t>
                      </a:r>
                    </a:p>
                  </a:txBody>
                  <a:tcPr marL="171450" marR="171450" marT="114300" marB="114300" anchor="ctr">
                    <a:solidFill>
                      <a:srgbClr val="19191C"/>
                    </a:solidFill>
                  </a:tcPr>
                </a:tc>
                <a:tc>
                  <a:txBody>
                    <a:bodyPr wrap="square">
                      <a:noAutofit/>
                    </a:bodyPr>
                    <a:lstStyle/>
                    <a:p>
                      <a:pPr algn="l"/>
                      <a:r>
                        <a:rPr sz="2250" b="0">
                          <a:solidFill>
                            <a:srgbClr val="D2D0D6"/>
                          </a:solidFill>
                          <a:latin typeface="Inter"/>
                          <a:ea typeface="Inter"/>
                          <a:cs typeface="Inter"/>
                        </a:rPr>
                        <a:t>Turn on server-side conversions at cash value. Calibrate the profit value on real data, then prove it with a lift test.</a:t>
                      </a:r>
                    </a:p>
                  </a:txBody>
                  <a:tcPr marL="171450" marR="171450" marT="114300" marB="114300" anchor="ctr">
                    <a:solidFill>
                      <a:srgbClr val="19191C"/>
                    </a:solidFill>
                  </a:tcPr>
                </a:tc>
              </a:tr>
              <a:tr h="1028700">
                <a:tc>
                  <a:txBody>
                    <a:bodyPr wrap="square">
                      <a:noAutofit/>
                    </a:bodyPr>
                    <a:lstStyle/>
                    <a:p>
                      <a:pPr algn="l"/>
                      <a:r>
                        <a:rPr sz="2250" b="1">
                          <a:solidFill>
                            <a:srgbClr val="FFB8E9"/>
                          </a:solidFill>
                          <a:latin typeface="Bricolage Grotesque"/>
                          <a:ea typeface="Bricolage Grotesque"/>
                          <a:cs typeface="Bricolage Grotesque"/>
                        </a:rPr>
                        <a:t>Confirmed from outside</a:t>
                      </a:r>
                    </a:p>
                  </a:txBody>
                  <a:tcPr marL="171450" marR="171450" marT="114300" marB="114300" anchor="ctr">
                    <a:solidFill>
                      <a:srgbClr val="151518"/>
                    </a:solidFill>
                  </a:tcPr>
                </a:tc>
                <a:tc>
                  <a:txBody>
                    <a:bodyPr wrap="square">
                      <a:noAutofit/>
                    </a:bodyPr>
                    <a:lstStyle/>
                    <a:p>
                      <a:pPr algn="l"/>
                      <a:r>
                        <a:rPr sz="2250" b="0">
                          <a:solidFill>
                            <a:srgbClr val="D2D0D6"/>
                          </a:solidFill>
                          <a:latin typeface="Inter"/>
                          <a:ea typeface="Inter"/>
                          <a:cs typeface="Inter"/>
                        </a:rPr>
                        <a:t>Every tracking finding above.</a:t>
                      </a:r>
                    </a:p>
                  </a:txBody>
                  <a:tcPr marL="171450" marR="171450" marT="114300" marB="114300" anchor="ctr">
                    <a:solidFill>
                      <a:srgbClr val="151518"/>
                    </a:solidFill>
                  </a:tcPr>
                </a:tc>
              </a:tr>
              <a:tr h="2057400">
                <a:tc>
                  <a:txBody>
                    <a:bodyPr wrap="square">
                      <a:noAutofit/>
                    </a:bodyPr>
                    <a:lstStyle/>
                    <a:p>
                      <a:pPr algn="l"/>
                      <a:r>
                        <a:rPr sz="2250" b="1">
                          <a:solidFill>
                            <a:srgbClr val="FFB8E9"/>
                          </a:solidFill>
                          <a:latin typeface="Bricolage Grotesque"/>
                          <a:ea typeface="Bricolage Grotesque"/>
                          <a:cs typeface="Bricolage Grotesque"/>
                        </a:rPr>
                        <a:t>Needs your systems</a:t>
                      </a:r>
                    </a:p>
                  </a:txBody>
                  <a:tcPr marL="171450" marR="171450" marT="114300" marB="114300" anchor="ctr">
                    <a:solidFill>
                      <a:srgbClr val="19191C"/>
                    </a:solidFill>
                  </a:tcPr>
                </a:tc>
                <a:tc>
                  <a:txBody>
                    <a:bodyPr wrap="square">
                      <a:noAutofit/>
                    </a:bodyPr>
                    <a:lstStyle/>
                    <a:p>
                      <a:pPr algn="l"/>
                      <a:r>
                        <a:rPr sz="2250" b="0">
                          <a:solidFill>
                            <a:srgbClr val="D2D0D6"/>
                          </a:solidFill>
                          <a:latin typeface="Inter"/>
                          <a:ea typeface="Inter"/>
                          <a:cs typeface="Inter"/>
                        </a:rPr>
                        <a:t>How Stripe webhooks are handled today.</a:t>
                      </a:r>
                    </a:p>
                    <a:p>
                      <a:pPr algn="l"/>
                      <a:r>
                        <a:rPr sz="2250" b="0">
                          <a:solidFill>
                            <a:srgbClr val="D2D0D6"/>
                          </a:solidFill>
                          <a:latin typeface="Inter"/>
                          <a:ea typeface="Inter"/>
                          <a:cs typeface="Inter"/>
                        </a:rPr>
                        <a:t>What already lands in BigQuery.</a:t>
                      </a:r>
                    </a:p>
                    <a:p>
                      <a:pPr algn="l"/>
                      <a:r>
                        <a:rPr sz="2250" b="0">
                          <a:solidFill>
                            <a:srgbClr val="D2D0D6"/>
                          </a:solidFill>
                          <a:latin typeface="Inter"/>
                          <a:ea typeface="Inter"/>
                          <a:cs typeface="Inter"/>
                        </a:rPr>
                        <a:t>Real per-model costs.</a:t>
                      </a:r>
                    </a:p>
                    <a:p>
                      <a:pPr algn="l"/>
                      <a:r>
                        <a:rPr sz="2250" b="0">
                          <a:solidFill>
                            <a:srgbClr val="D2D0D6"/>
                          </a:solidFill>
                          <a:latin typeface="Inter"/>
                          <a:ea typeface="Inter"/>
                          <a:cs typeface="Inter"/>
                        </a:rPr>
                        <a:t>EU consent behavior.</a:t>
                      </a:r>
                    </a:p>
                    <a:p>
                      <a:pPr algn="l"/>
                      <a:r>
                        <a:rPr sz="2250" b="0">
                          <a:solidFill>
                            <a:srgbClr val="D2D0D6"/>
                          </a:solidFill>
                          <a:latin typeface="Inter"/>
                          <a:ea typeface="Inter"/>
                          <a:cs typeface="Inter"/>
                        </a:rPr>
                        <a:t>Ad-platform API access.</a:t>
                      </a:r>
                    </a:p>
                  </a:txBody>
                  <a:tcPr marL="171450" marR="171450" marT="114300" marB="114300" anchor="ctr">
                    <a:solidFill>
                      <a:srgbClr val="19191C"/>
                    </a:solidFill>
                  </a:tcPr>
                </a:tc>
              </a:tr>
            </a:tbl>
          </a:graphicData>
        </a:graphic>
      </p:graphicFrame>
    </p:spTree>
    <p:extLst>
      <p:ext uri="{BB962C8B-B14F-4D97-AF65-F5344CB8AC3E}">
        <p14:creationId xmlns:p14="http://schemas.microsoft.com/office/powerpoint/2010/main" val="673094049"/>
      </p:ext>
    </p:extLst>
  </p:cSld>
</p:sld>
</file>

<file path=ppt/slides/slide10.xml><?xml version="1.0" encoding="utf-8"?>
<p:sld xmlns:p="http://schemas.openxmlformats.org/presentationml/2006/main">
  <p:cSld>
    <p:bg>
      <p:bgPr>
        <a:gradFill xmlns:a="http://schemas.openxmlformats.org/drawingml/2006/main">
          <a:gsLst>
            <a:gs pos="0">
              <a:srgbClr val="100D11"/>
            </a:gs>
            <a:gs pos="100000">
              <a:srgbClr val="09090B"/>
            </a:gs>
          </a:gsLst>
          <a:lin ang="2700000"/>
        </a:gradFill>
      </p:bgPr>
    </p:bg>
    <p:spTree>
      <p:nvGrpSpPr>
        <p:cNvPr id="1" name=""/>
        <p:cNvGrpSpPr/>
        <p:nvPr/>
      </p:nvGrpSpPr>
      <p:grpSpPr>
        <a:xfrm xmlns:a="http://schemas.openxmlformats.org/drawingml/2006/main"/>
      </p:grpSpPr>
      <p:pic>
        <p:nvPicPr>
          <p:cNvPr id="38" name="">
            <a:extLst xmlns:a="http://schemas.openxmlformats.org/drawingml/2006/main">
              <a:ext uri="{FF2B5EF4-FFF2-40B4-BE49-F238E27FC236}">
                <a16:creationId xmlns:a16="http://schemas.microsoft.com/office/drawing/2014/main" id="{7BB4BF48-23EA-4095-B4C9-355DF8F244A7}"/>
              </a:ext>
            </a:extLst>
          </p:cNvPr>
          <p:cNvPicPr>
            <a:picLocks xmlns:a="http://schemas.openxmlformats.org/drawingml/2006/main" noChangeAspect="1"/>
          </p:cNvPicPr>
          <p:nvPr/>
        </p:nvPicPr>
        <p:blipFill>
          <a:blip xmlns:r="http://schemas.openxmlformats.org/officeDocument/2006/relationships" xmlns:a="http://schemas.openxmlformats.org/drawingml/2006/main" r:embed="R3f834b4e7bf44dbe">
            <a:extLst>
              <a:ext uri="{96DAC541-7B7A-43D3-8B79-37D633B846F1}">
                <asvg:svgBlip xmlns:asvg="http://schemas.microsoft.com/office/drawing/2016/SVG/main" r:embed="Rfc69cc043dfe497a"/>
              </a:ext>
            </a:extLst>
          </a:blip>
          <a:stretch xmlns:a="http://schemas.openxmlformats.org/drawingml/2006/main"/>
        </p:blipFill>
        <p:spPr>
          <a:xfrm xmlns:a="http://schemas.openxmlformats.org/drawingml/2006/main">
            <a:off x="666750" y="428625"/>
            <a:ext cx="2152650" cy="361950"/>
          </a:xfrm>
          <a:prstGeom xmlns:a="http://schemas.openxmlformats.org/drawingml/2006/main" prst="rect">
            <a:avLst/>
          </a:prstGeom>
        </p:spPr>
      </p:pic>
      <p:sp>
        <p:nvSpPr>
          <p:cNvPr id="2" name="text-168">
            <a:extLst xmlns:a="http://schemas.openxmlformats.org/drawingml/2006/main">
              <a:ext uri="{FF2B5EF4-FFF2-40B4-BE49-F238E27FC236}">
                <a16:creationId xmlns:a16="http://schemas.microsoft.com/office/drawing/2014/main" id="{B3C2DC68-F071-40A7-B1B0-4BE9C4D03EE2}"/>
              </a:ext>
            </a:extLst>
          </p:cNvPr>
          <p:cNvSpPr>
            <a:spLocks xmlns:a="http://schemas.openxmlformats.org/drawingml/2006/main" noGrp="1"/>
          </p:cNvSpPr>
          <p:nvPr/>
        </p:nvSpPr>
        <p:spPr>
          <a:xfrm xmlns:a="http://schemas.openxmlformats.org/drawingml/2006/main">
            <a:off x="3095625" y="42862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AAA7AF"/>
                </a:solidFill>
                <a:latin typeface="Inter"/>
                <a:ea typeface="Inter"/>
                <a:cs typeface="Inter"/>
              </a:defRPr>
            </a:pPr>
            <a:r>
              <a:rPr sz="1950" b="0">
                <a:solidFill>
                  <a:srgbClr val="AAA7AF"/>
                </a:solidFill>
                <a:latin typeface="Inter"/>
                <a:ea typeface="Inter"/>
                <a:cs typeface="Inter"/>
              </a:rPr>
              <a:t>What we made</a:t>
            </a:r>
          </a:p>
        </p:txBody>
      </p:sp>
      <p:sp>
        <p:nvSpPr>
          <p:cNvPr id="3" name="">
            <a:extLst xmlns:a="http://schemas.openxmlformats.org/drawingml/2006/main">
              <a:ext uri="{FF2B5EF4-FFF2-40B4-BE49-F238E27FC236}">
                <a16:creationId xmlns:a16="http://schemas.microsoft.com/office/drawing/2014/main" id="{17B47CE8-D7BF-45EE-A5C9-74FAF44C8022}"/>
              </a:ext>
            </a:extLst>
          </p:cNvPr>
          <p:cNvSpPr>
            <a:spLocks xmlns:a="http://schemas.openxmlformats.org/drawingml/2006/main" noGrp="1"/>
          </p:cNvSpPr>
          <p:nvPr/>
        </p:nvSpPr>
        <p:spPr>
          <a:xfrm xmlns:a="http://schemas.openxmlformats.org/drawingml/2006/main">
            <a:off x="16363950" y="381000"/>
            <a:ext cx="1257300" cy="457200"/>
          </a:xfrm>
          <a:prstGeom xmlns:a="http://schemas.openxmlformats.org/drawingml/2006/main" prst="roundRect">
            <a:avLst>
              <a:gd name="adj" fmla="val 50000"/>
            </a:avLst>
          </a:prstGeom>
          <a:gradFill xmlns:a="http://schemas.openxmlformats.org/drawingml/2006/main">
            <a:gsLst>
              <a:gs pos="0">
                <a:srgbClr val="FFB8E9"/>
              </a:gs>
              <a:gs pos="100000">
                <a:srgbClr val="FF00BC"/>
              </a:gs>
            </a:gsLst>
            <a:lin ang="0"/>
          </a:gradFill>
          <a:ln xmlns:a="http://schemas.openxmlformats.org/drawingml/2006/main" w="0">
            <a:noFill/>
          </a:ln>
        </p:spPr>
      </p:sp>
      <p:sp>
        <p:nvSpPr>
          <p:cNvPr id="4" name="text-169">
            <a:extLst xmlns:a="http://schemas.openxmlformats.org/drawingml/2006/main">
              <a:ext uri="{FF2B5EF4-FFF2-40B4-BE49-F238E27FC236}">
                <a16:creationId xmlns:a16="http://schemas.microsoft.com/office/drawing/2014/main" id="{6270FECD-61F9-4D63-A02C-1D942A9C5F84}"/>
              </a:ext>
            </a:extLst>
          </p:cNvPr>
          <p:cNvSpPr>
            <a:spLocks xmlns:a="http://schemas.openxmlformats.org/drawingml/2006/main" noGrp="1"/>
          </p:cNvSpPr>
          <p:nvPr/>
        </p:nvSpPr>
        <p:spPr>
          <a:xfrm xmlns:a="http://schemas.openxmlformats.org/drawingml/2006/main">
            <a:off x="16535400" y="457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EBEBEB"/>
                </a:solidFill>
                <a:latin typeface="Inter"/>
                <a:ea typeface="Inter"/>
                <a:cs typeface="Inter"/>
              </a:defRPr>
            </a:pPr>
            <a:r>
              <a:rPr sz="1800" b="1">
                <a:solidFill>
                  <a:srgbClr val="EBEBEB"/>
                </a:solidFill>
                <a:latin typeface="Inter"/>
                <a:ea typeface="Inter"/>
                <a:cs typeface="Inter"/>
              </a:rPr>
              <a:t>10 / 10</a:t>
            </a:r>
          </a:p>
        </p:txBody>
      </p:sp>
      <p:sp>
        <p:nvSpPr>
          <p:cNvPr id="5" name="">
            <a:extLst xmlns:a="http://schemas.openxmlformats.org/drawingml/2006/main">
              <a:ext uri="{FF2B5EF4-FFF2-40B4-BE49-F238E27FC236}">
                <a16:creationId xmlns:a16="http://schemas.microsoft.com/office/drawing/2014/main" id="{DD7A1482-21E5-4176-905B-6C7B3FAFA442}"/>
              </a:ext>
            </a:extLst>
          </p:cNvPr>
          <p:cNvSpPr>
            <a:spLocks xmlns:a="http://schemas.openxmlformats.org/drawingml/2006/main" noGrp="1"/>
          </p:cNvSpPr>
          <p:nvPr/>
        </p:nvSpPr>
        <p:spPr>
          <a:xfrm xmlns:a="http://schemas.openxmlformats.org/drawingml/2006/main">
            <a:off x="666750" y="1000125"/>
            <a:ext cx="16954500" cy="0"/>
          </a:xfrm>
          <a:prstGeom xmlns:a="http://schemas.openxmlformats.org/drawingml/2006/main" prst="line">
            <a:avLst/>
          </a:prstGeom>
          <a:noFill xmlns:a="http://schemas.openxmlformats.org/drawingml/2006/main"/>
          <a:ln xmlns:a="http://schemas.openxmlformats.org/drawingml/2006/main" w="9525">
            <a:solidFill>
              <a:srgbClr val="29262D"/>
            </a:solidFill>
          </a:ln>
        </p:spPr>
      </p:sp>
      <p:sp>
        <p:nvSpPr>
          <p:cNvPr id="6" name="text-170">
            <a:extLst xmlns:a="http://schemas.openxmlformats.org/drawingml/2006/main">
              <a:ext uri="{FF2B5EF4-FFF2-40B4-BE49-F238E27FC236}">
                <a16:creationId xmlns:a16="http://schemas.microsoft.com/office/drawing/2014/main" id="{E3374600-C3EE-4C56-9148-94608534841B}"/>
              </a:ext>
            </a:extLst>
          </p:cNvPr>
          <p:cNvSpPr>
            <a:spLocks xmlns:a="http://schemas.openxmlformats.org/drawingml/2006/main" noGrp="1"/>
          </p:cNvSpPr>
          <p:nvPr/>
        </p:nvSpPr>
        <p:spPr>
          <a:xfrm xmlns:a="http://schemas.openxmlformats.org/drawingml/2006/main">
            <a:off x="666750" y="1323975"/>
            <a:ext cx="1381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EBEBEB"/>
                </a:solidFill>
                <a:latin typeface="Bricolage Grotesque"/>
                <a:ea typeface="Bricolage Grotesque"/>
                <a:cs typeface="Bricolage Grotesque"/>
              </a:defRPr>
            </a:pPr>
            <a:r>
              <a:rPr sz="5700" b="1">
                <a:gradFill>
                  <a:gsLst>
                    <a:gs pos="0">
                      <a:srgbClr val="FFB8E9"/>
                    </a:gs>
                    <a:gs pos="100000">
                      <a:srgbClr val="FF00BC"/>
                    </a:gs>
                  </a:gsLst>
                  <a:lin ang="0"/>
                </a:gradFill>
                <a:latin typeface="Bricolage Grotesque"/>
                <a:ea typeface="Bricolage Grotesque"/>
                <a:cs typeface="Bricolage Grotesque"/>
              </a:rPr>
              <a:t>Reviews and totals</a:t>
            </a:r>
          </a:p>
        </p:txBody>
      </p:sp>
      <p:sp>
        <p:nvSpPr>
          <p:cNvPr id="8" name="text-172">
            <a:extLst xmlns:a="http://schemas.openxmlformats.org/drawingml/2006/main">
              <a:ext uri="{FF2B5EF4-FFF2-40B4-BE49-F238E27FC236}">
                <a16:creationId xmlns:a16="http://schemas.microsoft.com/office/drawing/2014/main" id="{6454454F-0012-428E-90F2-399AC2AD2568}"/>
              </a:ext>
            </a:extLst>
          </p:cNvPr>
          <p:cNvSpPr>
            <a:spLocks xmlns:a="http://schemas.openxmlformats.org/drawingml/2006/main" noGrp="1"/>
          </p:cNvSpPr>
          <p:nvPr/>
        </p:nvSpPr>
        <p:spPr>
          <a:xfrm xmlns:a="http://schemas.openxmlformats.org/drawingml/2006/main">
            <a:off x="685800" y="9744075"/>
            <a:ext cx="1381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AAA7AF"/>
                </a:solidFill>
                <a:latin typeface="Inter"/>
                <a:ea typeface="Inter"/>
                <a:cs typeface="Inter"/>
              </a:defRPr>
            </a:pPr>
            <a:r>
              <a:rPr sz="1725" b="0">
                <a:solidFill>
                  <a:srgbClr val="AAA7AF"/>
                </a:solidFill>
                <a:latin typeface="Inter"/>
                <a:ea typeface="Inter"/>
                <a:cs typeface="Inter"/>
              </a:rPr>
              <a:t>Built and tested. OpenArt integration and real-data validation remain.</a:t>
            </a:r>
          </a:p>
        </p:txBody>
      </p:sp>
      <p:sp>
        <p:nvSpPr>
          <p:cNvPr id="9" name="text-173">
            <a:extLst xmlns:a="http://schemas.openxmlformats.org/drawingml/2006/main">
              <a:ext uri="{FF2B5EF4-FFF2-40B4-BE49-F238E27FC236}">
                <a16:creationId xmlns:a16="http://schemas.microsoft.com/office/drawing/2014/main" id="{447867C6-1A72-460E-8969-70CD45C7AB41}"/>
              </a:ext>
            </a:extLst>
          </p:cNvPr>
          <p:cNvSpPr>
            <a:spLocks xmlns:a="http://schemas.openxmlformats.org/drawingml/2006/main" noGrp="1"/>
          </p:cNvSpPr>
          <p:nvPr/>
        </p:nvSpPr>
        <p:spPr>
          <a:xfrm xmlns:a="http://schemas.openxmlformats.org/drawingml/2006/main">
            <a:off x="13620750" y="97440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725" b="0">
                <a:solidFill>
                  <a:srgbClr val="AAA7AF"/>
                </a:solidFill>
                <a:latin typeface="Inter"/>
                <a:ea typeface="Inter"/>
                <a:cs typeface="Inter"/>
              </a:defRPr>
            </a:pPr>
            <a:r>
              <a:rPr sz="1725" b="0">
                <a:solidFill>
                  <a:srgbClr val="AAA7AF"/>
                </a:solidFill>
                <a:latin typeface="Inter"/>
                <a:ea typeface="Inter"/>
                <a:cs typeface="Inter"/>
              </a:rPr>
              <a:t>Final code</a:t>
            </a:r>
          </a:p>
        </p:txBody>
      </p:sp>
      <p:sp>
        <p:nvSpPr>
          <p:cNvPr id="22" name="simple-104">
            <a:extLst xmlns:a="http://schemas.openxmlformats.org/drawingml/2006/main">
              <a:ext uri="{FF2B5EF4-FFF2-40B4-BE49-F238E27FC236}">
                <a16:creationId xmlns:a16="http://schemas.microsoft.com/office/drawing/2014/main" id="{C5302B26-1AE3-4F7F-9D98-AC7969F19A08}"/>
              </a:ext>
            </a:extLst>
          </p:cNvPr>
          <p:cNvSpPr>
            <a:spLocks xmlns:a="http://schemas.openxmlformats.org/drawingml/2006/main" noGrp="1"/>
          </p:cNvSpPr>
          <p:nvPr/>
        </p:nvSpPr>
        <p:spPr>
          <a:xfrm xmlns:a="http://schemas.openxmlformats.org/drawingml/2006/main">
            <a:off x="695325" y="2305050"/>
            <a:ext cx="1619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D2D0D6"/>
                </a:solidFill>
                <a:latin typeface="Inter"/>
                <a:ea typeface="Inter"/>
                <a:cs typeface="Inter"/>
              </a:defRPr>
            </a:pPr>
            <a:r>
              <a:rPr sz="2400" b="0">
                <a:solidFill>
                  <a:srgbClr val="D2D0D6"/>
                </a:solidFill>
                <a:latin typeface="Inter"/>
                <a:ea typeface="Inter"/>
                <a:cs typeface="Inter"/>
              </a:rPr>
              <a:t>Four independent reviews found roughly 60 issues; fixes have regression coverage</a:t>
            </a:r>
          </a:p>
        </p:txBody>
      </p:sp>
      <p:sp>
        <p:nvSpPr>
          <p:cNvPr id="23" name="">
            <a:extLst xmlns:a="http://schemas.openxmlformats.org/drawingml/2006/main">
              <a:ext uri="{FF2B5EF4-FFF2-40B4-BE49-F238E27FC236}">
                <a16:creationId xmlns:a16="http://schemas.microsoft.com/office/drawing/2014/main" id="{056A2FF7-3D9A-4488-BFEB-58D52EF16FC0}"/>
              </a:ext>
            </a:extLst>
          </p:cNvPr>
          <p:cNvSpPr>
            <a:spLocks xmlns:a="http://schemas.openxmlformats.org/drawingml/2006/main" noGrp="1"/>
          </p:cNvSpPr>
          <p:nvPr/>
        </p:nvSpPr>
        <p:spPr>
          <a:xfrm xmlns:a="http://schemas.openxmlformats.org/drawingml/2006/main">
            <a:off x="666750" y="3362325"/>
            <a:ext cx="8077200" cy="2333625"/>
          </a:xfrm>
          <a:prstGeom xmlns:a="http://schemas.openxmlformats.org/drawingml/2006/main" prst="roundRect">
            <a:avLst>
              <a:gd name="adj" fmla="val 12245"/>
            </a:avLst>
          </a:prstGeom>
          <a:gradFill xmlns:a="http://schemas.openxmlformats.org/drawingml/2006/main">
            <a:gsLst>
              <a:gs pos="0">
                <a:srgbClr val="19191C"/>
              </a:gs>
              <a:gs pos="100000">
                <a:srgbClr val="141416"/>
              </a:gs>
            </a:gsLst>
            <a:lin ang="5400000"/>
          </a:gradFill>
          <a:ln xmlns:a="http://schemas.openxmlformats.org/drawingml/2006/main" w="14288">
            <a:gradFill>
              <a:gsLst>
                <a:gs pos="0">
                  <a:srgbClr val="B78AA8"/>
                </a:gs>
                <a:gs pos="100000">
                  <a:srgbClr val="FF00BC"/>
                </a:gs>
              </a:gsLst>
              <a:lin ang="5400000"/>
            </a:gradFill>
          </a:ln>
        </p:spPr>
      </p:sp>
      <p:sp>
        <p:nvSpPr>
          <p:cNvPr id="24" name="simple-105">
            <a:extLst xmlns:a="http://schemas.openxmlformats.org/drawingml/2006/main">
              <a:ext uri="{FF2B5EF4-FFF2-40B4-BE49-F238E27FC236}">
                <a16:creationId xmlns:a16="http://schemas.microsoft.com/office/drawing/2014/main" id="{FDCB600A-ABD8-489E-89E1-74C6B2CB5974}"/>
              </a:ext>
            </a:extLst>
          </p:cNvPr>
          <p:cNvSpPr>
            <a:spLocks xmlns:a="http://schemas.openxmlformats.org/drawingml/2006/main" noGrp="1"/>
          </p:cNvSpPr>
          <p:nvPr/>
        </p:nvSpPr>
        <p:spPr>
          <a:xfrm xmlns:a="http://schemas.openxmlformats.org/drawingml/2006/main">
            <a:off x="1047750" y="3629025"/>
            <a:ext cx="7239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725" b="1">
                <a:solidFill>
                  <a:srgbClr val="FF45CF"/>
                </a:solidFill>
                <a:latin typeface="Bricolage Grotesque"/>
                <a:ea typeface="Bricolage Grotesque"/>
                <a:cs typeface="Bricolage Grotesque"/>
              </a:defRPr>
            </a:pPr>
            <a:r>
              <a:rPr sz="7725" b="1">
                <a:solidFill>
                  <a:srgbClr val="FF45CF"/>
                </a:solidFill>
                <a:latin typeface="Bricolage Grotesque"/>
                <a:ea typeface="Bricolage Grotesque"/>
                <a:cs typeface="Bricolage Grotesque"/>
              </a:rPr>
              <a:t>1,484</a:t>
            </a:r>
          </a:p>
        </p:txBody>
      </p:sp>
      <p:sp>
        <p:nvSpPr>
          <p:cNvPr id="25" name="simple-106">
            <a:extLst xmlns:a="http://schemas.openxmlformats.org/drawingml/2006/main">
              <a:ext uri="{FF2B5EF4-FFF2-40B4-BE49-F238E27FC236}">
                <a16:creationId xmlns:a16="http://schemas.microsoft.com/office/drawing/2014/main" id="{6A18108C-FFBE-4BBD-9E88-54B988BD4299}"/>
              </a:ext>
            </a:extLst>
          </p:cNvPr>
          <p:cNvSpPr>
            <a:spLocks xmlns:a="http://schemas.openxmlformats.org/drawingml/2006/main" noGrp="1"/>
          </p:cNvSpPr>
          <p:nvPr/>
        </p:nvSpPr>
        <p:spPr>
          <a:xfrm xmlns:a="http://schemas.openxmlformats.org/drawingml/2006/main">
            <a:off x="1047750" y="5019675"/>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0">
                <a:solidFill>
                  <a:srgbClr val="D2D0D6"/>
                </a:solidFill>
                <a:latin typeface="Inter"/>
                <a:ea typeface="Inter"/>
                <a:cs typeface="Inter"/>
              </a:defRPr>
            </a:pPr>
            <a:r>
              <a:rPr sz="2475" b="0">
                <a:solidFill>
                  <a:srgbClr val="D2D0D6"/>
                </a:solidFill>
                <a:latin typeface="Inter"/>
                <a:ea typeface="Inter"/>
                <a:cs typeface="Inter"/>
              </a:rPr>
              <a:t>reported TypeScript tests</a:t>
            </a:r>
          </a:p>
        </p:txBody>
      </p:sp>
      <p:sp>
        <p:nvSpPr>
          <p:cNvPr id="26" name="">
            <a:extLst xmlns:a="http://schemas.openxmlformats.org/drawingml/2006/main">
              <a:ext uri="{FF2B5EF4-FFF2-40B4-BE49-F238E27FC236}">
                <a16:creationId xmlns:a16="http://schemas.microsoft.com/office/drawing/2014/main" id="{9E688634-4CB9-4988-A84A-5787D537E8E5}"/>
              </a:ext>
            </a:extLst>
          </p:cNvPr>
          <p:cNvSpPr>
            <a:spLocks xmlns:a="http://schemas.openxmlformats.org/drawingml/2006/main" noGrp="1"/>
          </p:cNvSpPr>
          <p:nvPr/>
        </p:nvSpPr>
        <p:spPr>
          <a:xfrm xmlns:a="http://schemas.openxmlformats.org/drawingml/2006/main">
            <a:off x="666750" y="5962650"/>
            <a:ext cx="8077200" cy="2333625"/>
          </a:xfrm>
          <a:prstGeom xmlns:a="http://schemas.openxmlformats.org/drawingml/2006/main" prst="roundRect">
            <a:avLst>
              <a:gd name="adj" fmla="val 12245"/>
            </a:avLst>
          </a:prstGeom>
          <a:gradFill xmlns:a="http://schemas.openxmlformats.org/drawingml/2006/main">
            <a:gsLst>
              <a:gs pos="0">
                <a:srgbClr val="19191C"/>
              </a:gs>
              <a:gs pos="100000">
                <a:srgbClr val="141416"/>
              </a:gs>
            </a:gsLst>
            <a:lin ang="5400000"/>
          </a:gradFill>
          <a:ln xmlns:a="http://schemas.openxmlformats.org/drawingml/2006/main" w="10478">
            <a:gradFill>
              <a:gsLst>
                <a:gs pos="0">
                  <a:srgbClr val="5B585F"/>
                </a:gs>
                <a:gs pos="100000">
                  <a:srgbClr val="323137"/>
                </a:gs>
              </a:gsLst>
              <a:lin ang="5400000"/>
            </a:gradFill>
          </a:ln>
        </p:spPr>
      </p:sp>
      <p:sp>
        <p:nvSpPr>
          <p:cNvPr id="27" name="simple-107">
            <a:extLst xmlns:a="http://schemas.openxmlformats.org/drawingml/2006/main">
              <a:ext uri="{FF2B5EF4-FFF2-40B4-BE49-F238E27FC236}">
                <a16:creationId xmlns:a16="http://schemas.microsoft.com/office/drawing/2014/main" id="{23863C39-DD27-4C8D-B8C8-3BF1AA8F3610}"/>
              </a:ext>
            </a:extLst>
          </p:cNvPr>
          <p:cNvSpPr>
            <a:spLocks xmlns:a="http://schemas.openxmlformats.org/drawingml/2006/main" noGrp="1"/>
          </p:cNvSpPr>
          <p:nvPr/>
        </p:nvSpPr>
        <p:spPr>
          <a:xfrm xmlns:a="http://schemas.openxmlformats.org/drawingml/2006/main">
            <a:off x="1047750" y="6229350"/>
            <a:ext cx="7239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725" b="1">
                <a:solidFill>
                  <a:srgbClr val="EBEBEB"/>
                </a:solidFill>
                <a:latin typeface="Bricolage Grotesque"/>
                <a:ea typeface="Bricolage Grotesque"/>
                <a:cs typeface="Bricolage Grotesque"/>
              </a:defRPr>
            </a:pPr>
            <a:r>
              <a:rPr sz="7725" b="1">
                <a:solidFill>
                  <a:srgbClr val="EBEBEB"/>
                </a:solidFill>
                <a:latin typeface="Bricolage Grotesque"/>
                <a:ea typeface="Bricolage Grotesque"/>
                <a:cs typeface="Bricolage Grotesque"/>
              </a:rPr>
              <a:t>505</a:t>
            </a:r>
          </a:p>
        </p:txBody>
      </p:sp>
      <p:sp>
        <p:nvSpPr>
          <p:cNvPr id="28" name="simple-108">
            <a:extLst xmlns:a="http://schemas.openxmlformats.org/drawingml/2006/main">
              <a:ext uri="{FF2B5EF4-FFF2-40B4-BE49-F238E27FC236}">
                <a16:creationId xmlns:a16="http://schemas.microsoft.com/office/drawing/2014/main" id="{91B94996-5B12-4888-BE2E-C33B8A7004E7}"/>
              </a:ext>
            </a:extLst>
          </p:cNvPr>
          <p:cNvSpPr>
            <a:spLocks xmlns:a="http://schemas.openxmlformats.org/drawingml/2006/main" noGrp="1"/>
          </p:cNvSpPr>
          <p:nvPr/>
        </p:nvSpPr>
        <p:spPr>
          <a:xfrm xmlns:a="http://schemas.openxmlformats.org/drawingml/2006/main">
            <a:off x="1047750" y="762000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0">
                <a:solidFill>
                  <a:srgbClr val="D2D0D6"/>
                </a:solidFill>
                <a:latin typeface="Inter"/>
                <a:ea typeface="Inter"/>
                <a:cs typeface="Inter"/>
              </a:defRPr>
            </a:pPr>
            <a:r>
              <a:rPr sz="2475" b="0">
                <a:solidFill>
                  <a:srgbClr val="D2D0D6"/>
                </a:solidFill>
                <a:latin typeface="Inter"/>
                <a:ea typeface="Inter"/>
                <a:cs typeface="Inter"/>
              </a:rPr>
              <a:t>dbt checks</a:t>
            </a:r>
          </a:p>
        </p:txBody>
      </p:sp>
      <p:sp>
        <p:nvSpPr>
          <p:cNvPr id="29" name="">
            <a:extLst xmlns:a="http://schemas.openxmlformats.org/drawingml/2006/main">
              <a:ext uri="{FF2B5EF4-FFF2-40B4-BE49-F238E27FC236}">
                <a16:creationId xmlns:a16="http://schemas.microsoft.com/office/drawing/2014/main" id="{95580BDF-5881-463F-A0EE-638E129A3EA8}"/>
              </a:ext>
            </a:extLst>
          </p:cNvPr>
          <p:cNvSpPr>
            <a:spLocks xmlns:a="http://schemas.openxmlformats.org/drawingml/2006/main" noGrp="1"/>
          </p:cNvSpPr>
          <p:nvPr/>
        </p:nvSpPr>
        <p:spPr>
          <a:xfrm xmlns:a="http://schemas.openxmlformats.org/drawingml/2006/main">
            <a:off x="9010650" y="3362325"/>
            <a:ext cx="8610600" cy="4933950"/>
          </a:xfrm>
          <a:prstGeom xmlns:a="http://schemas.openxmlformats.org/drawingml/2006/main" prst="roundRect">
            <a:avLst>
              <a:gd name="adj" fmla="val 5792"/>
            </a:avLst>
          </a:prstGeom>
          <a:gradFill xmlns:a="http://schemas.openxmlformats.org/drawingml/2006/main">
            <a:gsLst>
              <a:gs pos="0">
                <a:srgbClr val="19191C"/>
              </a:gs>
              <a:gs pos="100000">
                <a:srgbClr val="141416"/>
              </a:gs>
            </a:gsLst>
            <a:lin ang="5400000"/>
          </a:gradFill>
          <a:ln xmlns:a="http://schemas.openxmlformats.org/drawingml/2006/main" w="10478">
            <a:gradFill>
              <a:gsLst>
                <a:gs pos="0">
                  <a:srgbClr val="5B585F"/>
                </a:gs>
                <a:gs pos="100000">
                  <a:srgbClr val="323137"/>
                </a:gs>
              </a:gsLst>
              <a:lin ang="5400000"/>
            </a:gradFill>
          </a:ln>
        </p:spPr>
      </p:sp>
      <p:sp>
        <p:nvSpPr>
          <p:cNvPr id="30" name="simple-109">
            <a:extLst xmlns:a="http://schemas.openxmlformats.org/drawingml/2006/main">
              <a:ext uri="{FF2B5EF4-FFF2-40B4-BE49-F238E27FC236}">
                <a16:creationId xmlns:a16="http://schemas.microsoft.com/office/drawing/2014/main" id="{860473D5-5A79-4ECE-9170-CF0F98067412}"/>
              </a:ext>
            </a:extLst>
          </p:cNvPr>
          <p:cNvSpPr>
            <a:spLocks xmlns:a="http://schemas.openxmlformats.org/drawingml/2006/main" noGrp="1"/>
          </p:cNvSpPr>
          <p:nvPr/>
        </p:nvSpPr>
        <p:spPr>
          <a:xfrm xmlns:a="http://schemas.openxmlformats.org/drawingml/2006/main">
            <a:off x="9382125" y="3705225"/>
            <a:ext cx="7858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75" b="1">
                <a:solidFill>
                  <a:srgbClr val="EBEBEB"/>
                </a:solidFill>
                <a:latin typeface="Bricolage Grotesque"/>
                <a:ea typeface="Bricolage Grotesque"/>
                <a:cs typeface="Bricolage Grotesque"/>
              </a:defRPr>
            </a:pPr>
            <a:r>
              <a:rPr sz="3375" b="1">
                <a:solidFill>
                  <a:srgbClr val="EBEBEB"/>
                </a:solidFill>
                <a:latin typeface="Bricolage Grotesque"/>
                <a:ea typeface="Bricolage Grotesque"/>
                <a:cs typeface="Bricolage Grotesque"/>
              </a:rPr>
              <a:t>Major fixes verified</a:t>
            </a:r>
          </a:p>
        </p:txBody>
      </p:sp>
      <p:sp>
        <p:nvSpPr>
          <p:cNvPr id="31" name="simple-110">
            <a:extLst xmlns:a="http://schemas.openxmlformats.org/drawingml/2006/main">
              <a:ext uri="{FF2B5EF4-FFF2-40B4-BE49-F238E27FC236}">
                <a16:creationId xmlns:a16="http://schemas.microsoft.com/office/drawing/2014/main" id="{34422155-2006-49BC-8095-747E31BEBEA5}"/>
              </a:ext>
            </a:extLst>
          </p:cNvPr>
          <p:cNvSpPr>
            <a:spLocks xmlns:a="http://schemas.openxmlformats.org/drawingml/2006/main" noGrp="1"/>
          </p:cNvSpPr>
          <p:nvPr/>
        </p:nvSpPr>
        <p:spPr>
          <a:xfrm xmlns:a="http://schemas.openxmlformats.org/drawingml/2006/main">
            <a:off x="9410700" y="4762500"/>
            <a:ext cx="7677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D2D0D6"/>
                </a:solidFill>
                <a:latin typeface="Inter"/>
                <a:ea typeface="Inter"/>
                <a:cs typeface="Inter"/>
              </a:defRPr>
            </a:pPr>
            <a:r>
              <a:rPr sz="2325" b="0">
                <a:solidFill>
                  <a:srgbClr val="D2D0D6"/>
                </a:solidFill>
                <a:latin typeface="Inter"/>
                <a:ea typeface="Inter"/>
                <a:cs typeface="Inter"/>
              </a:rPr>
              <a:t>Firestore reliability + URL validation</a:t>
            </a:r>
          </a:p>
        </p:txBody>
      </p:sp>
      <p:sp>
        <p:nvSpPr>
          <p:cNvPr id="32" name="simple-111">
            <a:extLst xmlns:a="http://schemas.openxmlformats.org/drawingml/2006/main">
              <a:ext uri="{FF2B5EF4-FFF2-40B4-BE49-F238E27FC236}">
                <a16:creationId xmlns:a16="http://schemas.microsoft.com/office/drawing/2014/main" id="{3EF5E80A-7D96-4805-A368-49E6091446AC}"/>
              </a:ext>
            </a:extLst>
          </p:cNvPr>
          <p:cNvSpPr>
            <a:spLocks xmlns:a="http://schemas.openxmlformats.org/drawingml/2006/main" noGrp="1"/>
          </p:cNvSpPr>
          <p:nvPr/>
        </p:nvSpPr>
        <p:spPr>
          <a:xfrm xmlns:a="http://schemas.openxmlformats.org/drawingml/2006/main">
            <a:off x="9410700" y="5505450"/>
            <a:ext cx="7677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D2D0D6"/>
                </a:solidFill>
                <a:latin typeface="Inter"/>
                <a:ea typeface="Inter"/>
                <a:cs typeface="Inter"/>
              </a:defRPr>
            </a:pPr>
            <a:r>
              <a:rPr sz="2325" b="0">
                <a:solidFill>
                  <a:srgbClr val="D2D0D6"/>
                </a:solidFill>
                <a:latin typeface="Inter"/>
                <a:ea typeface="Inter"/>
                <a:cs typeface="Inter"/>
              </a:rPr>
              <a:t>Profit scored at the correct moment</a:t>
            </a:r>
          </a:p>
        </p:txBody>
      </p:sp>
      <p:sp>
        <p:nvSpPr>
          <p:cNvPr id="33" name="simple-112">
            <a:extLst xmlns:a="http://schemas.openxmlformats.org/drawingml/2006/main">
              <a:ext uri="{FF2B5EF4-FFF2-40B4-BE49-F238E27FC236}">
                <a16:creationId xmlns:a16="http://schemas.microsoft.com/office/drawing/2014/main" id="{F4904533-830E-422D-A41A-E4CDFAC555AC}"/>
              </a:ext>
            </a:extLst>
          </p:cNvPr>
          <p:cNvSpPr>
            <a:spLocks xmlns:a="http://schemas.openxmlformats.org/drawingml/2006/main" noGrp="1"/>
          </p:cNvSpPr>
          <p:nvPr/>
        </p:nvSpPr>
        <p:spPr>
          <a:xfrm xmlns:a="http://schemas.openxmlformats.org/drawingml/2006/main">
            <a:off x="9410700" y="6248400"/>
            <a:ext cx="7677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D2D0D6"/>
                </a:solidFill>
                <a:latin typeface="Inter"/>
                <a:ea typeface="Inter"/>
                <a:cs typeface="Inter"/>
              </a:defRPr>
            </a:pPr>
            <a:r>
              <a:rPr sz="2325" b="0">
                <a:solidFill>
                  <a:srgbClr val="D2D0D6"/>
                </a:solidFill>
                <a:latin typeface="Inter"/>
                <a:ea typeface="Inter"/>
                <a:cs typeface="Inter"/>
              </a:rPr>
              <a:t>Stop-loss with fewer false alarms</a:t>
            </a:r>
          </a:p>
        </p:txBody>
      </p:sp>
      <p:sp>
        <p:nvSpPr>
          <p:cNvPr id="34" name="simple-113">
            <a:extLst xmlns:a="http://schemas.openxmlformats.org/drawingml/2006/main">
              <a:ext uri="{FF2B5EF4-FFF2-40B4-BE49-F238E27FC236}">
                <a16:creationId xmlns:a16="http://schemas.microsoft.com/office/drawing/2014/main" id="{AA49F6E9-8C12-4836-A736-6BC62B7581DE}"/>
              </a:ext>
            </a:extLst>
          </p:cNvPr>
          <p:cNvSpPr>
            <a:spLocks xmlns:a="http://schemas.openxmlformats.org/drawingml/2006/main" noGrp="1"/>
          </p:cNvSpPr>
          <p:nvPr/>
        </p:nvSpPr>
        <p:spPr>
          <a:xfrm xmlns:a="http://schemas.openxmlformats.org/drawingml/2006/main">
            <a:off x="9410700" y="6991350"/>
            <a:ext cx="7677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D2D0D6"/>
                </a:solidFill>
                <a:latin typeface="Inter"/>
                <a:ea typeface="Inter"/>
                <a:cs typeface="Inter"/>
              </a:defRPr>
            </a:pPr>
            <a:r>
              <a:rPr sz="2325" b="0">
                <a:solidFill>
                  <a:srgbClr val="D2D0D6"/>
                </a:solidFill>
                <a:latin typeface="Inter"/>
                <a:ea typeface="Inter"/>
                <a:cs typeface="Inter"/>
              </a:rPr>
              <a:t>27 of 29 injected database bugs caught</a:t>
            </a:r>
          </a:p>
        </p:txBody>
      </p:sp>
      <p:sp>
        <p:nvSpPr>
          <p:cNvPr id="35" name="simple-114">
            <a:extLst xmlns:a="http://schemas.openxmlformats.org/drawingml/2006/main">
              <a:ext uri="{FF2B5EF4-FFF2-40B4-BE49-F238E27FC236}">
                <a16:creationId xmlns:a16="http://schemas.microsoft.com/office/drawing/2014/main" id="{BDC7B86C-BB71-4408-963B-2BB789534A95}"/>
              </a:ext>
            </a:extLst>
          </p:cNvPr>
          <p:cNvSpPr>
            <a:spLocks xmlns:a="http://schemas.openxmlformats.org/drawingml/2006/main" noGrp="1"/>
          </p:cNvSpPr>
          <p:nvPr/>
        </p:nvSpPr>
        <p:spPr>
          <a:xfrm xmlns:a="http://schemas.openxmlformats.org/drawingml/2006/main">
            <a:off x="9410700" y="7839075"/>
            <a:ext cx="7677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B8E9"/>
                </a:solidFill>
                <a:latin typeface="Inter"/>
                <a:ea typeface="Inter"/>
                <a:cs typeface="Inter"/>
              </a:defRPr>
            </a:pPr>
            <a:r>
              <a:rPr sz="2025" b="1">
                <a:solidFill>
                  <a:srgbClr val="FFB8E9"/>
                </a:solidFill>
                <a:latin typeface="Inter"/>
                <a:ea typeface="Inter"/>
                <a:cs typeface="Inter"/>
              </a:rPr>
              <a:t>Sealed tracking proof rerun on final code</a:t>
            </a:r>
          </a:p>
        </p:txBody>
      </p:sp>
      <p:sp>
        <p:nvSpPr>
          <p:cNvPr id="36" name="">
            <a:extLst xmlns:a="http://schemas.openxmlformats.org/drawingml/2006/main">
              <a:ext uri="{FF2B5EF4-FFF2-40B4-BE49-F238E27FC236}">
                <a16:creationId xmlns:a16="http://schemas.microsoft.com/office/drawing/2014/main" id="{49AE4213-366F-45C4-9E97-D954D7EFFEFB}"/>
              </a:ext>
            </a:extLst>
          </p:cNvPr>
          <p:cNvSpPr>
            <a:spLocks xmlns:a="http://schemas.openxmlformats.org/drawingml/2006/main" noGrp="1"/>
          </p:cNvSpPr>
          <p:nvPr/>
        </p:nvSpPr>
        <p:spPr>
          <a:xfrm xmlns:a="http://schemas.openxmlformats.org/drawingml/2006/main">
            <a:off x="666750" y="8620125"/>
            <a:ext cx="16954500" cy="885825"/>
          </a:xfrm>
          <a:prstGeom xmlns:a="http://schemas.openxmlformats.org/drawingml/2006/main" prst="roundRect">
            <a:avLst>
              <a:gd name="adj" fmla="val 32258"/>
            </a:avLst>
          </a:prstGeom>
          <a:gradFill xmlns:a="http://schemas.openxmlformats.org/drawingml/2006/main">
            <a:gsLst>
              <a:gs pos="0">
                <a:srgbClr val="19191C"/>
              </a:gs>
              <a:gs pos="100000">
                <a:srgbClr val="141416"/>
              </a:gs>
            </a:gsLst>
            <a:lin ang="5400000"/>
          </a:gradFill>
          <a:ln xmlns:a="http://schemas.openxmlformats.org/drawingml/2006/main" w="10478">
            <a:gradFill>
              <a:gsLst>
                <a:gs pos="0">
                  <a:srgbClr val="5B585F"/>
                </a:gs>
                <a:gs pos="100000">
                  <a:srgbClr val="323137"/>
                </a:gs>
              </a:gsLst>
              <a:lin ang="5400000"/>
            </a:gradFill>
          </a:ln>
        </p:spPr>
      </p:sp>
      <p:sp>
        <p:nvSpPr>
          <p:cNvPr id="37" name="simple-115">
            <a:extLst xmlns:a="http://schemas.openxmlformats.org/drawingml/2006/main">
              <a:ext uri="{FF2B5EF4-FFF2-40B4-BE49-F238E27FC236}">
                <a16:creationId xmlns:a16="http://schemas.microsoft.com/office/drawing/2014/main" id="{4B0886CF-282A-4926-80F1-582662B8C078}"/>
              </a:ext>
            </a:extLst>
          </p:cNvPr>
          <p:cNvSpPr>
            <a:spLocks xmlns:a="http://schemas.openxmlformats.org/drawingml/2006/main" noGrp="1"/>
          </p:cNvSpPr>
          <p:nvPr/>
        </p:nvSpPr>
        <p:spPr>
          <a:xfrm xmlns:a="http://schemas.openxmlformats.org/drawingml/2006/main">
            <a:off x="1047750" y="8858250"/>
            <a:ext cx="15859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0">
                <a:solidFill>
                  <a:srgbClr val="D2D0D6"/>
                </a:solidFill>
                <a:latin typeface="Inter"/>
                <a:ea typeface="Inter"/>
                <a:cs typeface="Inter"/>
              </a:defRPr>
            </a:pPr>
            <a:r>
              <a:rPr sz="2700" b="0">
                <a:solidFill>
                  <a:srgbClr val="D2D0D6"/>
                </a:solidFill>
                <a:latin typeface="Inter"/>
                <a:ea typeface="Inter"/>
                <a:cs typeface="Inter"/>
              </a:rPr>
              <a:t>8 packages built. Deployment and real-data validation remain.</a:t>
            </a:r>
          </a:p>
        </p:txBody>
      </p:sp>
    </p:spTree>
    <p:extLst>
      <p:ext uri="{BB962C8B-B14F-4D97-AF65-F5344CB8AC3E}">
        <p14:creationId xmlns:p14="http://schemas.microsoft.com/office/powerpoint/2010/main" val="149911715"/>
      </p:ext>
    </p:extLst>
  </p:cSld>
</p:sld>
</file>

<file path=ppt/theme/theme1.xml><?xml version="1.0" encoding="utf-8"?>
<a:theme xmlns:a="http://schemas.openxmlformats.org/drawingml/2006/main" name="ChatGPT">
  <a:themeElements>
    <a:clrScheme name="OpenArt">
      <a:dk1>
        <a:srgbClr val="09090B"/>
      </a:dk1>
      <a:lt1>
        <a:srgbClr val="EBEBEB"/>
      </a:lt1>
      <a:dk2>
        <a:srgbClr val="19191C"/>
      </a:dk2>
      <a:lt2>
        <a:srgbClr val="D2D0D6"/>
      </a:lt2>
      <a:accent1>
        <a:srgbClr val="FF00BC"/>
      </a:accent1>
      <a:accent2>
        <a:srgbClr val="BFFF40"/>
      </a:accent2>
      <a:accent3>
        <a:srgbClr val="FFB8E9"/>
      </a:accent3>
      <a:accent4>
        <a:srgbClr val="FB7897"/>
      </a:accent4>
      <a:accent5>
        <a:srgbClr val="646069"/>
      </a:accent5>
      <a:accent6>
        <a:srgbClr val="FFFFFF"/>
      </a:accent6>
      <a:hlink>
        <a:srgbClr val="FF45CF"/>
      </a:hlink>
      <a:folHlink>
        <a:srgbClr val="FFB8E9"/>
      </a:folHlink>
    </a:clrScheme>
    <a:fontScheme name="">
      <a:majorFont>
        <a:latin typeface="Aptos"/>
        <a:ea typeface=""/>
        <a:cs typeface=""/>
      </a:majorFont>
      <a:minorFont>
        <a:latin typeface="Aptos"/>
        <a:ea typeface=""/>
        <a:cs typeface=""/>
      </a:minorFont>
    </a:fontScheme>
    <a:fmtScheme name="OpenAr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2026-10-01T16:26:45.2000000Z</dcterms:created>
  <dcterms:modified xsi:type="dcterms:W3CDTF">2026-10-01T16:26:45.2000000Z</dcterms:modified>
</coreProperties>
</file>